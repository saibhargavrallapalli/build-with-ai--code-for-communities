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Hook: MPs are drowning in unstructured citizen input across many channels, while development plans list dozens of competing projects with no objective way to rank them. We built an AI system that fixes that.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channel produces free-text, unstructured signal. Nothing today merges it with real ward-level need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four-step flow before diving into each piece.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the real form quickly if doing a live demo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real, verified output from the deployed app for this exact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mirrors the real dashboard which we'll show live.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directly answers the brief's example about school upgrades vs a vocational centre.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Seeded with realistic sample data for 5 wards; swappable for a real constituency's open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runs on free tiers — no paid services required to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fact this is deployable today, not a paper concept.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ambition without overclaiming what's built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 open for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slideLayout" Target="../slideLayouts/slideLayout1.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slideLayout" Target="../slideLayouts/slideLayout1.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slideLayout" Target="../slideLayouts/slideLayout1.xml"/><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slideLayout" Target="../slideLayouts/slideLayout1.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1.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image" Target="../media/image-8-7.png"/><Relationship Id="rId8" Type="http://schemas.openxmlformats.org/officeDocument/2006/relationships/image" Target="../media/image-8-8.png"/><Relationship Id="rId9" Type="http://schemas.openxmlformats.org/officeDocument/2006/relationships/slideLayout" Target="../slideLayouts/slideLayout1.xml"/><Relationship Id="rId10"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slideLayout" Target="../slideLayouts/slideLayout1.xml"/><Relationship Id="rId7"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1.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slideLayout" Target="../slideLayouts/slideLayout1.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340"/>
        </a:solidFill>
      </p:bgPr>
    </p:bg>
    <p:spTree>
      <p:nvGrpSpPr>
        <p:cNvPr id="1" name=""/>
        <p:cNvGrpSpPr/>
        <p:nvPr/>
      </p:nvGrpSpPr>
      <p:grpSpPr>
        <a:xfrm>
          <a:off x="0" y="0"/>
          <a:ext cx="0" cy="0"/>
          <a:chOff x="0" y="0"/>
          <a:chExt cx="0" cy="0"/>
        </a:xfrm>
      </p:grpSpPr>
      <p:sp>
        <p:nvSpPr>
          <p:cNvPr id="2" name="Shape 0"/>
          <p:cNvSpPr/>
          <p:nvPr/>
        </p:nvSpPr>
        <p:spPr>
          <a:xfrm>
            <a:off x="9692640" y="-1463040"/>
            <a:ext cx="4572000" cy="4572000"/>
          </a:xfrm>
          <a:prstGeom prst="ellipse">
            <a:avLst/>
          </a:prstGeom>
          <a:solidFill>
            <a:srgbClr val="2A3459"/>
          </a:solidFill>
          <a:ln/>
        </p:spPr>
      </p:sp>
      <p:sp>
        <p:nvSpPr>
          <p:cNvPr id="3" name="Shape 1"/>
          <p:cNvSpPr/>
          <p:nvPr/>
        </p:nvSpPr>
        <p:spPr>
          <a:xfrm>
            <a:off x="-1645920" y="4206240"/>
            <a:ext cx="3840480" cy="3840480"/>
          </a:xfrm>
          <a:prstGeom prst="ellipse">
            <a:avLst/>
          </a:prstGeom>
          <a:solidFill>
            <a:srgbClr val="2A3459"/>
          </a:solidFill>
          <a:ln/>
        </p:spPr>
      </p:sp>
      <p:sp>
        <p:nvSpPr>
          <p:cNvPr id="4" name="Text 2"/>
          <p:cNvSpPr/>
          <p:nvPr/>
        </p:nvSpPr>
        <p:spPr>
          <a:xfrm>
            <a:off x="822960" y="1051560"/>
            <a:ext cx="7315200" cy="365760"/>
          </a:xfrm>
          <a:prstGeom prst="rect">
            <a:avLst/>
          </a:prstGeom>
          <a:noFill/>
          <a:ln/>
        </p:spPr>
        <p:txBody>
          <a:bodyPr wrap="square" lIns="0" tIns="0" rIns="0" bIns="0" rtlCol="0" anchor="ctr"/>
          <a:lstStyle/>
          <a:p>
            <a:pPr indent="0" marL="0">
              <a:buNone/>
            </a:pPr>
            <a:r>
              <a:rPr lang="en-US" sz="1300" b="1" spc="300" kern="0" dirty="0">
                <a:solidFill>
                  <a:srgbClr val="E8A33D"/>
                </a:solidFill>
                <a:latin typeface="Calibri" pitchFamily="34" charset="0"/>
                <a:ea typeface="Calibri" pitchFamily="34" charset="-122"/>
                <a:cs typeface="Calibri" pitchFamily="34" charset="-120"/>
              </a:rPr>
              <a:t>BUILD WITH AI · CODE FOR COMMUNITIES</a:t>
            </a:r>
            <a:endParaRPr lang="en-US" sz="1300" dirty="0"/>
          </a:p>
        </p:txBody>
      </p:sp>
      <p:sp>
        <p:nvSpPr>
          <p:cNvPr id="5" name="Text 3"/>
          <p:cNvSpPr/>
          <p:nvPr/>
        </p:nvSpPr>
        <p:spPr>
          <a:xfrm>
            <a:off x="777240" y="1463040"/>
            <a:ext cx="9601200" cy="1280160"/>
          </a:xfrm>
          <a:prstGeom prst="rect">
            <a:avLst/>
          </a:prstGeom>
          <a:noFill/>
          <a:ln/>
        </p:spPr>
        <p:txBody>
          <a:bodyPr wrap="square" lIns="0" tIns="0" rIns="0" bIns="0" rtlCol="0" anchor="ctr"/>
          <a:lstStyle/>
          <a:p>
            <a:pPr indent="0" marL="0">
              <a:buNone/>
            </a:pPr>
            <a:r>
              <a:rPr lang="en-US" sz="5400" b="1" dirty="0">
                <a:solidFill>
                  <a:srgbClr val="FFFFFF"/>
                </a:solidFill>
                <a:latin typeface="Cambria" pitchFamily="34" charset="0"/>
                <a:ea typeface="Cambria" pitchFamily="34" charset="-122"/>
                <a:cs typeface="Cambria" pitchFamily="34" charset="-120"/>
              </a:rPr>
              <a:t>People's Priorities</a:t>
            </a:r>
            <a:endParaRPr lang="en-US" sz="5400" dirty="0"/>
          </a:p>
        </p:txBody>
      </p:sp>
      <p:sp>
        <p:nvSpPr>
          <p:cNvPr id="6" name="Text 4"/>
          <p:cNvSpPr/>
          <p:nvPr/>
        </p:nvSpPr>
        <p:spPr>
          <a:xfrm>
            <a:off x="822960" y="2606040"/>
            <a:ext cx="9144000" cy="640080"/>
          </a:xfrm>
          <a:prstGeom prst="rect">
            <a:avLst/>
          </a:prstGeom>
          <a:noFill/>
          <a:ln/>
        </p:spPr>
        <p:txBody>
          <a:bodyPr wrap="square" lIns="0" tIns="0" rIns="0" bIns="0" rtlCol="0" anchor="ctr"/>
          <a:lstStyle/>
          <a:p>
            <a:pPr indent="0" marL="0">
              <a:buNone/>
            </a:pPr>
            <a:r>
              <a:rPr lang="en-US" sz="2200" dirty="0">
                <a:solidFill>
                  <a:srgbClr val="CBD3E8"/>
                </a:solidFill>
                <a:latin typeface="Calibri" pitchFamily="34" charset="0"/>
                <a:ea typeface="Calibri" pitchFamily="34" charset="-122"/>
                <a:cs typeface="Calibri" pitchFamily="34" charset="-120"/>
              </a:rPr>
              <a:t>AI for Constituency Development Planning</a:t>
            </a:r>
            <a:endParaRPr lang="en-US" sz="2200" dirty="0"/>
          </a:p>
        </p:txBody>
      </p:sp>
      <p:sp>
        <p:nvSpPr>
          <p:cNvPr id="7" name="Text 5"/>
          <p:cNvSpPr/>
          <p:nvPr/>
        </p:nvSpPr>
        <p:spPr>
          <a:xfrm>
            <a:off x="822960" y="3337560"/>
            <a:ext cx="7863840" cy="731520"/>
          </a:xfrm>
          <a:prstGeom prst="rect">
            <a:avLst/>
          </a:prstGeom>
          <a:noFill/>
          <a:ln/>
        </p:spPr>
        <p:txBody>
          <a:bodyPr wrap="square" lIns="0" tIns="0" rIns="0" bIns="0" rtlCol="0" anchor="ctr"/>
          <a:lstStyle/>
          <a:p>
            <a:pPr indent="0" marL="0">
              <a:buNone/>
            </a:pPr>
            <a:r>
              <a:rPr lang="en-US" sz="1400" dirty="0">
                <a:solidFill>
                  <a:srgbClr val="9AA4C4"/>
                </a:solidFill>
                <a:latin typeface="Calibri" pitchFamily="34" charset="0"/>
                <a:ea typeface="Calibri" pitchFamily="34" charset="-122"/>
                <a:cs typeface="Calibri" pitchFamily="34" charset="-120"/>
              </a:rPr>
              <a:t>Turning scattered citizen requests — meetings, letters, social media, grievance portals — into a single, evidence-backed priority list an MP can act on.</a:t>
            </a:r>
            <a:endParaRPr lang="en-US" sz="1400" dirty="0"/>
          </a:p>
        </p:txBody>
      </p:sp>
      <p:sp>
        <p:nvSpPr>
          <p:cNvPr id="8" name="Shape 6"/>
          <p:cNvSpPr/>
          <p:nvPr/>
        </p:nvSpPr>
        <p:spPr>
          <a:xfrm>
            <a:off x="822960" y="4343400"/>
            <a:ext cx="1783080" cy="566928"/>
          </a:xfrm>
          <a:prstGeom prst="roundRect">
            <a:avLst>
              <a:gd name="adj" fmla="val 16129"/>
            </a:avLst>
          </a:prstGeom>
          <a:solidFill>
            <a:srgbClr val="2A3459"/>
          </a:solidFill>
          <a:ln/>
        </p:spPr>
      </p:sp>
      <p:pic>
        <p:nvPicPr>
          <p:cNvPr id="9" name="Image 0" descr="preencoded.png">    </p:cNvPr>
          <p:cNvPicPr>
            <a:picLocks noChangeAspect="1"/>
          </p:cNvPicPr>
          <p:nvPr/>
        </p:nvPicPr>
        <p:blipFill>
          <a:blip r:embed="rId1"/>
          <a:stretch>
            <a:fillRect/>
          </a:stretch>
        </p:blipFill>
        <p:spPr>
          <a:xfrm>
            <a:off x="960120" y="4480560"/>
            <a:ext cx="292608" cy="292608"/>
          </a:xfrm>
          <a:prstGeom prst="rect">
            <a:avLst/>
          </a:prstGeom>
        </p:spPr>
      </p:pic>
      <p:sp>
        <p:nvSpPr>
          <p:cNvPr id="10" name="Text 7"/>
          <p:cNvSpPr/>
          <p:nvPr/>
        </p:nvSpPr>
        <p:spPr>
          <a:xfrm>
            <a:off x="1325880" y="4343400"/>
            <a:ext cx="1234440" cy="566928"/>
          </a:xfrm>
          <a:prstGeom prst="rect">
            <a:avLst/>
          </a:prstGeom>
          <a:noFill/>
          <a:ln/>
        </p:spPr>
        <p:txBody>
          <a:bodyPr wrap="square" lIns="0" tIns="0" rIns="0" bIns="0" rtlCol="0" anchor="ctr"/>
          <a:lstStyle/>
          <a:p>
            <a:pPr indent="0" marL="0">
              <a:buNone/>
            </a:pPr>
            <a:r>
              <a:rPr lang="en-US" sz="1150" dirty="0">
                <a:solidFill>
                  <a:srgbClr val="FFFFFF"/>
                </a:solidFill>
                <a:latin typeface="Calibri" pitchFamily="34" charset="0"/>
                <a:ea typeface="Calibri" pitchFamily="34" charset="-122"/>
                <a:cs typeface="Calibri" pitchFamily="34" charset="-120"/>
              </a:rPr>
              <a:t>Voice</a:t>
            </a:r>
            <a:endParaRPr lang="en-US" sz="1150" dirty="0"/>
          </a:p>
        </p:txBody>
      </p:sp>
      <p:sp>
        <p:nvSpPr>
          <p:cNvPr id="11" name="Shape 8"/>
          <p:cNvSpPr/>
          <p:nvPr/>
        </p:nvSpPr>
        <p:spPr>
          <a:xfrm>
            <a:off x="2770632" y="4343400"/>
            <a:ext cx="1783080" cy="566928"/>
          </a:xfrm>
          <a:prstGeom prst="roundRect">
            <a:avLst>
              <a:gd name="adj" fmla="val 16129"/>
            </a:avLst>
          </a:prstGeom>
          <a:solidFill>
            <a:srgbClr val="2A3459"/>
          </a:solidFill>
          <a:ln/>
        </p:spPr>
      </p:sp>
      <p:pic>
        <p:nvPicPr>
          <p:cNvPr id="12" name="Image 1" descr="preencoded.png">    </p:cNvPr>
          <p:cNvPicPr>
            <a:picLocks noChangeAspect="1"/>
          </p:cNvPicPr>
          <p:nvPr/>
        </p:nvPicPr>
        <p:blipFill>
          <a:blip r:embed="rId2"/>
          <a:stretch>
            <a:fillRect/>
          </a:stretch>
        </p:blipFill>
        <p:spPr>
          <a:xfrm>
            <a:off x="2907792" y="4480560"/>
            <a:ext cx="292608" cy="292608"/>
          </a:xfrm>
          <a:prstGeom prst="rect">
            <a:avLst/>
          </a:prstGeom>
        </p:spPr>
      </p:pic>
      <p:sp>
        <p:nvSpPr>
          <p:cNvPr id="13" name="Text 9"/>
          <p:cNvSpPr/>
          <p:nvPr/>
        </p:nvSpPr>
        <p:spPr>
          <a:xfrm>
            <a:off x="3273552" y="4343400"/>
            <a:ext cx="1234440" cy="566928"/>
          </a:xfrm>
          <a:prstGeom prst="rect">
            <a:avLst/>
          </a:prstGeom>
          <a:noFill/>
          <a:ln/>
        </p:spPr>
        <p:txBody>
          <a:bodyPr wrap="square" lIns="0" tIns="0" rIns="0" bIns="0" rtlCol="0" anchor="ctr"/>
          <a:lstStyle/>
          <a:p>
            <a:pPr indent="0" marL="0">
              <a:buNone/>
            </a:pPr>
            <a:r>
              <a:rPr lang="en-US" sz="1150" dirty="0">
                <a:solidFill>
                  <a:srgbClr val="FFFFFF"/>
                </a:solidFill>
                <a:latin typeface="Calibri" pitchFamily="34" charset="0"/>
                <a:ea typeface="Calibri" pitchFamily="34" charset="-122"/>
                <a:cs typeface="Calibri" pitchFamily="34" charset="-120"/>
              </a:rPr>
              <a:t>Photo</a:t>
            </a:r>
            <a:endParaRPr lang="en-US" sz="1150" dirty="0"/>
          </a:p>
        </p:txBody>
      </p:sp>
      <p:sp>
        <p:nvSpPr>
          <p:cNvPr id="14" name="Shape 10"/>
          <p:cNvSpPr/>
          <p:nvPr/>
        </p:nvSpPr>
        <p:spPr>
          <a:xfrm>
            <a:off x="4718304" y="4343400"/>
            <a:ext cx="1783080" cy="566928"/>
          </a:xfrm>
          <a:prstGeom prst="roundRect">
            <a:avLst>
              <a:gd name="adj" fmla="val 16129"/>
            </a:avLst>
          </a:prstGeom>
          <a:solidFill>
            <a:srgbClr val="2A3459"/>
          </a:solidFill>
          <a:ln/>
        </p:spPr>
      </p:sp>
      <p:pic>
        <p:nvPicPr>
          <p:cNvPr id="15" name="Image 2" descr="preencoded.png">    </p:cNvPr>
          <p:cNvPicPr>
            <a:picLocks noChangeAspect="1"/>
          </p:cNvPicPr>
          <p:nvPr/>
        </p:nvPicPr>
        <p:blipFill>
          <a:blip r:embed="rId3"/>
          <a:stretch>
            <a:fillRect/>
          </a:stretch>
        </p:blipFill>
        <p:spPr>
          <a:xfrm>
            <a:off x="4855464" y="4480560"/>
            <a:ext cx="292608" cy="292608"/>
          </a:xfrm>
          <a:prstGeom prst="rect">
            <a:avLst/>
          </a:prstGeom>
        </p:spPr>
      </p:pic>
      <p:sp>
        <p:nvSpPr>
          <p:cNvPr id="16" name="Text 11"/>
          <p:cNvSpPr/>
          <p:nvPr/>
        </p:nvSpPr>
        <p:spPr>
          <a:xfrm>
            <a:off x="5221224" y="4343400"/>
            <a:ext cx="1234440" cy="566928"/>
          </a:xfrm>
          <a:prstGeom prst="rect">
            <a:avLst/>
          </a:prstGeom>
          <a:noFill/>
          <a:ln/>
        </p:spPr>
        <p:txBody>
          <a:bodyPr wrap="square" lIns="0" tIns="0" rIns="0" bIns="0" rtlCol="0" anchor="ctr"/>
          <a:lstStyle/>
          <a:p>
            <a:pPr indent="0" marL="0">
              <a:buNone/>
            </a:pPr>
            <a:r>
              <a:rPr lang="en-US" sz="1150" dirty="0">
                <a:solidFill>
                  <a:srgbClr val="FFFFFF"/>
                </a:solidFill>
                <a:latin typeface="Calibri" pitchFamily="34" charset="0"/>
                <a:ea typeface="Calibri" pitchFamily="34" charset="-122"/>
                <a:cs typeface="Calibri" pitchFamily="34" charset="-120"/>
              </a:rPr>
              <a:t>3 Languages</a:t>
            </a:r>
            <a:endParaRPr lang="en-US" sz="1150" dirty="0"/>
          </a:p>
        </p:txBody>
      </p:sp>
      <p:sp>
        <p:nvSpPr>
          <p:cNvPr id="17" name="Shape 12"/>
          <p:cNvSpPr/>
          <p:nvPr/>
        </p:nvSpPr>
        <p:spPr>
          <a:xfrm>
            <a:off x="6665976" y="4343400"/>
            <a:ext cx="1783080" cy="566928"/>
          </a:xfrm>
          <a:prstGeom prst="roundRect">
            <a:avLst>
              <a:gd name="adj" fmla="val 16129"/>
            </a:avLst>
          </a:prstGeom>
          <a:solidFill>
            <a:srgbClr val="2A3459"/>
          </a:solidFill>
          <a:ln/>
        </p:spPr>
      </p:sp>
      <p:pic>
        <p:nvPicPr>
          <p:cNvPr id="18" name="Image 3" descr="preencoded.png">    </p:cNvPr>
          <p:cNvPicPr>
            <a:picLocks noChangeAspect="1"/>
          </p:cNvPicPr>
          <p:nvPr/>
        </p:nvPicPr>
        <p:blipFill>
          <a:blip r:embed="rId4"/>
          <a:stretch>
            <a:fillRect/>
          </a:stretch>
        </p:blipFill>
        <p:spPr>
          <a:xfrm>
            <a:off x="6803136" y="4480560"/>
            <a:ext cx="292608" cy="292608"/>
          </a:xfrm>
          <a:prstGeom prst="rect">
            <a:avLst/>
          </a:prstGeom>
        </p:spPr>
      </p:pic>
      <p:sp>
        <p:nvSpPr>
          <p:cNvPr id="19" name="Text 13"/>
          <p:cNvSpPr/>
          <p:nvPr/>
        </p:nvSpPr>
        <p:spPr>
          <a:xfrm>
            <a:off x="7168896" y="4343400"/>
            <a:ext cx="1234440" cy="566928"/>
          </a:xfrm>
          <a:prstGeom prst="rect">
            <a:avLst/>
          </a:prstGeom>
          <a:noFill/>
          <a:ln/>
        </p:spPr>
        <p:txBody>
          <a:bodyPr wrap="square" lIns="0" tIns="0" rIns="0" bIns="0" rtlCol="0" anchor="ctr"/>
          <a:lstStyle/>
          <a:p>
            <a:pPr indent="0" marL="0">
              <a:buNone/>
            </a:pPr>
            <a:r>
              <a:rPr lang="en-US" sz="1150" dirty="0">
                <a:solidFill>
                  <a:srgbClr val="FFFFFF"/>
                </a:solidFill>
                <a:latin typeface="Calibri" pitchFamily="34" charset="0"/>
                <a:ea typeface="Calibri" pitchFamily="34" charset="-122"/>
                <a:cs typeface="Calibri" pitchFamily="34" charset="-120"/>
              </a:rPr>
              <a:t>Live Map</a:t>
            </a:r>
            <a:endParaRPr lang="en-US" sz="1150" dirty="0"/>
          </a:p>
        </p:txBody>
      </p:sp>
      <p:sp>
        <p:nvSpPr>
          <p:cNvPr id="20" name="Text 14"/>
          <p:cNvSpPr/>
          <p:nvPr/>
        </p:nvSpPr>
        <p:spPr>
          <a:xfrm>
            <a:off x="822960" y="6126480"/>
            <a:ext cx="5486400" cy="365760"/>
          </a:xfrm>
          <a:prstGeom prst="rect">
            <a:avLst/>
          </a:prstGeom>
          <a:noFill/>
          <a:ln/>
        </p:spPr>
        <p:txBody>
          <a:bodyPr wrap="square" lIns="0" tIns="0" rIns="0" bIns="0" rtlCol="0" anchor="ctr"/>
          <a:lstStyle/>
          <a:p>
            <a:pPr indent="0" marL="0">
              <a:buNone/>
            </a:pPr>
            <a:r>
              <a:rPr lang="en-US" sz="1200" dirty="0">
                <a:solidFill>
                  <a:srgbClr val="7E88AC"/>
                </a:solidFill>
                <a:latin typeface="Calibri" pitchFamily="34" charset="0"/>
                <a:ea typeface="Calibri" pitchFamily="34" charset="-122"/>
                <a:cs typeface="Calibri" pitchFamily="34" charset="-120"/>
              </a:rPr>
              <a:t>build-with-ai-code-for-communities-three.vercel.app</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5F0"/>
        </a:solidFill>
      </p:bgPr>
    </p:bg>
    <p:spTree>
      <p:nvGrpSpPr>
        <p:cNvPr id="1" name=""/>
        <p:cNvGrpSpPr/>
        <p:nvPr/>
      </p:nvGrpSpPr>
      <p:grpSpPr>
        <a:xfrm>
          <a:off x="0" y="0"/>
          <a:ext cx="0" cy="0"/>
          <a:chOff x="0" y="0"/>
          <a:chExt cx="0" cy="0"/>
        </a:xfrm>
      </p:grpSpPr>
      <p:sp>
        <p:nvSpPr>
          <p:cNvPr id="2" name="Text 0"/>
          <p:cNvSpPr/>
          <p:nvPr/>
        </p:nvSpPr>
        <p:spPr>
          <a:xfrm>
            <a:off x="640080" y="457200"/>
            <a:ext cx="5486400" cy="365760"/>
          </a:xfrm>
          <a:prstGeom prst="rect">
            <a:avLst/>
          </a:prstGeom>
          <a:noFill/>
          <a:ln/>
        </p:spPr>
        <p:txBody>
          <a:bodyPr wrap="square" lIns="0" tIns="0" rIns="0" bIns="0" rtlCol="0" anchor="ctr"/>
          <a:lstStyle/>
          <a:p>
            <a:pPr indent="0" marL="0">
              <a:buNone/>
            </a:pPr>
            <a:r>
              <a:rPr lang="en-US" sz="1300" b="1" spc="200" kern="0" dirty="0">
                <a:solidFill>
                  <a:srgbClr val="C97E1E"/>
                </a:solidFill>
                <a:latin typeface="Calibri" pitchFamily="34" charset="0"/>
                <a:ea typeface="Calibri" pitchFamily="34" charset="-122"/>
                <a:cs typeface="Calibri" pitchFamily="34" charset="-120"/>
              </a:rPr>
              <a:t>THE PROBLEM</a:t>
            </a:r>
            <a:endParaRPr lang="en-US" sz="1300" dirty="0"/>
          </a:p>
        </p:txBody>
      </p:sp>
      <p:sp>
        <p:nvSpPr>
          <p:cNvPr id="3" name="Text 1"/>
          <p:cNvSpPr/>
          <p:nvPr/>
        </p:nvSpPr>
        <p:spPr>
          <a:xfrm>
            <a:off x="640080" y="777240"/>
            <a:ext cx="10789920" cy="822960"/>
          </a:xfrm>
          <a:prstGeom prst="rect">
            <a:avLst/>
          </a:prstGeom>
          <a:noFill/>
          <a:ln/>
        </p:spPr>
        <p:txBody>
          <a:bodyPr wrap="square" lIns="0" tIns="0" rIns="0" bIns="0" rtlCol="0" anchor="ctr"/>
          <a:lstStyle/>
          <a:p>
            <a:pPr indent="0" marL="0">
              <a:buNone/>
            </a:pPr>
            <a:r>
              <a:rPr lang="en-US" sz="3000" b="1" dirty="0">
                <a:solidFill>
                  <a:srgbClr val="1B2340"/>
                </a:solidFill>
                <a:latin typeface="Cambria" pitchFamily="34" charset="0"/>
                <a:ea typeface="Cambria" pitchFamily="34" charset="-122"/>
                <a:cs typeface="Cambria" pitchFamily="34" charset="-120"/>
              </a:rPr>
              <a:t>Citizen demand is scattered. Priorities are guesswork.</a:t>
            </a:r>
            <a:endParaRPr lang="en-US" sz="3000" dirty="0"/>
          </a:p>
        </p:txBody>
      </p:sp>
      <p:sp>
        <p:nvSpPr>
          <p:cNvPr id="4" name="Shape 2"/>
          <p:cNvSpPr/>
          <p:nvPr/>
        </p:nvSpPr>
        <p:spPr>
          <a:xfrm>
            <a:off x="640080" y="1874520"/>
            <a:ext cx="2084832" cy="1417320"/>
          </a:xfrm>
          <a:prstGeom prst="roundRect">
            <a:avLst>
              <a:gd name="adj" fmla="val 5806"/>
            </a:avLst>
          </a:prstGeom>
          <a:solidFill>
            <a:srgbClr val="FFFFFF"/>
          </a:solidFill>
          <a:ln/>
          <a:effectLst>
            <a:outerShdw sx="100000" sy="100000" kx="0" ky="0" algn="bl" rotWithShape="0" blurRad="76200" dist="25400" dir="5400000">
              <a:srgbClr val="000000">
                <a:alpha val="10000"/>
              </a:srgbClr>
            </a:outerShdw>
          </a:effectLst>
        </p:spPr>
      </p:sp>
      <p:sp>
        <p:nvSpPr>
          <p:cNvPr id="5" name="Shape 3"/>
          <p:cNvSpPr/>
          <p:nvPr/>
        </p:nvSpPr>
        <p:spPr>
          <a:xfrm>
            <a:off x="1408176" y="2057400"/>
            <a:ext cx="548640" cy="548640"/>
          </a:xfrm>
          <a:prstGeom prst="ellipse">
            <a:avLst/>
          </a:prstGeom>
          <a:solidFill>
            <a:srgbClr val="FBEBD2"/>
          </a:solidFill>
          <a:ln/>
        </p:spPr>
      </p:sp>
      <p:pic>
        <p:nvPicPr>
          <p:cNvPr id="6" name="Image 0" descr="preencoded.png">    </p:cNvPr>
          <p:cNvPicPr>
            <a:picLocks noChangeAspect="1"/>
          </p:cNvPicPr>
          <p:nvPr/>
        </p:nvPicPr>
        <p:blipFill>
          <a:blip r:embed="rId1"/>
          <a:stretch>
            <a:fillRect/>
          </a:stretch>
        </p:blipFill>
        <p:spPr>
          <a:xfrm>
            <a:off x="1550822" y="2200046"/>
            <a:ext cx="263347" cy="263347"/>
          </a:xfrm>
          <a:prstGeom prst="rect">
            <a:avLst/>
          </a:prstGeom>
        </p:spPr>
      </p:pic>
      <p:sp>
        <p:nvSpPr>
          <p:cNvPr id="7" name="Text 4"/>
          <p:cNvSpPr/>
          <p:nvPr/>
        </p:nvSpPr>
        <p:spPr>
          <a:xfrm>
            <a:off x="731520" y="2697480"/>
            <a:ext cx="1901952" cy="502920"/>
          </a:xfrm>
          <a:prstGeom prst="rect">
            <a:avLst/>
          </a:prstGeom>
          <a:noFill/>
          <a:ln/>
        </p:spPr>
        <p:txBody>
          <a:bodyPr wrap="square" lIns="0" tIns="0" rIns="0" bIns="0" rtlCol="0" anchor="t"/>
          <a:lstStyle/>
          <a:p>
            <a:pPr algn="ctr" indent="0" marL="0">
              <a:buNone/>
            </a:pPr>
            <a:r>
              <a:rPr lang="en-US" sz="1200" b="1" dirty="0">
                <a:solidFill>
                  <a:srgbClr val="1B2340"/>
                </a:solidFill>
                <a:latin typeface="Calibri" pitchFamily="34" charset="0"/>
                <a:ea typeface="Calibri" pitchFamily="34" charset="-122"/>
                <a:cs typeface="Calibri" pitchFamily="34" charset="-120"/>
              </a:rPr>
              <a:t>Public meetings</a:t>
            </a:r>
            <a:endParaRPr lang="en-US" sz="1200" dirty="0"/>
          </a:p>
        </p:txBody>
      </p:sp>
      <p:sp>
        <p:nvSpPr>
          <p:cNvPr id="8" name="Shape 5"/>
          <p:cNvSpPr/>
          <p:nvPr/>
        </p:nvSpPr>
        <p:spPr>
          <a:xfrm>
            <a:off x="2852928" y="1874520"/>
            <a:ext cx="2084832" cy="1417320"/>
          </a:xfrm>
          <a:prstGeom prst="roundRect">
            <a:avLst>
              <a:gd name="adj" fmla="val 5806"/>
            </a:avLst>
          </a:prstGeom>
          <a:solidFill>
            <a:srgbClr val="FFFFFF"/>
          </a:solidFill>
          <a:ln/>
          <a:effectLst>
            <a:outerShdw sx="100000" sy="100000" kx="0" ky="0" algn="bl" rotWithShape="0" blurRad="76200" dist="25400" dir="5400000">
              <a:srgbClr val="000000">
                <a:alpha val="10000"/>
              </a:srgbClr>
            </a:outerShdw>
          </a:effectLst>
        </p:spPr>
      </p:sp>
      <p:sp>
        <p:nvSpPr>
          <p:cNvPr id="9" name="Shape 6"/>
          <p:cNvSpPr/>
          <p:nvPr/>
        </p:nvSpPr>
        <p:spPr>
          <a:xfrm>
            <a:off x="3621024" y="2057400"/>
            <a:ext cx="548640" cy="548640"/>
          </a:xfrm>
          <a:prstGeom prst="ellipse">
            <a:avLst/>
          </a:prstGeom>
          <a:solidFill>
            <a:srgbClr val="FBEBD2"/>
          </a:solidFill>
          <a:ln/>
        </p:spPr>
      </p:sp>
      <p:pic>
        <p:nvPicPr>
          <p:cNvPr id="10" name="Image 1" descr="preencoded.png">    </p:cNvPr>
          <p:cNvPicPr>
            <a:picLocks noChangeAspect="1"/>
          </p:cNvPicPr>
          <p:nvPr/>
        </p:nvPicPr>
        <p:blipFill>
          <a:blip r:embed="rId2"/>
          <a:stretch>
            <a:fillRect/>
          </a:stretch>
        </p:blipFill>
        <p:spPr>
          <a:xfrm>
            <a:off x="3763670" y="2200046"/>
            <a:ext cx="263347" cy="263347"/>
          </a:xfrm>
          <a:prstGeom prst="rect">
            <a:avLst/>
          </a:prstGeom>
        </p:spPr>
      </p:pic>
      <p:sp>
        <p:nvSpPr>
          <p:cNvPr id="11" name="Text 7"/>
          <p:cNvSpPr/>
          <p:nvPr/>
        </p:nvSpPr>
        <p:spPr>
          <a:xfrm>
            <a:off x="2944368" y="2697480"/>
            <a:ext cx="1901952" cy="502920"/>
          </a:xfrm>
          <a:prstGeom prst="rect">
            <a:avLst/>
          </a:prstGeom>
          <a:noFill/>
          <a:ln/>
        </p:spPr>
        <p:txBody>
          <a:bodyPr wrap="square" lIns="0" tIns="0" rIns="0" bIns="0" rtlCol="0" anchor="t"/>
          <a:lstStyle/>
          <a:p>
            <a:pPr algn="ctr" indent="0" marL="0">
              <a:buNone/>
            </a:pPr>
            <a:r>
              <a:rPr lang="en-US" sz="1200" b="1" dirty="0">
                <a:solidFill>
                  <a:srgbClr val="1B2340"/>
                </a:solidFill>
                <a:latin typeface="Calibri" pitchFamily="34" charset="0"/>
                <a:ea typeface="Calibri" pitchFamily="34" charset="-122"/>
                <a:cs typeface="Calibri" pitchFamily="34" charset="-120"/>
              </a:rPr>
              <a:t>Letters &amp; calls</a:t>
            </a:r>
            <a:endParaRPr lang="en-US" sz="1200" dirty="0"/>
          </a:p>
        </p:txBody>
      </p:sp>
      <p:sp>
        <p:nvSpPr>
          <p:cNvPr id="12" name="Shape 8"/>
          <p:cNvSpPr/>
          <p:nvPr/>
        </p:nvSpPr>
        <p:spPr>
          <a:xfrm>
            <a:off x="5065776" y="1874520"/>
            <a:ext cx="2084832" cy="1417320"/>
          </a:xfrm>
          <a:prstGeom prst="roundRect">
            <a:avLst>
              <a:gd name="adj" fmla="val 5806"/>
            </a:avLst>
          </a:prstGeom>
          <a:solidFill>
            <a:srgbClr val="FFFFFF"/>
          </a:solidFill>
          <a:ln/>
          <a:effectLst>
            <a:outerShdw sx="100000" sy="100000" kx="0" ky="0" algn="bl" rotWithShape="0" blurRad="76200" dist="25400" dir="5400000">
              <a:srgbClr val="000000">
                <a:alpha val="10000"/>
              </a:srgbClr>
            </a:outerShdw>
          </a:effectLst>
        </p:spPr>
      </p:sp>
      <p:sp>
        <p:nvSpPr>
          <p:cNvPr id="13" name="Shape 9"/>
          <p:cNvSpPr/>
          <p:nvPr/>
        </p:nvSpPr>
        <p:spPr>
          <a:xfrm>
            <a:off x="5833872" y="2057400"/>
            <a:ext cx="548640" cy="548640"/>
          </a:xfrm>
          <a:prstGeom prst="ellipse">
            <a:avLst/>
          </a:prstGeom>
          <a:solidFill>
            <a:srgbClr val="FBEBD2"/>
          </a:solidFill>
          <a:ln/>
        </p:spPr>
      </p:sp>
      <p:pic>
        <p:nvPicPr>
          <p:cNvPr id="14" name="Image 2" descr="preencoded.png">    </p:cNvPr>
          <p:cNvPicPr>
            <a:picLocks noChangeAspect="1"/>
          </p:cNvPicPr>
          <p:nvPr/>
        </p:nvPicPr>
        <p:blipFill>
          <a:blip r:embed="rId3"/>
          <a:stretch>
            <a:fillRect/>
          </a:stretch>
        </p:blipFill>
        <p:spPr>
          <a:xfrm>
            <a:off x="5976518" y="2200046"/>
            <a:ext cx="263347" cy="263347"/>
          </a:xfrm>
          <a:prstGeom prst="rect">
            <a:avLst/>
          </a:prstGeom>
        </p:spPr>
      </p:pic>
      <p:sp>
        <p:nvSpPr>
          <p:cNvPr id="15" name="Text 10"/>
          <p:cNvSpPr/>
          <p:nvPr/>
        </p:nvSpPr>
        <p:spPr>
          <a:xfrm>
            <a:off x="5157216" y="2697480"/>
            <a:ext cx="1901952" cy="502920"/>
          </a:xfrm>
          <a:prstGeom prst="rect">
            <a:avLst/>
          </a:prstGeom>
          <a:noFill/>
          <a:ln/>
        </p:spPr>
        <p:txBody>
          <a:bodyPr wrap="square" lIns="0" tIns="0" rIns="0" bIns="0" rtlCol="0" anchor="t"/>
          <a:lstStyle/>
          <a:p>
            <a:pPr algn="ctr" indent="0" marL="0">
              <a:buNone/>
            </a:pPr>
            <a:r>
              <a:rPr lang="en-US" sz="1200" b="1" dirty="0">
                <a:solidFill>
                  <a:srgbClr val="1B2340"/>
                </a:solidFill>
                <a:latin typeface="Calibri" pitchFamily="34" charset="0"/>
                <a:ea typeface="Calibri" pitchFamily="34" charset="-122"/>
                <a:cs typeface="Calibri" pitchFamily="34" charset="-120"/>
              </a:rPr>
              <a:t>Social media</a:t>
            </a:r>
            <a:endParaRPr lang="en-US" sz="1200" dirty="0"/>
          </a:p>
        </p:txBody>
      </p:sp>
      <p:sp>
        <p:nvSpPr>
          <p:cNvPr id="16" name="Shape 11"/>
          <p:cNvSpPr/>
          <p:nvPr/>
        </p:nvSpPr>
        <p:spPr>
          <a:xfrm>
            <a:off x="7278624" y="1874520"/>
            <a:ext cx="2084832" cy="1417320"/>
          </a:xfrm>
          <a:prstGeom prst="roundRect">
            <a:avLst>
              <a:gd name="adj" fmla="val 5806"/>
            </a:avLst>
          </a:prstGeom>
          <a:solidFill>
            <a:srgbClr val="FFFFFF"/>
          </a:solidFill>
          <a:ln/>
          <a:effectLst>
            <a:outerShdw sx="100000" sy="100000" kx="0" ky="0" algn="bl" rotWithShape="0" blurRad="76200" dist="25400" dir="5400000">
              <a:srgbClr val="000000">
                <a:alpha val="10000"/>
              </a:srgbClr>
            </a:outerShdw>
          </a:effectLst>
        </p:spPr>
      </p:sp>
      <p:sp>
        <p:nvSpPr>
          <p:cNvPr id="17" name="Shape 12"/>
          <p:cNvSpPr/>
          <p:nvPr/>
        </p:nvSpPr>
        <p:spPr>
          <a:xfrm>
            <a:off x="8046720" y="2057400"/>
            <a:ext cx="548640" cy="548640"/>
          </a:xfrm>
          <a:prstGeom prst="ellipse">
            <a:avLst/>
          </a:prstGeom>
          <a:solidFill>
            <a:srgbClr val="FBEBD2"/>
          </a:solidFill>
          <a:ln/>
        </p:spPr>
      </p:sp>
      <p:pic>
        <p:nvPicPr>
          <p:cNvPr id="18" name="Image 3" descr="preencoded.png">    </p:cNvPr>
          <p:cNvPicPr>
            <a:picLocks noChangeAspect="1"/>
          </p:cNvPicPr>
          <p:nvPr/>
        </p:nvPicPr>
        <p:blipFill>
          <a:blip r:embed="rId4"/>
          <a:stretch>
            <a:fillRect/>
          </a:stretch>
        </p:blipFill>
        <p:spPr>
          <a:xfrm>
            <a:off x="8189366" y="2200046"/>
            <a:ext cx="263347" cy="263347"/>
          </a:xfrm>
          <a:prstGeom prst="rect">
            <a:avLst/>
          </a:prstGeom>
        </p:spPr>
      </p:pic>
      <p:sp>
        <p:nvSpPr>
          <p:cNvPr id="19" name="Text 13"/>
          <p:cNvSpPr/>
          <p:nvPr/>
        </p:nvSpPr>
        <p:spPr>
          <a:xfrm>
            <a:off x="7370064" y="2697480"/>
            <a:ext cx="1901952" cy="502920"/>
          </a:xfrm>
          <a:prstGeom prst="rect">
            <a:avLst/>
          </a:prstGeom>
          <a:noFill/>
          <a:ln/>
        </p:spPr>
        <p:txBody>
          <a:bodyPr wrap="square" lIns="0" tIns="0" rIns="0" bIns="0" rtlCol="0" anchor="t"/>
          <a:lstStyle/>
          <a:p>
            <a:pPr algn="ctr" indent="0" marL="0">
              <a:buNone/>
            </a:pPr>
            <a:r>
              <a:rPr lang="en-US" sz="1200" b="1" dirty="0">
                <a:solidFill>
                  <a:srgbClr val="1B2340"/>
                </a:solidFill>
                <a:latin typeface="Calibri" pitchFamily="34" charset="0"/>
                <a:ea typeface="Calibri" pitchFamily="34" charset="-122"/>
                <a:cs typeface="Calibri" pitchFamily="34" charset="-120"/>
              </a:rPr>
              <a:t>Grievance portals</a:t>
            </a:r>
            <a:endParaRPr lang="en-US" sz="1200" dirty="0"/>
          </a:p>
        </p:txBody>
      </p:sp>
      <p:sp>
        <p:nvSpPr>
          <p:cNvPr id="20" name="Shape 14"/>
          <p:cNvSpPr/>
          <p:nvPr/>
        </p:nvSpPr>
        <p:spPr>
          <a:xfrm>
            <a:off x="9491472" y="1874520"/>
            <a:ext cx="2084832" cy="1417320"/>
          </a:xfrm>
          <a:prstGeom prst="roundRect">
            <a:avLst>
              <a:gd name="adj" fmla="val 5806"/>
            </a:avLst>
          </a:prstGeom>
          <a:solidFill>
            <a:srgbClr val="FFFFFF"/>
          </a:solidFill>
          <a:ln/>
          <a:effectLst>
            <a:outerShdw sx="100000" sy="100000" kx="0" ky="0" algn="bl" rotWithShape="0" blurRad="76200" dist="25400" dir="5400000">
              <a:srgbClr val="000000">
                <a:alpha val="10000"/>
              </a:srgbClr>
            </a:outerShdw>
          </a:effectLst>
        </p:spPr>
      </p:sp>
      <p:sp>
        <p:nvSpPr>
          <p:cNvPr id="21" name="Shape 15"/>
          <p:cNvSpPr/>
          <p:nvPr/>
        </p:nvSpPr>
        <p:spPr>
          <a:xfrm>
            <a:off x="10259568" y="2057400"/>
            <a:ext cx="548640" cy="548640"/>
          </a:xfrm>
          <a:prstGeom prst="ellipse">
            <a:avLst/>
          </a:prstGeom>
          <a:solidFill>
            <a:srgbClr val="FBEBD2"/>
          </a:solidFill>
          <a:ln/>
        </p:spPr>
      </p:sp>
      <p:pic>
        <p:nvPicPr>
          <p:cNvPr id="22" name="Image 4" descr="preencoded.png">    </p:cNvPr>
          <p:cNvPicPr>
            <a:picLocks noChangeAspect="1"/>
          </p:cNvPicPr>
          <p:nvPr/>
        </p:nvPicPr>
        <p:blipFill>
          <a:blip r:embed="rId5"/>
          <a:stretch>
            <a:fillRect/>
          </a:stretch>
        </p:blipFill>
        <p:spPr>
          <a:xfrm>
            <a:off x="10402214" y="2200046"/>
            <a:ext cx="263347" cy="263347"/>
          </a:xfrm>
          <a:prstGeom prst="rect">
            <a:avLst/>
          </a:prstGeom>
        </p:spPr>
      </p:pic>
      <p:sp>
        <p:nvSpPr>
          <p:cNvPr id="23" name="Text 16"/>
          <p:cNvSpPr/>
          <p:nvPr/>
        </p:nvSpPr>
        <p:spPr>
          <a:xfrm>
            <a:off x="9582912" y="2697480"/>
            <a:ext cx="1901952" cy="502920"/>
          </a:xfrm>
          <a:prstGeom prst="rect">
            <a:avLst/>
          </a:prstGeom>
          <a:noFill/>
          <a:ln/>
        </p:spPr>
        <p:txBody>
          <a:bodyPr wrap="square" lIns="0" tIns="0" rIns="0" bIns="0" rtlCol="0" anchor="t"/>
          <a:lstStyle/>
          <a:p>
            <a:pPr algn="ctr" indent="0" marL="0">
              <a:buNone/>
            </a:pPr>
            <a:r>
              <a:rPr lang="en-US" sz="1200" b="1" dirty="0">
                <a:solidFill>
                  <a:srgbClr val="1B2340"/>
                </a:solidFill>
                <a:latin typeface="Calibri" pitchFamily="34" charset="0"/>
                <a:ea typeface="Calibri" pitchFamily="34" charset="-122"/>
                <a:cs typeface="Calibri" pitchFamily="34" charset="-120"/>
              </a:rPr>
              <a:t>Direct representations</a:t>
            </a:r>
            <a:endParaRPr lang="en-US" sz="1200" dirty="0"/>
          </a:p>
        </p:txBody>
      </p:sp>
      <p:sp>
        <p:nvSpPr>
          <p:cNvPr id="24" name="Shape 17"/>
          <p:cNvSpPr/>
          <p:nvPr/>
        </p:nvSpPr>
        <p:spPr>
          <a:xfrm>
            <a:off x="640080" y="3703320"/>
            <a:ext cx="10881360" cy="18288"/>
          </a:xfrm>
          <a:prstGeom prst="rect">
            <a:avLst/>
          </a:prstGeom>
          <a:solidFill>
            <a:srgbClr val="DDD6C6"/>
          </a:solidFill>
          <a:ln/>
        </p:spPr>
      </p:sp>
      <p:sp>
        <p:nvSpPr>
          <p:cNvPr id="25" name="Text 18"/>
          <p:cNvSpPr/>
          <p:nvPr/>
        </p:nvSpPr>
        <p:spPr>
          <a:xfrm>
            <a:off x="640080" y="3977640"/>
            <a:ext cx="10881360" cy="548640"/>
          </a:xfrm>
          <a:prstGeom prst="rect">
            <a:avLst/>
          </a:prstGeom>
          <a:noFill/>
          <a:ln/>
        </p:spPr>
        <p:txBody>
          <a:bodyPr wrap="square" lIns="0" tIns="0" rIns="0" bIns="0" rtlCol="0" anchor="ctr"/>
          <a:lstStyle/>
          <a:p>
            <a:pPr indent="0" marL="0">
              <a:buNone/>
            </a:pPr>
            <a:r>
              <a:rPr lang="en-US" sz="1600" b="1" dirty="0">
                <a:solidFill>
                  <a:srgbClr val="1B2340"/>
                </a:solidFill>
                <a:latin typeface="Calibri" pitchFamily="34" charset="0"/>
                <a:ea typeface="Calibri" pitchFamily="34" charset="-122"/>
                <a:cs typeface="Calibri" pitchFamily="34" charset="-120"/>
              </a:rPr>
              <a:t>No objective way </a:t>
            </a:r>
            <a:pPr indent="0" marL="0">
              <a:buNone/>
            </a:pPr>
            <a:r>
              <a:rPr lang="en-US" sz="1600" dirty="0">
                <a:solidFill>
                  <a:srgbClr val="5B6478"/>
                </a:solidFill>
                <a:latin typeface="Calibri" pitchFamily="34" charset="0"/>
                <a:ea typeface="Calibri" pitchFamily="34" charset="-122"/>
                <a:cs typeface="Calibri" pitchFamily="34" charset="-120"/>
              </a:rPr>
              <a:t>to consolidate feedback, spot recurring needs, or weigh competing proposals against real demand.</a:t>
            </a:r>
            <a:endParaRPr lang="en-US" sz="1600" dirty="0"/>
          </a:p>
        </p:txBody>
      </p:sp>
      <p:sp>
        <p:nvSpPr>
          <p:cNvPr id="26" name="Shape 19"/>
          <p:cNvSpPr/>
          <p:nvPr/>
        </p:nvSpPr>
        <p:spPr>
          <a:xfrm>
            <a:off x="640080" y="4709160"/>
            <a:ext cx="10881360" cy="1417320"/>
          </a:xfrm>
          <a:prstGeom prst="roundRect">
            <a:avLst>
              <a:gd name="adj" fmla="val 5806"/>
            </a:avLst>
          </a:prstGeom>
          <a:solidFill>
            <a:srgbClr val="1B2340"/>
          </a:solidFill>
          <a:ln/>
          <a:effectLst>
            <a:outerShdw sx="100000" sy="100000" kx="0" ky="0" algn="bl" rotWithShape="0" blurRad="76200" dist="25400" dir="5400000">
              <a:srgbClr val="000000">
                <a:alpha val="10000"/>
              </a:srgbClr>
            </a:outerShdw>
          </a:effectLst>
        </p:spPr>
      </p:sp>
      <p:sp>
        <p:nvSpPr>
          <p:cNvPr id="27" name="Text 20"/>
          <p:cNvSpPr/>
          <p:nvPr/>
        </p:nvSpPr>
        <p:spPr>
          <a:xfrm>
            <a:off x="960120" y="4919472"/>
            <a:ext cx="5486400" cy="320040"/>
          </a:xfrm>
          <a:prstGeom prst="rect">
            <a:avLst/>
          </a:prstGeom>
          <a:noFill/>
          <a:ln/>
        </p:spPr>
        <p:txBody>
          <a:bodyPr wrap="square" lIns="0" tIns="0" rIns="0" bIns="0" rtlCol="0" anchor="ctr"/>
          <a:lstStyle/>
          <a:p>
            <a:pPr indent="0" marL="0">
              <a:buNone/>
            </a:pPr>
            <a:r>
              <a:rPr lang="en-US" sz="1100" b="1" spc="150" kern="0" dirty="0">
                <a:solidFill>
                  <a:srgbClr val="E8A33D"/>
                </a:solidFill>
                <a:latin typeface="Calibri" pitchFamily="34" charset="0"/>
                <a:ea typeface="Calibri" pitchFamily="34" charset="-122"/>
                <a:cs typeface="Calibri" pitchFamily="34" charset="-120"/>
              </a:rPr>
              <a:t>THE BRIEF'S OWN EXAMPLE</a:t>
            </a:r>
            <a:endParaRPr lang="en-US" sz="1100" dirty="0"/>
          </a:p>
        </p:txBody>
      </p:sp>
      <p:sp>
        <p:nvSpPr>
          <p:cNvPr id="28" name="Text 21"/>
          <p:cNvSpPr/>
          <p:nvPr/>
        </p:nvSpPr>
        <p:spPr>
          <a:xfrm>
            <a:off x="960120" y="5230368"/>
            <a:ext cx="10241280" cy="822960"/>
          </a:xfrm>
          <a:prstGeom prst="rect">
            <a:avLst/>
          </a:prstGeom>
          <a:noFill/>
          <a:ln/>
        </p:spPr>
        <p:txBody>
          <a:bodyPr wrap="square" lIns="0" tIns="0" rIns="0" bIns="0" rtlCol="0" anchor="ctr"/>
          <a:lstStyle/>
          <a:p>
            <a:pPr indent="0" marL="0">
              <a:buNone/>
            </a:pPr>
            <a:r>
              <a:rPr lang="en-US" sz="1550" dirty="0">
                <a:solidFill>
                  <a:srgbClr val="FFFFFF"/>
                </a:solidFill>
                <a:latin typeface="Calibri" pitchFamily="34" charset="0"/>
                <a:ea typeface="Calibri" pitchFamily="34" charset="-122"/>
                <a:cs typeface="Calibri" pitchFamily="34" charset="-120"/>
              </a:rPr>
              <a:t>Requests for school upgrades vs. enrollment and travel-distance data, weighed against a competing vocational-centre proposal — which one should the MP fund first?</a:t>
            </a:r>
            <a:endParaRPr lang="en-US" sz="15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5F0"/>
        </a:solidFill>
      </p:bgPr>
    </p:bg>
    <p:spTree>
      <p:nvGrpSpPr>
        <p:cNvPr id="1" name=""/>
        <p:cNvGrpSpPr/>
        <p:nvPr/>
      </p:nvGrpSpPr>
      <p:grpSpPr>
        <a:xfrm>
          <a:off x="0" y="0"/>
          <a:ext cx="0" cy="0"/>
          <a:chOff x="0" y="0"/>
          <a:chExt cx="0" cy="0"/>
        </a:xfrm>
      </p:grpSpPr>
      <p:sp>
        <p:nvSpPr>
          <p:cNvPr id="2" name="Text 0"/>
          <p:cNvSpPr/>
          <p:nvPr/>
        </p:nvSpPr>
        <p:spPr>
          <a:xfrm>
            <a:off x="640080" y="457200"/>
            <a:ext cx="5486400" cy="365760"/>
          </a:xfrm>
          <a:prstGeom prst="rect">
            <a:avLst/>
          </a:prstGeom>
          <a:noFill/>
          <a:ln/>
        </p:spPr>
        <p:txBody>
          <a:bodyPr wrap="square" lIns="0" tIns="0" rIns="0" bIns="0" rtlCol="0" anchor="ctr"/>
          <a:lstStyle/>
          <a:p>
            <a:pPr indent="0" marL="0">
              <a:buNone/>
            </a:pPr>
            <a:r>
              <a:rPr lang="en-US" sz="1300" b="1" spc="200" kern="0" dirty="0">
                <a:solidFill>
                  <a:srgbClr val="C97E1E"/>
                </a:solidFill>
                <a:latin typeface="Calibri" pitchFamily="34" charset="0"/>
                <a:ea typeface="Calibri" pitchFamily="34" charset="-122"/>
                <a:cs typeface="Calibri" pitchFamily="34" charset="-120"/>
              </a:rPr>
              <a:t>THE SOLUTION</a:t>
            </a:r>
            <a:endParaRPr lang="en-US" sz="1300" dirty="0"/>
          </a:p>
        </p:txBody>
      </p:sp>
      <p:sp>
        <p:nvSpPr>
          <p:cNvPr id="3" name="Text 1"/>
          <p:cNvSpPr/>
          <p:nvPr/>
        </p:nvSpPr>
        <p:spPr>
          <a:xfrm>
            <a:off x="640080" y="777240"/>
            <a:ext cx="10789920" cy="731520"/>
          </a:xfrm>
          <a:prstGeom prst="rect">
            <a:avLst/>
          </a:prstGeom>
          <a:noFill/>
          <a:ln/>
        </p:spPr>
        <p:txBody>
          <a:bodyPr wrap="square" lIns="0" tIns="0" rIns="0" bIns="0" rtlCol="0" anchor="ctr"/>
          <a:lstStyle/>
          <a:p>
            <a:pPr indent="0" marL="0">
              <a:buNone/>
            </a:pPr>
            <a:r>
              <a:rPr lang="en-US" sz="2800" b="1" dirty="0">
                <a:solidFill>
                  <a:srgbClr val="1B2340"/>
                </a:solidFill>
                <a:latin typeface="Cambria" pitchFamily="34" charset="0"/>
                <a:ea typeface="Cambria" pitchFamily="34" charset="-122"/>
                <a:cs typeface="Cambria" pitchFamily="34" charset="-120"/>
              </a:rPr>
              <a:t>One multilingual platform: submit, analyze, rank, act.</a:t>
            </a:r>
            <a:endParaRPr lang="en-US" sz="2800" dirty="0"/>
          </a:p>
        </p:txBody>
      </p:sp>
      <p:sp>
        <p:nvSpPr>
          <p:cNvPr id="4" name="Shape 2"/>
          <p:cNvSpPr/>
          <p:nvPr/>
        </p:nvSpPr>
        <p:spPr>
          <a:xfrm>
            <a:off x="640080" y="1783080"/>
            <a:ext cx="2606040" cy="3200400"/>
          </a:xfrm>
          <a:prstGeom prst="roundRect">
            <a:avLst>
              <a:gd name="adj" fmla="val 3509"/>
            </a:avLst>
          </a:prstGeom>
          <a:solidFill>
            <a:srgbClr val="FFFFFF"/>
          </a:solidFill>
          <a:ln/>
          <a:effectLst>
            <a:outerShdw sx="100000" sy="100000" kx="0" ky="0" algn="bl" rotWithShape="0" blurRad="76200" dist="25400" dir="5400000">
              <a:srgbClr val="000000">
                <a:alpha val="10000"/>
              </a:srgbClr>
            </a:outerShdw>
          </a:effectLst>
        </p:spPr>
      </p:sp>
      <p:sp>
        <p:nvSpPr>
          <p:cNvPr id="5" name="Shape 3"/>
          <p:cNvSpPr/>
          <p:nvPr/>
        </p:nvSpPr>
        <p:spPr>
          <a:xfrm>
            <a:off x="1600200" y="2103120"/>
            <a:ext cx="685800" cy="685800"/>
          </a:xfrm>
          <a:prstGeom prst="ellipse">
            <a:avLst/>
          </a:prstGeom>
          <a:solidFill>
            <a:srgbClr val="FBEBD2"/>
          </a:solidFill>
          <a:ln/>
        </p:spPr>
      </p:sp>
      <p:pic>
        <p:nvPicPr>
          <p:cNvPr id="6" name="Image 0" descr="preencoded.png">    </p:cNvPr>
          <p:cNvPicPr>
            <a:picLocks noChangeAspect="1"/>
          </p:cNvPicPr>
          <p:nvPr/>
        </p:nvPicPr>
        <p:blipFill>
          <a:blip r:embed="rId1"/>
          <a:stretch>
            <a:fillRect/>
          </a:stretch>
        </p:blipFill>
        <p:spPr>
          <a:xfrm>
            <a:off x="1778508" y="2281428"/>
            <a:ext cx="329184" cy="329184"/>
          </a:xfrm>
          <a:prstGeom prst="rect">
            <a:avLst/>
          </a:prstGeom>
        </p:spPr>
      </p:pic>
      <p:sp>
        <p:nvSpPr>
          <p:cNvPr id="7" name="Text 4"/>
          <p:cNvSpPr/>
          <p:nvPr/>
        </p:nvSpPr>
        <p:spPr>
          <a:xfrm>
            <a:off x="804672" y="2971800"/>
            <a:ext cx="2276856" cy="457200"/>
          </a:xfrm>
          <a:prstGeom prst="rect">
            <a:avLst/>
          </a:prstGeom>
          <a:noFill/>
          <a:ln/>
        </p:spPr>
        <p:txBody>
          <a:bodyPr wrap="square" lIns="0" tIns="0" rIns="0" bIns="0" rtlCol="0" anchor="ctr"/>
          <a:lstStyle/>
          <a:p>
            <a:pPr algn="ctr" indent="0" marL="0">
              <a:buNone/>
            </a:pPr>
            <a:r>
              <a:rPr lang="en-US" sz="1450" b="1" dirty="0">
                <a:solidFill>
                  <a:srgbClr val="1B2340"/>
                </a:solidFill>
                <a:latin typeface="Calibri" pitchFamily="34" charset="0"/>
                <a:ea typeface="Calibri" pitchFamily="34" charset="-122"/>
                <a:cs typeface="Calibri" pitchFamily="34" charset="-120"/>
              </a:rPr>
              <a:t>1. Citizens submit</a:t>
            </a:r>
            <a:endParaRPr lang="en-US" sz="1450" dirty="0"/>
          </a:p>
        </p:txBody>
      </p:sp>
      <p:sp>
        <p:nvSpPr>
          <p:cNvPr id="8" name="Text 5"/>
          <p:cNvSpPr/>
          <p:nvPr/>
        </p:nvSpPr>
        <p:spPr>
          <a:xfrm>
            <a:off x="841248" y="3456432"/>
            <a:ext cx="2203704" cy="1371600"/>
          </a:xfrm>
          <a:prstGeom prst="rect">
            <a:avLst/>
          </a:prstGeom>
          <a:noFill/>
          <a:ln/>
        </p:spPr>
        <p:txBody>
          <a:bodyPr wrap="square" lIns="0" tIns="0" rIns="0" bIns="0" rtlCol="0" anchor="ctr"/>
          <a:lstStyle/>
          <a:p>
            <a:pPr algn="ctr" indent="0" marL="0">
              <a:buNone/>
            </a:pPr>
            <a:r>
              <a:rPr lang="en-US" sz="1150" dirty="0">
                <a:solidFill>
                  <a:srgbClr val="5B6478"/>
                </a:solidFill>
                <a:latin typeface="Calibri" pitchFamily="34" charset="0"/>
                <a:ea typeface="Calibri" pitchFamily="34" charset="-122"/>
                <a:cs typeface="Calibri" pitchFamily="34" charset="-120"/>
              </a:rPr>
              <a:t>Voice, text, or photo — in English, Hindi, or Telugu.</a:t>
            </a:r>
            <a:endParaRPr lang="en-US" sz="1150" dirty="0"/>
          </a:p>
        </p:txBody>
      </p:sp>
      <p:sp>
        <p:nvSpPr>
          <p:cNvPr id="9" name="Text 6"/>
          <p:cNvSpPr/>
          <p:nvPr/>
        </p:nvSpPr>
        <p:spPr>
          <a:xfrm>
            <a:off x="3200400" y="3063240"/>
            <a:ext cx="365760" cy="457200"/>
          </a:xfrm>
          <a:prstGeom prst="rect">
            <a:avLst/>
          </a:prstGeom>
          <a:noFill/>
          <a:ln/>
        </p:spPr>
        <p:txBody>
          <a:bodyPr wrap="square" lIns="0" tIns="0" rIns="0" bIns="0" rtlCol="0" anchor="ctr"/>
          <a:lstStyle/>
          <a:p>
            <a:pPr algn="ctr" indent="0" marL="0">
              <a:buNone/>
            </a:pPr>
            <a:r>
              <a:rPr lang="en-US" sz="2000" dirty="0">
                <a:solidFill>
                  <a:srgbClr val="6B7A99"/>
                </a:solidFill>
                <a:latin typeface="Arial" pitchFamily="34" charset="0"/>
                <a:ea typeface="Arial" pitchFamily="34" charset="-122"/>
                <a:cs typeface="Arial" pitchFamily="34" charset="-120"/>
              </a:rPr>
              <a:t>→</a:t>
            </a:r>
            <a:endParaRPr lang="en-US" sz="2000" dirty="0"/>
          </a:p>
        </p:txBody>
      </p:sp>
      <p:sp>
        <p:nvSpPr>
          <p:cNvPr id="10" name="Shape 7"/>
          <p:cNvSpPr/>
          <p:nvPr/>
        </p:nvSpPr>
        <p:spPr>
          <a:xfrm>
            <a:off x="3447288" y="1783080"/>
            <a:ext cx="2606040" cy="3200400"/>
          </a:xfrm>
          <a:prstGeom prst="roundRect">
            <a:avLst>
              <a:gd name="adj" fmla="val 3509"/>
            </a:avLst>
          </a:prstGeom>
          <a:solidFill>
            <a:srgbClr val="FFFFFF"/>
          </a:solidFill>
          <a:ln/>
          <a:effectLst>
            <a:outerShdw sx="100000" sy="100000" kx="0" ky="0" algn="bl" rotWithShape="0" blurRad="76200" dist="25400" dir="5400000">
              <a:srgbClr val="000000">
                <a:alpha val="10000"/>
              </a:srgbClr>
            </a:outerShdw>
          </a:effectLst>
        </p:spPr>
      </p:sp>
      <p:sp>
        <p:nvSpPr>
          <p:cNvPr id="11" name="Shape 8"/>
          <p:cNvSpPr/>
          <p:nvPr/>
        </p:nvSpPr>
        <p:spPr>
          <a:xfrm>
            <a:off x="4407408" y="2103120"/>
            <a:ext cx="685800" cy="685800"/>
          </a:xfrm>
          <a:prstGeom prst="ellipse">
            <a:avLst/>
          </a:prstGeom>
          <a:solidFill>
            <a:srgbClr val="FBEBD2"/>
          </a:solidFill>
          <a:ln/>
        </p:spPr>
      </p:sp>
      <p:pic>
        <p:nvPicPr>
          <p:cNvPr id="12" name="Image 1" descr="preencoded.png">    </p:cNvPr>
          <p:cNvPicPr>
            <a:picLocks noChangeAspect="1"/>
          </p:cNvPicPr>
          <p:nvPr/>
        </p:nvPicPr>
        <p:blipFill>
          <a:blip r:embed="rId2"/>
          <a:stretch>
            <a:fillRect/>
          </a:stretch>
        </p:blipFill>
        <p:spPr>
          <a:xfrm>
            <a:off x="4585716" y="2281428"/>
            <a:ext cx="329184" cy="329184"/>
          </a:xfrm>
          <a:prstGeom prst="rect">
            <a:avLst/>
          </a:prstGeom>
        </p:spPr>
      </p:pic>
      <p:sp>
        <p:nvSpPr>
          <p:cNvPr id="13" name="Text 9"/>
          <p:cNvSpPr/>
          <p:nvPr/>
        </p:nvSpPr>
        <p:spPr>
          <a:xfrm>
            <a:off x="3611880" y="2971800"/>
            <a:ext cx="2276856" cy="457200"/>
          </a:xfrm>
          <a:prstGeom prst="rect">
            <a:avLst/>
          </a:prstGeom>
          <a:noFill/>
          <a:ln/>
        </p:spPr>
        <p:txBody>
          <a:bodyPr wrap="square" lIns="0" tIns="0" rIns="0" bIns="0" rtlCol="0" anchor="ctr"/>
          <a:lstStyle/>
          <a:p>
            <a:pPr algn="ctr" indent="0" marL="0">
              <a:buNone/>
            </a:pPr>
            <a:r>
              <a:rPr lang="en-US" sz="1450" b="1" dirty="0">
                <a:solidFill>
                  <a:srgbClr val="1B2340"/>
                </a:solidFill>
                <a:latin typeface="Calibri" pitchFamily="34" charset="0"/>
                <a:ea typeface="Calibri" pitchFamily="34" charset="-122"/>
                <a:cs typeface="Calibri" pitchFamily="34" charset="-120"/>
              </a:rPr>
              <a:t>2. AI analyzes</a:t>
            </a:r>
            <a:endParaRPr lang="en-US" sz="1450" dirty="0"/>
          </a:p>
        </p:txBody>
      </p:sp>
      <p:sp>
        <p:nvSpPr>
          <p:cNvPr id="14" name="Text 10"/>
          <p:cNvSpPr/>
          <p:nvPr/>
        </p:nvSpPr>
        <p:spPr>
          <a:xfrm>
            <a:off x="3648456" y="3456432"/>
            <a:ext cx="2203704" cy="1371600"/>
          </a:xfrm>
          <a:prstGeom prst="rect">
            <a:avLst/>
          </a:prstGeom>
          <a:noFill/>
          <a:ln/>
        </p:spPr>
        <p:txBody>
          <a:bodyPr wrap="square" lIns="0" tIns="0" rIns="0" bIns="0" rtlCol="0" anchor="ctr"/>
          <a:lstStyle/>
          <a:p>
            <a:pPr algn="ctr" indent="0" marL="0">
              <a:buNone/>
            </a:pPr>
            <a:r>
              <a:rPr lang="en-US" sz="1150" dirty="0">
                <a:solidFill>
                  <a:srgbClr val="5B6478"/>
                </a:solidFill>
                <a:latin typeface="Calibri" pitchFamily="34" charset="0"/>
                <a:ea typeface="Calibri" pitchFamily="34" charset="-122"/>
                <a:cs typeface="Calibri" pitchFamily="34" charset="-120"/>
              </a:rPr>
              <a:t>Classifies category, theme, urgency &amp; sentiment automatically.</a:t>
            </a:r>
            <a:endParaRPr lang="en-US" sz="1150" dirty="0"/>
          </a:p>
        </p:txBody>
      </p:sp>
      <p:sp>
        <p:nvSpPr>
          <p:cNvPr id="15" name="Text 11"/>
          <p:cNvSpPr/>
          <p:nvPr/>
        </p:nvSpPr>
        <p:spPr>
          <a:xfrm>
            <a:off x="6007608" y="3063240"/>
            <a:ext cx="365760" cy="457200"/>
          </a:xfrm>
          <a:prstGeom prst="rect">
            <a:avLst/>
          </a:prstGeom>
          <a:noFill/>
          <a:ln/>
        </p:spPr>
        <p:txBody>
          <a:bodyPr wrap="square" lIns="0" tIns="0" rIns="0" bIns="0" rtlCol="0" anchor="ctr"/>
          <a:lstStyle/>
          <a:p>
            <a:pPr algn="ctr" indent="0" marL="0">
              <a:buNone/>
            </a:pPr>
            <a:r>
              <a:rPr lang="en-US" sz="2000" dirty="0">
                <a:solidFill>
                  <a:srgbClr val="6B7A99"/>
                </a:solidFill>
                <a:latin typeface="Arial" pitchFamily="34" charset="0"/>
                <a:ea typeface="Arial" pitchFamily="34" charset="-122"/>
                <a:cs typeface="Arial" pitchFamily="34" charset="-120"/>
              </a:rPr>
              <a:t>→</a:t>
            </a:r>
            <a:endParaRPr lang="en-US" sz="2000" dirty="0"/>
          </a:p>
        </p:txBody>
      </p:sp>
      <p:sp>
        <p:nvSpPr>
          <p:cNvPr id="16" name="Shape 12"/>
          <p:cNvSpPr/>
          <p:nvPr/>
        </p:nvSpPr>
        <p:spPr>
          <a:xfrm>
            <a:off x="6254496" y="1783080"/>
            <a:ext cx="2606040" cy="3200400"/>
          </a:xfrm>
          <a:prstGeom prst="roundRect">
            <a:avLst>
              <a:gd name="adj" fmla="val 3509"/>
            </a:avLst>
          </a:prstGeom>
          <a:solidFill>
            <a:srgbClr val="FFFFFF"/>
          </a:solidFill>
          <a:ln/>
          <a:effectLst>
            <a:outerShdw sx="100000" sy="100000" kx="0" ky="0" algn="bl" rotWithShape="0" blurRad="76200" dist="25400" dir="5400000">
              <a:srgbClr val="000000">
                <a:alpha val="10000"/>
              </a:srgbClr>
            </a:outerShdw>
          </a:effectLst>
        </p:spPr>
      </p:sp>
      <p:sp>
        <p:nvSpPr>
          <p:cNvPr id="17" name="Shape 13"/>
          <p:cNvSpPr/>
          <p:nvPr/>
        </p:nvSpPr>
        <p:spPr>
          <a:xfrm>
            <a:off x="7214616" y="2103120"/>
            <a:ext cx="685800" cy="685800"/>
          </a:xfrm>
          <a:prstGeom prst="ellipse">
            <a:avLst/>
          </a:prstGeom>
          <a:solidFill>
            <a:srgbClr val="FBEBD2"/>
          </a:solidFill>
          <a:ln/>
        </p:spPr>
      </p:sp>
      <p:pic>
        <p:nvPicPr>
          <p:cNvPr id="18" name="Image 2" descr="preencoded.png">    </p:cNvPr>
          <p:cNvPicPr>
            <a:picLocks noChangeAspect="1"/>
          </p:cNvPicPr>
          <p:nvPr/>
        </p:nvPicPr>
        <p:blipFill>
          <a:blip r:embed="rId3"/>
          <a:stretch>
            <a:fillRect/>
          </a:stretch>
        </p:blipFill>
        <p:spPr>
          <a:xfrm>
            <a:off x="7392924" y="2281428"/>
            <a:ext cx="329184" cy="329184"/>
          </a:xfrm>
          <a:prstGeom prst="rect">
            <a:avLst/>
          </a:prstGeom>
        </p:spPr>
      </p:pic>
      <p:sp>
        <p:nvSpPr>
          <p:cNvPr id="19" name="Text 14"/>
          <p:cNvSpPr/>
          <p:nvPr/>
        </p:nvSpPr>
        <p:spPr>
          <a:xfrm>
            <a:off x="6419088" y="2971800"/>
            <a:ext cx="2276856" cy="457200"/>
          </a:xfrm>
          <a:prstGeom prst="rect">
            <a:avLst/>
          </a:prstGeom>
          <a:noFill/>
          <a:ln/>
        </p:spPr>
        <p:txBody>
          <a:bodyPr wrap="square" lIns="0" tIns="0" rIns="0" bIns="0" rtlCol="0" anchor="ctr"/>
          <a:lstStyle/>
          <a:p>
            <a:pPr algn="ctr" indent="0" marL="0">
              <a:buNone/>
            </a:pPr>
            <a:r>
              <a:rPr lang="en-US" sz="1450" b="1" dirty="0">
                <a:solidFill>
                  <a:srgbClr val="1B2340"/>
                </a:solidFill>
                <a:latin typeface="Calibri" pitchFamily="34" charset="0"/>
                <a:ea typeface="Calibri" pitchFamily="34" charset="-122"/>
                <a:cs typeface="Calibri" pitchFamily="34" charset="-120"/>
              </a:rPr>
              <a:t>3. Demand clusters</a:t>
            </a:r>
            <a:endParaRPr lang="en-US" sz="1450" dirty="0"/>
          </a:p>
        </p:txBody>
      </p:sp>
      <p:sp>
        <p:nvSpPr>
          <p:cNvPr id="20" name="Text 15"/>
          <p:cNvSpPr/>
          <p:nvPr/>
        </p:nvSpPr>
        <p:spPr>
          <a:xfrm>
            <a:off x="6455664" y="3456432"/>
            <a:ext cx="2203704" cy="1371600"/>
          </a:xfrm>
          <a:prstGeom prst="rect">
            <a:avLst/>
          </a:prstGeom>
          <a:noFill/>
          <a:ln/>
        </p:spPr>
        <p:txBody>
          <a:bodyPr wrap="square" lIns="0" tIns="0" rIns="0" bIns="0" rtlCol="0" anchor="ctr"/>
          <a:lstStyle/>
          <a:p>
            <a:pPr algn="ctr" indent="0" marL="0">
              <a:buNone/>
            </a:pPr>
            <a:r>
              <a:rPr lang="en-US" sz="1150" dirty="0">
                <a:solidFill>
                  <a:srgbClr val="5B6478"/>
                </a:solidFill>
                <a:latin typeface="Calibri" pitchFamily="34" charset="0"/>
                <a:ea typeface="Calibri" pitchFamily="34" charset="-122"/>
                <a:cs typeface="Calibri" pitchFamily="34" charset="-120"/>
              </a:rPr>
              <a:t>Recurring requests surface as hotspots on a live map.</a:t>
            </a:r>
            <a:endParaRPr lang="en-US" sz="1150" dirty="0"/>
          </a:p>
        </p:txBody>
      </p:sp>
      <p:sp>
        <p:nvSpPr>
          <p:cNvPr id="21" name="Text 16"/>
          <p:cNvSpPr/>
          <p:nvPr/>
        </p:nvSpPr>
        <p:spPr>
          <a:xfrm>
            <a:off x="8814816" y="3063240"/>
            <a:ext cx="365760" cy="457200"/>
          </a:xfrm>
          <a:prstGeom prst="rect">
            <a:avLst/>
          </a:prstGeom>
          <a:noFill/>
          <a:ln/>
        </p:spPr>
        <p:txBody>
          <a:bodyPr wrap="square" lIns="0" tIns="0" rIns="0" bIns="0" rtlCol="0" anchor="ctr"/>
          <a:lstStyle/>
          <a:p>
            <a:pPr algn="ctr" indent="0" marL="0">
              <a:buNone/>
            </a:pPr>
            <a:r>
              <a:rPr lang="en-US" sz="2000" dirty="0">
                <a:solidFill>
                  <a:srgbClr val="6B7A99"/>
                </a:solidFill>
                <a:latin typeface="Arial" pitchFamily="34" charset="0"/>
                <a:ea typeface="Arial" pitchFamily="34" charset="-122"/>
                <a:cs typeface="Arial" pitchFamily="34" charset="-120"/>
              </a:rPr>
              <a:t>→</a:t>
            </a:r>
            <a:endParaRPr lang="en-US" sz="2000" dirty="0"/>
          </a:p>
        </p:txBody>
      </p:sp>
      <p:sp>
        <p:nvSpPr>
          <p:cNvPr id="22" name="Shape 17"/>
          <p:cNvSpPr/>
          <p:nvPr/>
        </p:nvSpPr>
        <p:spPr>
          <a:xfrm>
            <a:off x="9061704" y="1783080"/>
            <a:ext cx="2606040" cy="3200400"/>
          </a:xfrm>
          <a:prstGeom prst="roundRect">
            <a:avLst>
              <a:gd name="adj" fmla="val 3509"/>
            </a:avLst>
          </a:prstGeom>
          <a:solidFill>
            <a:srgbClr val="FFFFFF"/>
          </a:solidFill>
          <a:ln/>
          <a:effectLst>
            <a:outerShdw sx="100000" sy="100000" kx="0" ky="0" algn="bl" rotWithShape="0" blurRad="76200" dist="25400" dir="5400000">
              <a:srgbClr val="000000">
                <a:alpha val="10000"/>
              </a:srgbClr>
            </a:outerShdw>
          </a:effectLst>
        </p:spPr>
      </p:sp>
      <p:sp>
        <p:nvSpPr>
          <p:cNvPr id="23" name="Shape 18"/>
          <p:cNvSpPr/>
          <p:nvPr/>
        </p:nvSpPr>
        <p:spPr>
          <a:xfrm>
            <a:off x="10021824" y="2103120"/>
            <a:ext cx="685800" cy="685800"/>
          </a:xfrm>
          <a:prstGeom prst="ellipse">
            <a:avLst/>
          </a:prstGeom>
          <a:solidFill>
            <a:srgbClr val="FBEBD2"/>
          </a:solidFill>
          <a:ln/>
        </p:spPr>
      </p:sp>
      <p:pic>
        <p:nvPicPr>
          <p:cNvPr id="24" name="Image 3" descr="preencoded.png">    </p:cNvPr>
          <p:cNvPicPr>
            <a:picLocks noChangeAspect="1"/>
          </p:cNvPicPr>
          <p:nvPr/>
        </p:nvPicPr>
        <p:blipFill>
          <a:blip r:embed="rId4"/>
          <a:stretch>
            <a:fillRect/>
          </a:stretch>
        </p:blipFill>
        <p:spPr>
          <a:xfrm>
            <a:off x="10200132" y="2281428"/>
            <a:ext cx="329184" cy="329184"/>
          </a:xfrm>
          <a:prstGeom prst="rect">
            <a:avLst/>
          </a:prstGeom>
        </p:spPr>
      </p:pic>
      <p:sp>
        <p:nvSpPr>
          <p:cNvPr id="25" name="Text 19"/>
          <p:cNvSpPr/>
          <p:nvPr/>
        </p:nvSpPr>
        <p:spPr>
          <a:xfrm>
            <a:off x="9226296" y="2971800"/>
            <a:ext cx="2276856" cy="457200"/>
          </a:xfrm>
          <a:prstGeom prst="rect">
            <a:avLst/>
          </a:prstGeom>
          <a:noFill/>
          <a:ln/>
        </p:spPr>
        <p:txBody>
          <a:bodyPr wrap="square" lIns="0" tIns="0" rIns="0" bIns="0" rtlCol="0" anchor="ctr"/>
          <a:lstStyle/>
          <a:p>
            <a:pPr algn="ctr" indent="0" marL="0">
              <a:buNone/>
            </a:pPr>
            <a:r>
              <a:rPr lang="en-US" sz="1450" b="1" dirty="0">
                <a:solidFill>
                  <a:srgbClr val="1B2340"/>
                </a:solidFill>
                <a:latin typeface="Calibri" pitchFamily="34" charset="0"/>
                <a:ea typeface="Calibri" pitchFamily="34" charset="-122"/>
                <a:cs typeface="Calibri" pitchFamily="34" charset="-120"/>
              </a:rPr>
              <a:t>4. MP acts</a:t>
            </a:r>
            <a:endParaRPr lang="en-US" sz="1450" dirty="0"/>
          </a:p>
        </p:txBody>
      </p:sp>
      <p:sp>
        <p:nvSpPr>
          <p:cNvPr id="26" name="Text 20"/>
          <p:cNvSpPr/>
          <p:nvPr/>
        </p:nvSpPr>
        <p:spPr>
          <a:xfrm>
            <a:off x="9262872" y="3456432"/>
            <a:ext cx="2203704" cy="1371600"/>
          </a:xfrm>
          <a:prstGeom prst="rect">
            <a:avLst/>
          </a:prstGeom>
          <a:noFill/>
          <a:ln/>
        </p:spPr>
        <p:txBody>
          <a:bodyPr wrap="square" lIns="0" tIns="0" rIns="0" bIns="0" rtlCol="0" anchor="ctr"/>
          <a:lstStyle/>
          <a:p>
            <a:pPr algn="ctr" indent="0" marL="0">
              <a:buNone/>
            </a:pPr>
            <a:r>
              <a:rPr lang="en-US" sz="1150" dirty="0">
                <a:solidFill>
                  <a:srgbClr val="5B6478"/>
                </a:solidFill>
                <a:latin typeface="Calibri" pitchFamily="34" charset="0"/>
                <a:ea typeface="Calibri" pitchFamily="34" charset="-122"/>
                <a:cs typeface="Calibri" pitchFamily="34" charset="-120"/>
              </a:rPr>
              <a:t>A ranked, evidence-backed priority list, ready to defend.</a:t>
            </a:r>
            <a:endParaRPr lang="en-US" sz="1150" dirty="0"/>
          </a:p>
        </p:txBody>
      </p:sp>
      <p:sp>
        <p:nvSpPr>
          <p:cNvPr id="27" name="Text 21"/>
          <p:cNvSpPr/>
          <p:nvPr/>
        </p:nvSpPr>
        <p:spPr>
          <a:xfrm>
            <a:off x="640080" y="5257800"/>
            <a:ext cx="10881360" cy="548640"/>
          </a:xfrm>
          <a:prstGeom prst="rect">
            <a:avLst/>
          </a:prstGeom>
          <a:noFill/>
          <a:ln/>
        </p:spPr>
        <p:txBody>
          <a:bodyPr wrap="square" lIns="0" tIns="0" rIns="0" bIns="0" rtlCol="0" anchor="ctr"/>
          <a:lstStyle/>
          <a:p>
            <a:pPr indent="0" marL="0">
              <a:buNone/>
            </a:pPr>
            <a:r>
              <a:rPr lang="en-US" sz="1300" i="1" dirty="0">
                <a:solidFill>
                  <a:srgbClr val="5B6478"/>
                </a:solidFill>
                <a:latin typeface="Calibri" pitchFamily="34" charset="0"/>
                <a:ea typeface="Calibri" pitchFamily="34" charset="-122"/>
                <a:cs typeface="Calibri" pitchFamily="34" charset="-120"/>
              </a:rPr>
              <a:t>Works fully offline on a free rule-based NLP engine — automatically upgrades to Groq (Qwen3-32B) when a key is present. No paid services required to run or demo.</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B2340"/>
        </a:solidFill>
      </p:bgPr>
    </p:bg>
    <p:spTree>
      <p:nvGrpSpPr>
        <p:cNvPr id="1" name=""/>
        <p:cNvGrpSpPr/>
        <p:nvPr/>
      </p:nvGrpSpPr>
      <p:grpSpPr>
        <a:xfrm>
          <a:off x="0" y="0"/>
          <a:ext cx="0" cy="0"/>
          <a:chOff x="0" y="0"/>
          <a:chExt cx="0" cy="0"/>
        </a:xfrm>
      </p:grpSpPr>
      <p:sp>
        <p:nvSpPr>
          <p:cNvPr id="2" name="Text 0"/>
          <p:cNvSpPr/>
          <p:nvPr/>
        </p:nvSpPr>
        <p:spPr>
          <a:xfrm>
            <a:off x="640080" y="457200"/>
            <a:ext cx="5486400" cy="365760"/>
          </a:xfrm>
          <a:prstGeom prst="rect">
            <a:avLst/>
          </a:prstGeom>
          <a:noFill/>
          <a:ln/>
        </p:spPr>
        <p:txBody>
          <a:bodyPr wrap="square" lIns="0" tIns="0" rIns="0" bIns="0" rtlCol="0" anchor="ctr"/>
          <a:lstStyle/>
          <a:p>
            <a:pPr indent="0" marL="0">
              <a:buNone/>
            </a:pPr>
            <a:r>
              <a:rPr lang="en-US" sz="1300" b="1" spc="200" kern="0" dirty="0">
                <a:solidFill>
                  <a:srgbClr val="E8A33D"/>
                </a:solidFill>
                <a:latin typeface="Calibri" pitchFamily="34" charset="0"/>
                <a:ea typeface="Calibri" pitchFamily="34" charset="-122"/>
                <a:cs typeface="Calibri" pitchFamily="34" charset="-120"/>
              </a:rPr>
              <a:t>FEATURE 01</a:t>
            </a:r>
            <a:endParaRPr lang="en-US" sz="1300" dirty="0"/>
          </a:p>
        </p:txBody>
      </p:sp>
      <p:sp>
        <p:nvSpPr>
          <p:cNvPr id="3" name="Text 1"/>
          <p:cNvSpPr/>
          <p:nvPr/>
        </p:nvSpPr>
        <p:spPr>
          <a:xfrm>
            <a:off x="640080" y="777240"/>
            <a:ext cx="6400800" cy="73152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Citizen Portal</a:t>
            </a:r>
            <a:endParaRPr lang="en-US" sz="3200" dirty="0"/>
          </a:p>
        </p:txBody>
      </p:sp>
      <p:sp>
        <p:nvSpPr>
          <p:cNvPr id="4" name="Text 2"/>
          <p:cNvSpPr/>
          <p:nvPr/>
        </p:nvSpPr>
        <p:spPr>
          <a:xfrm>
            <a:off x="640080" y="1417320"/>
            <a:ext cx="6035040" cy="548640"/>
          </a:xfrm>
          <a:prstGeom prst="rect">
            <a:avLst/>
          </a:prstGeom>
          <a:noFill/>
          <a:ln/>
        </p:spPr>
        <p:txBody>
          <a:bodyPr wrap="square" lIns="0" tIns="0" rIns="0" bIns="0" rtlCol="0" anchor="ctr"/>
          <a:lstStyle/>
          <a:p>
            <a:pPr indent="0" marL="0">
              <a:buNone/>
            </a:pPr>
            <a:r>
              <a:rPr lang="en-US" sz="1400" dirty="0">
                <a:solidFill>
                  <a:srgbClr val="B9C1DE"/>
                </a:solidFill>
                <a:latin typeface="Calibri" pitchFamily="34" charset="0"/>
                <a:ea typeface="Calibri" pitchFamily="34" charset="-122"/>
                <a:cs typeface="Calibri" pitchFamily="34" charset="-120"/>
              </a:rPr>
              <a:t>Submit a development suggestion in your own language, your own way.</a:t>
            </a:r>
            <a:endParaRPr lang="en-US" sz="1400" dirty="0"/>
          </a:p>
        </p:txBody>
      </p:sp>
      <p:sp>
        <p:nvSpPr>
          <p:cNvPr id="5" name="Shape 3"/>
          <p:cNvSpPr/>
          <p:nvPr/>
        </p:nvSpPr>
        <p:spPr>
          <a:xfrm>
            <a:off x="640080" y="2148840"/>
            <a:ext cx="502920" cy="502920"/>
          </a:xfrm>
          <a:prstGeom prst="ellipse">
            <a:avLst/>
          </a:prstGeom>
          <a:solidFill>
            <a:srgbClr val="2A3459"/>
          </a:solidFill>
          <a:ln/>
        </p:spPr>
      </p:sp>
      <p:pic>
        <p:nvPicPr>
          <p:cNvPr id="6" name="Image 0" descr="preencoded.png">    </p:cNvPr>
          <p:cNvPicPr>
            <a:picLocks noChangeAspect="1"/>
          </p:cNvPicPr>
          <p:nvPr/>
        </p:nvPicPr>
        <p:blipFill>
          <a:blip r:embed="rId1"/>
          <a:stretch>
            <a:fillRect/>
          </a:stretch>
        </p:blipFill>
        <p:spPr>
          <a:xfrm>
            <a:off x="770839" y="2279599"/>
            <a:ext cx="241402" cy="241402"/>
          </a:xfrm>
          <a:prstGeom prst="rect">
            <a:avLst/>
          </a:prstGeom>
        </p:spPr>
      </p:pic>
      <p:sp>
        <p:nvSpPr>
          <p:cNvPr id="7" name="Text 4"/>
          <p:cNvSpPr/>
          <p:nvPr/>
        </p:nvSpPr>
        <p:spPr>
          <a:xfrm>
            <a:off x="1280160" y="2130552"/>
            <a:ext cx="5303520" cy="320040"/>
          </a:xfrm>
          <a:prstGeom prst="rect">
            <a:avLst/>
          </a:prstGeom>
          <a:noFill/>
          <a:ln/>
        </p:spPr>
        <p:txBody>
          <a:bodyPr wrap="square" lIns="0" tIns="0" rIns="0" bIns="0" rtlCol="0" anchor="ctr"/>
          <a:lstStyle/>
          <a:p>
            <a:pPr indent="0" marL="0">
              <a:buNone/>
            </a:pPr>
            <a:r>
              <a:rPr lang="en-US" sz="1450" b="1" dirty="0">
                <a:solidFill>
                  <a:srgbClr val="FFFFFF"/>
                </a:solidFill>
                <a:latin typeface="Calibri" pitchFamily="34" charset="0"/>
                <a:ea typeface="Calibri" pitchFamily="34" charset="-122"/>
                <a:cs typeface="Calibri" pitchFamily="34" charset="-120"/>
              </a:rPr>
              <a:t>3 languages</a:t>
            </a:r>
            <a:endParaRPr lang="en-US" sz="1450" dirty="0"/>
          </a:p>
        </p:txBody>
      </p:sp>
      <p:sp>
        <p:nvSpPr>
          <p:cNvPr id="8" name="Text 5"/>
          <p:cNvSpPr/>
          <p:nvPr/>
        </p:nvSpPr>
        <p:spPr>
          <a:xfrm>
            <a:off x="1280160" y="2441448"/>
            <a:ext cx="5303520" cy="457200"/>
          </a:xfrm>
          <a:prstGeom prst="rect">
            <a:avLst/>
          </a:prstGeom>
          <a:noFill/>
          <a:ln/>
        </p:spPr>
        <p:txBody>
          <a:bodyPr wrap="square" lIns="0" tIns="0" rIns="0" bIns="0" rtlCol="0" anchor="ctr"/>
          <a:lstStyle/>
          <a:p>
            <a:pPr indent="0" marL="0">
              <a:buNone/>
            </a:pPr>
            <a:r>
              <a:rPr lang="en-US" sz="1150" dirty="0">
                <a:solidFill>
                  <a:srgbClr val="9AA4C4"/>
                </a:solidFill>
                <a:latin typeface="Calibri" pitchFamily="34" charset="0"/>
                <a:ea typeface="Calibri" pitchFamily="34" charset="-122"/>
                <a:cs typeface="Calibri" pitchFamily="34" charset="-120"/>
              </a:rPr>
              <a:t>English, Hindi &amp; Telugu, script + romanized, auto-detected.</a:t>
            </a:r>
            <a:endParaRPr lang="en-US" sz="1150" dirty="0"/>
          </a:p>
        </p:txBody>
      </p:sp>
      <p:sp>
        <p:nvSpPr>
          <p:cNvPr id="9" name="Shape 6"/>
          <p:cNvSpPr/>
          <p:nvPr/>
        </p:nvSpPr>
        <p:spPr>
          <a:xfrm>
            <a:off x="640080" y="3081528"/>
            <a:ext cx="502920" cy="502920"/>
          </a:xfrm>
          <a:prstGeom prst="ellipse">
            <a:avLst/>
          </a:prstGeom>
          <a:solidFill>
            <a:srgbClr val="2A3459"/>
          </a:solidFill>
          <a:ln/>
        </p:spPr>
      </p:sp>
      <p:pic>
        <p:nvPicPr>
          <p:cNvPr id="10" name="Image 1" descr="preencoded.png">    </p:cNvPr>
          <p:cNvPicPr>
            <a:picLocks noChangeAspect="1"/>
          </p:cNvPicPr>
          <p:nvPr/>
        </p:nvPicPr>
        <p:blipFill>
          <a:blip r:embed="rId2"/>
          <a:stretch>
            <a:fillRect/>
          </a:stretch>
        </p:blipFill>
        <p:spPr>
          <a:xfrm>
            <a:off x="770839" y="3212287"/>
            <a:ext cx="241402" cy="241402"/>
          </a:xfrm>
          <a:prstGeom prst="rect">
            <a:avLst/>
          </a:prstGeom>
        </p:spPr>
      </p:pic>
      <p:sp>
        <p:nvSpPr>
          <p:cNvPr id="11" name="Text 7"/>
          <p:cNvSpPr/>
          <p:nvPr/>
        </p:nvSpPr>
        <p:spPr>
          <a:xfrm>
            <a:off x="1280160" y="3063240"/>
            <a:ext cx="5303520" cy="320040"/>
          </a:xfrm>
          <a:prstGeom prst="rect">
            <a:avLst/>
          </a:prstGeom>
          <a:noFill/>
          <a:ln/>
        </p:spPr>
        <p:txBody>
          <a:bodyPr wrap="square" lIns="0" tIns="0" rIns="0" bIns="0" rtlCol="0" anchor="ctr"/>
          <a:lstStyle/>
          <a:p>
            <a:pPr indent="0" marL="0">
              <a:buNone/>
            </a:pPr>
            <a:r>
              <a:rPr lang="en-US" sz="1450" b="1" dirty="0">
                <a:solidFill>
                  <a:srgbClr val="FFFFFF"/>
                </a:solidFill>
                <a:latin typeface="Calibri" pitchFamily="34" charset="0"/>
                <a:ea typeface="Calibri" pitchFamily="34" charset="-122"/>
                <a:cs typeface="Calibri" pitchFamily="34" charset="-120"/>
              </a:rPr>
              <a:t>Voice input</a:t>
            </a:r>
            <a:endParaRPr lang="en-US" sz="1450" dirty="0"/>
          </a:p>
        </p:txBody>
      </p:sp>
      <p:sp>
        <p:nvSpPr>
          <p:cNvPr id="12" name="Text 8"/>
          <p:cNvSpPr/>
          <p:nvPr/>
        </p:nvSpPr>
        <p:spPr>
          <a:xfrm>
            <a:off x="1280160" y="3374136"/>
            <a:ext cx="5303520" cy="457200"/>
          </a:xfrm>
          <a:prstGeom prst="rect">
            <a:avLst/>
          </a:prstGeom>
          <a:noFill/>
          <a:ln/>
        </p:spPr>
        <p:txBody>
          <a:bodyPr wrap="square" lIns="0" tIns="0" rIns="0" bIns="0" rtlCol="0" anchor="ctr"/>
          <a:lstStyle/>
          <a:p>
            <a:pPr indent="0" marL="0">
              <a:buNone/>
            </a:pPr>
            <a:r>
              <a:rPr lang="en-US" sz="1150" dirty="0">
                <a:solidFill>
                  <a:srgbClr val="9AA4C4"/>
                </a:solidFill>
                <a:latin typeface="Calibri" pitchFamily="34" charset="0"/>
                <a:ea typeface="Calibri" pitchFamily="34" charset="-122"/>
                <a:cs typeface="Calibri" pitchFamily="34" charset="-120"/>
              </a:rPr>
              <a:t>Web Speech API — free, no external service, works offline.</a:t>
            </a:r>
            <a:endParaRPr lang="en-US" sz="1150" dirty="0"/>
          </a:p>
        </p:txBody>
      </p:sp>
      <p:sp>
        <p:nvSpPr>
          <p:cNvPr id="13" name="Shape 9"/>
          <p:cNvSpPr/>
          <p:nvPr/>
        </p:nvSpPr>
        <p:spPr>
          <a:xfrm>
            <a:off x="640080" y="4014216"/>
            <a:ext cx="502920" cy="502920"/>
          </a:xfrm>
          <a:prstGeom prst="ellipse">
            <a:avLst/>
          </a:prstGeom>
          <a:solidFill>
            <a:srgbClr val="2A3459"/>
          </a:solidFill>
          <a:ln/>
        </p:spPr>
      </p:sp>
      <p:pic>
        <p:nvPicPr>
          <p:cNvPr id="14" name="Image 2" descr="preencoded.png">    </p:cNvPr>
          <p:cNvPicPr>
            <a:picLocks noChangeAspect="1"/>
          </p:cNvPicPr>
          <p:nvPr/>
        </p:nvPicPr>
        <p:blipFill>
          <a:blip r:embed="rId3"/>
          <a:stretch>
            <a:fillRect/>
          </a:stretch>
        </p:blipFill>
        <p:spPr>
          <a:xfrm>
            <a:off x="770839" y="4144975"/>
            <a:ext cx="241402" cy="241402"/>
          </a:xfrm>
          <a:prstGeom prst="rect">
            <a:avLst/>
          </a:prstGeom>
        </p:spPr>
      </p:pic>
      <p:sp>
        <p:nvSpPr>
          <p:cNvPr id="15" name="Text 10"/>
          <p:cNvSpPr/>
          <p:nvPr/>
        </p:nvSpPr>
        <p:spPr>
          <a:xfrm>
            <a:off x="1280160" y="3995928"/>
            <a:ext cx="5303520" cy="320040"/>
          </a:xfrm>
          <a:prstGeom prst="rect">
            <a:avLst/>
          </a:prstGeom>
          <a:noFill/>
          <a:ln/>
        </p:spPr>
        <p:txBody>
          <a:bodyPr wrap="square" lIns="0" tIns="0" rIns="0" bIns="0" rtlCol="0" anchor="ctr"/>
          <a:lstStyle/>
          <a:p>
            <a:pPr indent="0" marL="0">
              <a:buNone/>
            </a:pPr>
            <a:r>
              <a:rPr lang="en-US" sz="1450" b="1" dirty="0">
                <a:solidFill>
                  <a:srgbClr val="FFFFFF"/>
                </a:solidFill>
                <a:latin typeface="Calibri" pitchFamily="34" charset="0"/>
                <a:ea typeface="Calibri" pitchFamily="34" charset="-122"/>
                <a:cs typeface="Calibri" pitchFamily="34" charset="-120"/>
              </a:rPr>
              <a:t>Photo evidence</a:t>
            </a:r>
            <a:endParaRPr lang="en-US" sz="1450" dirty="0"/>
          </a:p>
        </p:txBody>
      </p:sp>
      <p:sp>
        <p:nvSpPr>
          <p:cNvPr id="16" name="Text 11"/>
          <p:cNvSpPr/>
          <p:nvPr/>
        </p:nvSpPr>
        <p:spPr>
          <a:xfrm>
            <a:off x="1280160" y="4306824"/>
            <a:ext cx="5303520" cy="457200"/>
          </a:xfrm>
          <a:prstGeom prst="rect">
            <a:avLst/>
          </a:prstGeom>
          <a:noFill/>
          <a:ln/>
        </p:spPr>
        <p:txBody>
          <a:bodyPr wrap="square" lIns="0" tIns="0" rIns="0" bIns="0" rtlCol="0" anchor="ctr"/>
          <a:lstStyle/>
          <a:p>
            <a:pPr indent="0" marL="0">
              <a:buNone/>
            </a:pPr>
            <a:r>
              <a:rPr lang="en-US" sz="1150" dirty="0">
                <a:solidFill>
                  <a:srgbClr val="9AA4C4"/>
                </a:solidFill>
                <a:latin typeface="Calibri" pitchFamily="34" charset="0"/>
                <a:ea typeface="Calibri" pitchFamily="34" charset="-122"/>
                <a:cs typeface="Calibri" pitchFamily="34" charset="-120"/>
              </a:rPr>
              <a:t>Attach a picture of the pothole, leak, or building damage.</a:t>
            </a:r>
            <a:endParaRPr lang="en-US" sz="1150" dirty="0"/>
          </a:p>
        </p:txBody>
      </p:sp>
      <p:sp>
        <p:nvSpPr>
          <p:cNvPr id="17" name="Shape 12"/>
          <p:cNvSpPr/>
          <p:nvPr/>
        </p:nvSpPr>
        <p:spPr>
          <a:xfrm>
            <a:off x="640080" y="4946904"/>
            <a:ext cx="502920" cy="502920"/>
          </a:xfrm>
          <a:prstGeom prst="ellipse">
            <a:avLst/>
          </a:prstGeom>
          <a:solidFill>
            <a:srgbClr val="2A3459"/>
          </a:solidFill>
          <a:ln/>
        </p:spPr>
      </p:sp>
      <p:pic>
        <p:nvPicPr>
          <p:cNvPr id="18" name="Image 3" descr="preencoded.png">    </p:cNvPr>
          <p:cNvPicPr>
            <a:picLocks noChangeAspect="1"/>
          </p:cNvPicPr>
          <p:nvPr/>
        </p:nvPicPr>
        <p:blipFill>
          <a:blip r:embed="rId4"/>
          <a:stretch>
            <a:fillRect/>
          </a:stretch>
        </p:blipFill>
        <p:spPr>
          <a:xfrm>
            <a:off x="770839" y="5077663"/>
            <a:ext cx="241402" cy="241402"/>
          </a:xfrm>
          <a:prstGeom prst="rect">
            <a:avLst/>
          </a:prstGeom>
        </p:spPr>
      </p:pic>
      <p:sp>
        <p:nvSpPr>
          <p:cNvPr id="19" name="Text 13"/>
          <p:cNvSpPr/>
          <p:nvPr/>
        </p:nvSpPr>
        <p:spPr>
          <a:xfrm>
            <a:off x="1280160" y="4928616"/>
            <a:ext cx="5303520" cy="320040"/>
          </a:xfrm>
          <a:prstGeom prst="rect">
            <a:avLst/>
          </a:prstGeom>
          <a:noFill/>
          <a:ln/>
        </p:spPr>
        <p:txBody>
          <a:bodyPr wrap="square" lIns="0" tIns="0" rIns="0" bIns="0" rtlCol="0" anchor="ctr"/>
          <a:lstStyle/>
          <a:p>
            <a:pPr indent="0" marL="0">
              <a:buNone/>
            </a:pPr>
            <a:r>
              <a:rPr lang="en-US" sz="1450" b="1" dirty="0">
                <a:solidFill>
                  <a:srgbClr val="FFFFFF"/>
                </a:solidFill>
                <a:latin typeface="Calibri" pitchFamily="34" charset="0"/>
                <a:ea typeface="Calibri" pitchFamily="34" charset="-122"/>
                <a:cs typeface="Calibri" pitchFamily="34" charset="-120"/>
              </a:rPr>
              <a:t>Ward tagging</a:t>
            </a:r>
            <a:endParaRPr lang="en-US" sz="1450" dirty="0"/>
          </a:p>
        </p:txBody>
      </p:sp>
      <p:sp>
        <p:nvSpPr>
          <p:cNvPr id="20" name="Text 14"/>
          <p:cNvSpPr/>
          <p:nvPr/>
        </p:nvSpPr>
        <p:spPr>
          <a:xfrm>
            <a:off x="1280160" y="5239512"/>
            <a:ext cx="5303520" cy="457200"/>
          </a:xfrm>
          <a:prstGeom prst="rect">
            <a:avLst/>
          </a:prstGeom>
          <a:noFill/>
          <a:ln/>
        </p:spPr>
        <p:txBody>
          <a:bodyPr wrap="square" lIns="0" tIns="0" rIns="0" bIns="0" rtlCol="0" anchor="ctr"/>
          <a:lstStyle/>
          <a:p>
            <a:pPr indent="0" marL="0">
              <a:buNone/>
            </a:pPr>
            <a:r>
              <a:rPr lang="en-US" sz="1150" dirty="0">
                <a:solidFill>
                  <a:srgbClr val="9AA4C4"/>
                </a:solidFill>
                <a:latin typeface="Calibri" pitchFamily="34" charset="0"/>
                <a:ea typeface="Calibri" pitchFamily="34" charset="-122"/>
                <a:cs typeface="Calibri" pitchFamily="34" charset="-120"/>
              </a:rPr>
              <a:t>Locality/ward selection grounds every request geographically.</a:t>
            </a:r>
            <a:endParaRPr lang="en-US" sz="1150" dirty="0"/>
          </a:p>
        </p:txBody>
      </p:sp>
      <p:sp>
        <p:nvSpPr>
          <p:cNvPr id="21" name="Shape 15"/>
          <p:cNvSpPr/>
          <p:nvPr/>
        </p:nvSpPr>
        <p:spPr>
          <a:xfrm>
            <a:off x="7040880" y="1417320"/>
            <a:ext cx="4572000" cy="5029200"/>
          </a:xfrm>
          <a:prstGeom prst="roundRect">
            <a:avLst>
              <a:gd name="adj" fmla="val 2400"/>
            </a:avLst>
          </a:prstGeom>
          <a:solidFill>
            <a:srgbClr val="FFFFFF"/>
          </a:solidFill>
          <a:ln/>
          <a:effectLst>
            <a:outerShdw sx="100000" sy="100000" kx="0" ky="0" algn="bl" rotWithShape="0" blurRad="101600" dist="38100" dir="5400000">
              <a:srgbClr val="000000">
                <a:alpha val="18000"/>
              </a:srgbClr>
            </a:outerShdw>
          </a:effectLst>
        </p:spPr>
      </p:sp>
      <p:sp>
        <p:nvSpPr>
          <p:cNvPr id="22" name="Text 16"/>
          <p:cNvSpPr/>
          <p:nvPr/>
        </p:nvSpPr>
        <p:spPr>
          <a:xfrm>
            <a:off x="7360920" y="1691640"/>
            <a:ext cx="3931920" cy="365760"/>
          </a:xfrm>
          <a:prstGeom prst="rect">
            <a:avLst/>
          </a:prstGeom>
          <a:noFill/>
          <a:ln/>
        </p:spPr>
        <p:txBody>
          <a:bodyPr wrap="square" lIns="0" tIns="0" rIns="0" bIns="0" rtlCol="0" anchor="ctr"/>
          <a:lstStyle/>
          <a:p>
            <a:pPr indent="0" marL="0">
              <a:buNone/>
            </a:pPr>
            <a:r>
              <a:rPr lang="en-US" sz="1400" b="1" dirty="0">
                <a:solidFill>
                  <a:srgbClr val="1B2340"/>
                </a:solidFill>
                <a:latin typeface="Calibri" pitchFamily="34" charset="0"/>
                <a:ea typeface="Calibri" pitchFamily="34" charset="-122"/>
                <a:cs typeface="Calibri" pitchFamily="34" charset="-120"/>
              </a:rPr>
              <a:t>Submit a development suggestion</a:t>
            </a:r>
            <a:endParaRPr lang="en-US" sz="1400" dirty="0"/>
          </a:p>
        </p:txBody>
      </p:sp>
      <p:sp>
        <p:nvSpPr>
          <p:cNvPr id="23" name="Shape 17"/>
          <p:cNvSpPr/>
          <p:nvPr/>
        </p:nvSpPr>
        <p:spPr>
          <a:xfrm>
            <a:off x="7360920" y="2194560"/>
            <a:ext cx="3931920" cy="411480"/>
          </a:xfrm>
          <a:prstGeom prst="roundRect">
            <a:avLst>
              <a:gd name="adj" fmla="val 13333"/>
            </a:avLst>
          </a:prstGeom>
          <a:solidFill>
            <a:srgbClr val="F2F0EA"/>
          </a:solidFill>
          <a:ln/>
        </p:spPr>
      </p:sp>
      <p:sp>
        <p:nvSpPr>
          <p:cNvPr id="24" name="Text 18"/>
          <p:cNvSpPr/>
          <p:nvPr/>
        </p:nvSpPr>
        <p:spPr>
          <a:xfrm>
            <a:off x="7498080" y="2194560"/>
            <a:ext cx="3657600" cy="411480"/>
          </a:xfrm>
          <a:prstGeom prst="rect">
            <a:avLst/>
          </a:prstGeom>
          <a:noFill/>
          <a:ln/>
        </p:spPr>
        <p:txBody>
          <a:bodyPr wrap="square" lIns="0" tIns="0" rIns="0" bIns="0" rtlCol="0" anchor="ctr"/>
          <a:lstStyle/>
          <a:p>
            <a:pPr indent="0" marL="0">
              <a:buNone/>
            </a:pPr>
            <a:r>
              <a:rPr lang="en-US" sz="1100" dirty="0">
                <a:solidFill>
                  <a:srgbClr val="5B6478"/>
                </a:solidFill>
                <a:latin typeface="Calibri" pitchFamily="34" charset="0"/>
                <a:ea typeface="Calibri" pitchFamily="34" charset="-122"/>
                <a:cs typeface="Calibri" pitchFamily="34" charset="-120"/>
              </a:rPr>
              <a:t>Ashok Nagar  ▾</a:t>
            </a:r>
            <a:endParaRPr lang="en-US" sz="1100" dirty="0"/>
          </a:p>
        </p:txBody>
      </p:sp>
      <p:sp>
        <p:nvSpPr>
          <p:cNvPr id="25" name="Shape 19"/>
          <p:cNvSpPr/>
          <p:nvPr/>
        </p:nvSpPr>
        <p:spPr>
          <a:xfrm>
            <a:off x="7360920" y="2743200"/>
            <a:ext cx="3931920" cy="1371600"/>
          </a:xfrm>
          <a:prstGeom prst="roundRect">
            <a:avLst>
              <a:gd name="adj" fmla="val 4000"/>
            </a:avLst>
          </a:prstGeom>
          <a:solidFill>
            <a:srgbClr val="F2F0EA"/>
          </a:solidFill>
          <a:ln/>
        </p:spPr>
      </p:sp>
      <p:sp>
        <p:nvSpPr>
          <p:cNvPr id="26" name="Text 20"/>
          <p:cNvSpPr/>
          <p:nvPr/>
        </p:nvSpPr>
        <p:spPr>
          <a:xfrm>
            <a:off x="7498080" y="2862072"/>
            <a:ext cx="3657600" cy="1143000"/>
          </a:xfrm>
          <a:prstGeom prst="rect">
            <a:avLst/>
          </a:prstGeom>
          <a:noFill/>
          <a:ln/>
        </p:spPr>
        <p:txBody>
          <a:bodyPr wrap="square" lIns="0" tIns="0" rIns="0" bIns="0" rtlCol="0" anchor="ctr"/>
          <a:lstStyle/>
          <a:p>
            <a:pPr indent="0" marL="0">
              <a:buNone/>
            </a:pPr>
            <a:r>
              <a:rPr lang="en-US" sz="1050" i="1" dirty="0">
                <a:solidFill>
                  <a:srgbClr val="6B6458"/>
                </a:solidFill>
                <a:latin typeface="Calibri" pitchFamily="34" charset="0"/>
                <a:ea typeface="Calibri" pitchFamily="34" charset="-122"/>
                <a:cs typeface="Calibri" pitchFamily="34" charset="-120"/>
              </a:rPr>
              <a:t>"Our school roof leaks during rains, no proper drinking water — please sanction urgent repairs."</a:t>
            </a:r>
            <a:endParaRPr lang="en-US" sz="1050" dirty="0"/>
          </a:p>
        </p:txBody>
      </p:sp>
      <p:sp>
        <p:nvSpPr>
          <p:cNvPr id="27" name="Shape 21"/>
          <p:cNvSpPr/>
          <p:nvPr/>
        </p:nvSpPr>
        <p:spPr>
          <a:xfrm>
            <a:off x="10698480" y="4251960"/>
            <a:ext cx="457200" cy="457200"/>
          </a:xfrm>
          <a:prstGeom prst="ellipse">
            <a:avLst/>
          </a:prstGeom>
          <a:solidFill>
            <a:srgbClr val="FDECEC"/>
          </a:solidFill>
          <a:ln/>
        </p:spPr>
      </p:sp>
      <p:pic>
        <p:nvPicPr>
          <p:cNvPr id="28" name="Image 4" descr="preencoded.png">    </p:cNvPr>
          <p:cNvPicPr>
            <a:picLocks noChangeAspect="1"/>
          </p:cNvPicPr>
          <p:nvPr/>
        </p:nvPicPr>
        <p:blipFill>
          <a:blip r:embed="rId5"/>
          <a:stretch>
            <a:fillRect/>
          </a:stretch>
        </p:blipFill>
        <p:spPr>
          <a:xfrm>
            <a:off x="10789920" y="4343400"/>
            <a:ext cx="274320" cy="274320"/>
          </a:xfrm>
          <a:prstGeom prst="rect">
            <a:avLst/>
          </a:prstGeom>
        </p:spPr>
      </p:pic>
      <p:sp>
        <p:nvSpPr>
          <p:cNvPr id="29" name="Shape 22"/>
          <p:cNvSpPr/>
          <p:nvPr/>
        </p:nvSpPr>
        <p:spPr>
          <a:xfrm>
            <a:off x="7360920" y="4937760"/>
            <a:ext cx="3931920" cy="457200"/>
          </a:xfrm>
          <a:prstGeom prst="roundRect">
            <a:avLst>
              <a:gd name="adj" fmla="val 12000"/>
            </a:avLst>
          </a:prstGeom>
          <a:solidFill>
            <a:srgbClr val="F2F0EA"/>
          </a:solidFill>
          <a:ln/>
        </p:spPr>
      </p:sp>
      <p:pic>
        <p:nvPicPr>
          <p:cNvPr id="30" name="Image 5" descr="preencoded.png">    </p:cNvPr>
          <p:cNvPicPr>
            <a:picLocks noChangeAspect="1"/>
          </p:cNvPicPr>
          <p:nvPr/>
        </p:nvPicPr>
        <p:blipFill>
          <a:blip r:embed="rId6"/>
          <a:stretch>
            <a:fillRect/>
          </a:stretch>
        </p:blipFill>
        <p:spPr>
          <a:xfrm>
            <a:off x="7498080" y="5047488"/>
            <a:ext cx="237744" cy="237744"/>
          </a:xfrm>
          <a:prstGeom prst="rect">
            <a:avLst/>
          </a:prstGeom>
        </p:spPr>
      </p:pic>
      <p:sp>
        <p:nvSpPr>
          <p:cNvPr id="31" name="Text 23"/>
          <p:cNvSpPr/>
          <p:nvPr/>
        </p:nvSpPr>
        <p:spPr>
          <a:xfrm>
            <a:off x="7818120" y="4937760"/>
            <a:ext cx="2743200" cy="457200"/>
          </a:xfrm>
          <a:prstGeom prst="rect">
            <a:avLst/>
          </a:prstGeom>
          <a:noFill/>
          <a:ln/>
        </p:spPr>
        <p:txBody>
          <a:bodyPr wrap="square" lIns="0" tIns="0" rIns="0" bIns="0" rtlCol="0" anchor="ctr"/>
          <a:lstStyle/>
          <a:p>
            <a:pPr indent="0" marL="0">
              <a:buNone/>
            </a:pPr>
            <a:r>
              <a:rPr lang="en-US" sz="1050" dirty="0">
                <a:solidFill>
                  <a:srgbClr val="5B6478"/>
                </a:solidFill>
                <a:latin typeface="Calibri" pitchFamily="34" charset="0"/>
                <a:ea typeface="Calibri" pitchFamily="34" charset="-122"/>
                <a:cs typeface="Calibri" pitchFamily="34" charset="-120"/>
              </a:rPr>
              <a:t>Attach a photo</a:t>
            </a:r>
            <a:endParaRPr lang="en-US" sz="1050" dirty="0"/>
          </a:p>
        </p:txBody>
      </p:sp>
      <p:sp>
        <p:nvSpPr>
          <p:cNvPr id="32" name="Shape 24"/>
          <p:cNvSpPr/>
          <p:nvPr/>
        </p:nvSpPr>
        <p:spPr>
          <a:xfrm>
            <a:off x="7360920" y="5577840"/>
            <a:ext cx="3931920" cy="502920"/>
          </a:xfrm>
          <a:prstGeom prst="roundRect">
            <a:avLst>
              <a:gd name="adj" fmla="val 14545"/>
            </a:avLst>
          </a:prstGeom>
          <a:solidFill>
            <a:srgbClr val="E8A33D"/>
          </a:solidFill>
          <a:ln/>
        </p:spPr>
      </p:sp>
      <p:sp>
        <p:nvSpPr>
          <p:cNvPr id="33" name="Text 25"/>
          <p:cNvSpPr/>
          <p:nvPr/>
        </p:nvSpPr>
        <p:spPr>
          <a:xfrm>
            <a:off x="7360920" y="5577840"/>
            <a:ext cx="3931920" cy="502920"/>
          </a:xfrm>
          <a:prstGeom prst="rect">
            <a:avLst/>
          </a:prstGeom>
          <a:noFill/>
          <a:ln/>
        </p:spPr>
        <p:txBody>
          <a:bodyPr wrap="square" lIns="0" tIns="0" rIns="0" bIns="0" rtlCol="0" anchor="ctr"/>
          <a:lstStyle/>
          <a:p>
            <a:pPr algn="ctr" indent="0" marL="0">
              <a:buNone/>
            </a:pPr>
            <a:r>
              <a:rPr lang="en-US" sz="1250" b="1" dirty="0">
                <a:solidFill>
                  <a:srgbClr val="1B2340"/>
                </a:solidFill>
                <a:latin typeface="Calibri" pitchFamily="34" charset="0"/>
                <a:ea typeface="Calibri" pitchFamily="34" charset="-122"/>
                <a:cs typeface="Calibri" pitchFamily="34" charset="-120"/>
              </a:rPr>
              <a:t>Submit suggestion</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5F0"/>
        </a:solidFill>
      </p:bgPr>
    </p:bg>
    <p:spTree>
      <p:nvGrpSpPr>
        <p:cNvPr id="1" name=""/>
        <p:cNvGrpSpPr/>
        <p:nvPr/>
      </p:nvGrpSpPr>
      <p:grpSpPr>
        <a:xfrm>
          <a:off x="0" y="0"/>
          <a:ext cx="0" cy="0"/>
          <a:chOff x="0" y="0"/>
          <a:chExt cx="0" cy="0"/>
        </a:xfrm>
      </p:grpSpPr>
      <p:sp>
        <p:nvSpPr>
          <p:cNvPr id="2" name="Text 0"/>
          <p:cNvSpPr/>
          <p:nvPr/>
        </p:nvSpPr>
        <p:spPr>
          <a:xfrm>
            <a:off x="640080" y="457200"/>
            <a:ext cx="5486400" cy="365760"/>
          </a:xfrm>
          <a:prstGeom prst="rect">
            <a:avLst/>
          </a:prstGeom>
          <a:noFill/>
          <a:ln/>
        </p:spPr>
        <p:txBody>
          <a:bodyPr wrap="square" lIns="0" tIns="0" rIns="0" bIns="0" rtlCol="0" anchor="ctr"/>
          <a:lstStyle/>
          <a:p>
            <a:pPr indent="0" marL="0">
              <a:buNone/>
            </a:pPr>
            <a:r>
              <a:rPr lang="en-US" sz="1300" b="1" spc="200" kern="0" dirty="0">
                <a:solidFill>
                  <a:srgbClr val="C97E1E"/>
                </a:solidFill>
                <a:latin typeface="Calibri" pitchFamily="34" charset="0"/>
                <a:ea typeface="Calibri" pitchFamily="34" charset="-122"/>
                <a:cs typeface="Calibri" pitchFamily="34" charset="-120"/>
              </a:rPr>
              <a:t>FEATURE 02</a:t>
            </a:r>
            <a:endParaRPr lang="en-US" sz="1300" dirty="0"/>
          </a:p>
        </p:txBody>
      </p:sp>
      <p:sp>
        <p:nvSpPr>
          <p:cNvPr id="3" name="Text 1"/>
          <p:cNvSpPr/>
          <p:nvPr/>
        </p:nvSpPr>
        <p:spPr>
          <a:xfrm>
            <a:off x="640080" y="777240"/>
            <a:ext cx="7315200" cy="640080"/>
          </a:xfrm>
          <a:prstGeom prst="rect">
            <a:avLst/>
          </a:prstGeom>
          <a:noFill/>
          <a:ln/>
        </p:spPr>
        <p:txBody>
          <a:bodyPr wrap="square" lIns="0" tIns="0" rIns="0" bIns="0" rtlCol="0" anchor="ctr"/>
          <a:lstStyle/>
          <a:p>
            <a:pPr indent="0" marL="0">
              <a:buNone/>
            </a:pPr>
            <a:r>
              <a:rPr lang="en-US" sz="3000" b="1" dirty="0">
                <a:solidFill>
                  <a:srgbClr val="1B2340"/>
                </a:solidFill>
                <a:latin typeface="Cambria" pitchFamily="34" charset="0"/>
                <a:ea typeface="Cambria" pitchFamily="34" charset="-122"/>
                <a:cs typeface="Cambria" pitchFamily="34" charset="-120"/>
              </a:rPr>
              <a:t>AI Analysis Engine</a:t>
            </a:r>
            <a:endParaRPr lang="en-US" sz="3000" dirty="0"/>
          </a:p>
        </p:txBody>
      </p:sp>
      <p:sp>
        <p:nvSpPr>
          <p:cNvPr id="4" name="Text 2"/>
          <p:cNvSpPr/>
          <p:nvPr/>
        </p:nvSpPr>
        <p:spPr>
          <a:xfrm>
            <a:off x="640080" y="1371600"/>
            <a:ext cx="9144000" cy="457200"/>
          </a:xfrm>
          <a:prstGeom prst="rect">
            <a:avLst/>
          </a:prstGeom>
          <a:noFill/>
          <a:ln/>
        </p:spPr>
        <p:txBody>
          <a:bodyPr wrap="square" lIns="0" tIns="0" rIns="0" bIns="0" rtlCol="0" anchor="ctr"/>
          <a:lstStyle/>
          <a:p>
            <a:pPr indent="0" marL="0">
              <a:buNone/>
            </a:pPr>
            <a:r>
              <a:rPr lang="en-US" sz="1450" dirty="0">
                <a:solidFill>
                  <a:srgbClr val="5B6478"/>
                </a:solidFill>
                <a:latin typeface="Calibri" pitchFamily="34" charset="0"/>
                <a:ea typeface="Calibri" pitchFamily="34" charset="-122"/>
                <a:cs typeface="Calibri" pitchFamily="34" charset="-120"/>
              </a:rPr>
              <a:t>Every submission is automatically understood — not just stored.</a:t>
            </a:r>
            <a:endParaRPr lang="en-US" sz="1450" dirty="0"/>
          </a:p>
        </p:txBody>
      </p:sp>
      <p:sp>
        <p:nvSpPr>
          <p:cNvPr id="5" name="Shape 3"/>
          <p:cNvSpPr/>
          <p:nvPr/>
        </p:nvSpPr>
        <p:spPr>
          <a:xfrm>
            <a:off x="640080" y="2011680"/>
            <a:ext cx="1956816" cy="1234440"/>
          </a:xfrm>
          <a:prstGeom prst="roundRect">
            <a:avLst>
              <a:gd name="adj" fmla="val 6667"/>
            </a:avLst>
          </a:prstGeom>
          <a:solidFill>
            <a:srgbClr val="FFFFFF"/>
          </a:solidFill>
          <a:ln/>
          <a:effectLst>
            <a:outerShdw sx="100000" sy="100000" kx="0" ky="0" algn="bl" rotWithShape="0" blurRad="76200" dist="25400" dir="5400000">
              <a:srgbClr val="000000">
                <a:alpha val="10000"/>
              </a:srgbClr>
            </a:outerShdw>
          </a:effectLst>
        </p:spPr>
      </p:sp>
      <p:sp>
        <p:nvSpPr>
          <p:cNvPr id="6" name="Shape 4"/>
          <p:cNvSpPr/>
          <p:nvPr/>
        </p:nvSpPr>
        <p:spPr>
          <a:xfrm>
            <a:off x="1389888" y="2176272"/>
            <a:ext cx="457200" cy="457200"/>
          </a:xfrm>
          <a:prstGeom prst="ellipse">
            <a:avLst/>
          </a:prstGeom>
          <a:solidFill>
            <a:srgbClr val="FBEBD2"/>
          </a:solidFill>
          <a:ln/>
        </p:spPr>
      </p:sp>
      <p:pic>
        <p:nvPicPr>
          <p:cNvPr id="7" name="Image 0" descr="preencoded.png">    </p:cNvPr>
          <p:cNvPicPr>
            <a:picLocks noChangeAspect="1"/>
          </p:cNvPicPr>
          <p:nvPr/>
        </p:nvPicPr>
        <p:blipFill>
          <a:blip r:embed="rId1"/>
          <a:stretch>
            <a:fillRect/>
          </a:stretch>
        </p:blipFill>
        <p:spPr>
          <a:xfrm>
            <a:off x="1508760" y="2295144"/>
            <a:ext cx="219456" cy="219456"/>
          </a:xfrm>
          <a:prstGeom prst="rect">
            <a:avLst/>
          </a:prstGeom>
        </p:spPr>
      </p:pic>
      <p:sp>
        <p:nvSpPr>
          <p:cNvPr id="8" name="Text 5"/>
          <p:cNvSpPr/>
          <p:nvPr/>
        </p:nvSpPr>
        <p:spPr>
          <a:xfrm>
            <a:off x="713232" y="2697480"/>
            <a:ext cx="1810512" cy="457200"/>
          </a:xfrm>
          <a:prstGeom prst="rect">
            <a:avLst/>
          </a:prstGeom>
          <a:noFill/>
          <a:ln/>
        </p:spPr>
        <p:txBody>
          <a:bodyPr wrap="square" lIns="0" tIns="0" rIns="0" bIns="0" rtlCol="0" anchor="ctr"/>
          <a:lstStyle/>
          <a:p>
            <a:pPr algn="ctr" indent="0" marL="0">
              <a:buNone/>
            </a:pPr>
            <a:r>
              <a:rPr lang="en-US" sz="1050" b="1" dirty="0">
                <a:solidFill>
                  <a:srgbClr val="1B2340"/>
                </a:solidFill>
                <a:latin typeface="Calibri" pitchFamily="34" charset="0"/>
                <a:ea typeface="Calibri" pitchFamily="34" charset="-122"/>
                <a:cs typeface="Calibri" pitchFamily="34" charset="-120"/>
              </a:rPr>
              <a:t>Language detect</a:t>
            </a:r>
            <a:endParaRPr lang="en-US" sz="1050" dirty="0"/>
          </a:p>
        </p:txBody>
      </p:sp>
      <p:sp>
        <p:nvSpPr>
          <p:cNvPr id="9" name="Text 6"/>
          <p:cNvSpPr/>
          <p:nvPr/>
        </p:nvSpPr>
        <p:spPr>
          <a:xfrm>
            <a:off x="2578608" y="2423160"/>
            <a:ext cx="274320" cy="365760"/>
          </a:xfrm>
          <a:prstGeom prst="rect">
            <a:avLst/>
          </a:prstGeom>
          <a:noFill/>
          <a:ln/>
        </p:spPr>
        <p:txBody>
          <a:bodyPr wrap="square" lIns="0" tIns="0" rIns="0" bIns="0" rtlCol="0" anchor="ctr"/>
          <a:lstStyle/>
          <a:p>
            <a:pPr algn="ctr" indent="0" marL="0">
              <a:buNone/>
            </a:pPr>
            <a:r>
              <a:rPr lang="en-US" sz="1600" dirty="0">
                <a:solidFill>
                  <a:srgbClr val="6B7A99"/>
                </a:solidFill>
                <a:latin typeface="Arial" pitchFamily="34" charset="0"/>
                <a:ea typeface="Arial" pitchFamily="34" charset="-122"/>
                <a:cs typeface="Arial" pitchFamily="34" charset="-120"/>
              </a:rPr>
              <a:t>→</a:t>
            </a:r>
            <a:endParaRPr lang="en-US" sz="1600" dirty="0"/>
          </a:p>
        </p:txBody>
      </p:sp>
      <p:sp>
        <p:nvSpPr>
          <p:cNvPr id="10" name="Shape 7"/>
          <p:cNvSpPr/>
          <p:nvPr/>
        </p:nvSpPr>
        <p:spPr>
          <a:xfrm>
            <a:off x="2688336" y="2011680"/>
            <a:ext cx="1956816" cy="1234440"/>
          </a:xfrm>
          <a:prstGeom prst="roundRect">
            <a:avLst>
              <a:gd name="adj" fmla="val 6667"/>
            </a:avLst>
          </a:prstGeom>
          <a:solidFill>
            <a:srgbClr val="FFFFFF"/>
          </a:solidFill>
          <a:ln/>
          <a:effectLst>
            <a:outerShdw sx="100000" sy="100000" kx="0" ky="0" algn="bl" rotWithShape="0" blurRad="76200" dist="25400" dir="5400000">
              <a:srgbClr val="000000">
                <a:alpha val="10000"/>
              </a:srgbClr>
            </a:outerShdw>
          </a:effectLst>
        </p:spPr>
      </p:sp>
      <p:sp>
        <p:nvSpPr>
          <p:cNvPr id="11" name="Shape 8"/>
          <p:cNvSpPr/>
          <p:nvPr/>
        </p:nvSpPr>
        <p:spPr>
          <a:xfrm>
            <a:off x="3438144" y="2176272"/>
            <a:ext cx="457200" cy="457200"/>
          </a:xfrm>
          <a:prstGeom prst="ellipse">
            <a:avLst/>
          </a:prstGeom>
          <a:solidFill>
            <a:srgbClr val="FBEBD2"/>
          </a:solidFill>
          <a:ln/>
        </p:spPr>
      </p:sp>
      <p:pic>
        <p:nvPicPr>
          <p:cNvPr id="12" name="Image 1" descr="preencoded.png">    </p:cNvPr>
          <p:cNvPicPr>
            <a:picLocks noChangeAspect="1"/>
          </p:cNvPicPr>
          <p:nvPr/>
        </p:nvPicPr>
        <p:blipFill>
          <a:blip r:embed="rId2"/>
          <a:stretch>
            <a:fillRect/>
          </a:stretch>
        </p:blipFill>
        <p:spPr>
          <a:xfrm>
            <a:off x="3557016" y="2295144"/>
            <a:ext cx="219456" cy="219456"/>
          </a:xfrm>
          <a:prstGeom prst="rect">
            <a:avLst/>
          </a:prstGeom>
        </p:spPr>
      </p:pic>
      <p:sp>
        <p:nvSpPr>
          <p:cNvPr id="13" name="Text 9"/>
          <p:cNvSpPr/>
          <p:nvPr/>
        </p:nvSpPr>
        <p:spPr>
          <a:xfrm>
            <a:off x="2761488" y="2697480"/>
            <a:ext cx="1810512" cy="457200"/>
          </a:xfrm>
          <a:prstGeom prst="rect">
            <a:avLst/>
          </a:prstGeom>
          <a:noFill/>
          <a:ln/>
        </p:spPr>
        <p:txBody>
          <a:bodyPr wrap="square" lIns="0" tIns="0" rIns="0" bIns="0" rtlCol="0" anchor="ctr"/>
          <a:lstStyle/>
          <a:p>
            <a:pPr algn="ctr" indent="0" marL="0">
              <a:buNone/>
            </a:pPr>
            <a:r>
              <a:rPr lang="en-US" sz="1050" b="1" dirty="0">
                <a:solidFill>
                  <a:srgbClr val="1B2340"/>
                </a:solidFill>
                <a:latin typeface="Calibri" pitchFamily="34" charset="0"/>
                <a:ea typeface="Calibri" pitchFamily="34" charset="-122"/>
                <a:cs typeface="Calibri" pitchFamily="34" charset="-120"/>
              </a:rPr>
              <a:t>Classify category</a:t>
            </a:r>
            <a:endParaRPr lang="en-US" sz="1050" dirty="0"/>
          </a:p>
        </p:txBody>
      </p:sp>
      <p:sp>
        <p:nvSpPr>
          <p:cNvPr id="14" name="Text 10"/>
          <p:cNvSpPr/>
          <p:nvPr/>
        </p:nvSpPr>
        <p:spPr>
          <a:xfrm>
            <a:off x="4626864" y="2423160"/>
            <a:ext cx="274320" cy="365760"/>
          </a:xfrm>
          <a:prstGeom prst="rect">
            <a:avLst/>
          </a:prstGeom>
          <a:noFill/>
          <a:ln/>
        </p:spPr>
        <p:txBody>
          <a:bodyPr wrap="square" lIns="0" tIns="0" rIns="0" bIns="0" rtlCol="0" anchor="ctr"/>
          <a:lstStyle/>
          <a:p>
            <a:pPr algn="ctr" indent="0" marL="0">
              <a:buNone/>
            </a:pPr>
            <a:r>
              <a:rPr lang="en-US" sz="1600" dirty="0">
                <a:solidFill>
                  <a:srgbClr val="6B7A99"/>
                </a:solidFill>
                <a:latin typeface="Arial" pitchFamily="34" charset="0"/>
                <a:ea typeface="Arial" pitchFamily="34" charset="-122"/>
                <a:cs typeface="Arial" pitchFamily="34" charset="-120"/>
              </a:rPr>
              <a:t>→</a:t>
            </a:r>
            <a:endParaRPr lang="en-US" sz="1600" dirty="0"/>
          </a:p>
        </p:txBody>
      </p:sp>
      <p:sp>
        <p:nvSpPr>
          <p:cNvPr id="15" name="Shape 11"/>
          <p:cNvSpPr/>
          <p:nvPr/>
        </p:nvSpPr>
        <p:spPr>
          <a:xfrm>
            <a:off x="4736592" y="2011680"/>
            <a:ext cx="1956816" cy="1234440"/>
          </a:xfrm>
          <a:prstGeom prst="roundRect">
            <a:avLst>
              <a:gd name="adj" fmla="val 6667"/>
            </a:avLst>
          </a:prstGeom>
          <a:solidFill>
            <a:srgbClr val="FFFFFF"/>
          </a:solidFill>
          <a:ln/>
          <a:effectLst>
            <a:outerShdw sx="100000" sy="100000" kx="0" ky="0" algn="bl" rotWithShape="0" blurRad="76200" dist="25400" dir="5400000">
              <a:srgbClr val="000000">
                <a:alpha val="10000"/>
              </a:srgbClr>
            </a:outerShdw>
          </a:effectLst>
        </p:spPr>
      </p:sp>
      <p:sp>
        <p:nvSpPr>
          <p:cNvPr id="16" name="Shape 12"/>
          <p:cNvSpPr/>
          <p:nvPr/>
        </p:nvSpPr>
        <p:spPr>
          <a:xfrm>
            <a:off x="5486400" y="2176272"/>
            <a:ext cx="457200" cy="457200"/>
          </a:xfrm>
          <a:prstGeom prst="ellipse">
            <a:avLst/>
          </a:prstGeom>
          <a:solidFill>
            <a:srgbClr val="FBEBD2"/>
          </a:solidFill>
          <a:ln/>
        </p:spPr>
      </p:sp>
      <p:pic>
        <p:nvPicPr>
          <p:cNvPr id="17" name="Image 2" descr="preencoded.png">    </p:cNvPr>
          <p:cNvPicPr>
            <a:picLocks noChangeAspect="1"/>
          </p:cNvPicPr>
          <p:nvPr/>
        </p:nvPicPr>
        <p:blipFill>
          <a:blip r:embed="rId3"/>
          <a:stretch>
            <a:fillRect/>
          </a:stretch>
        </p:blipFill>
        <p:spPr>
          <a:xfrm>
            <a:off x="5605272" y="2295144"/>
            <a:ext cx="219456" cy="219456"/>
          </a:xfrm>
          <a:prstGeom prst="rect">
            <a:avLst/>
          </a:prstGeom>
        </p:spPr>
      </p:pic>
      <p:sp>
        <p:nvSpPr>
          <p:cNvPr id="18" name="Text 13"/>
          <p:cNvSpPr/>
          <p:nvPr/>
        </p:nvSpPr>
        <p:spPr>
          <a:xfrm>
            <a:off x="4809744" y="2697480"/>
            <a:ext cx="1810512" cy="457200"/>
          </a:xfrm>
          <a:prstGeom prst="rect">
            <a:avLst/>
          </a:prstGeom>
          <a:noFill/>
          <a:ln/>
        </p:spPr>
        <p:txBody>
          <a:bodyPr wrap="square" lIns="0" tIns="0" rIns="0" bIns="0" rtlCol="0" anchor="ctr"/>
          <a:lstStyle/>
          <a:p>
            <a:pPr algn="ctr" indent="0" marL="0">
              <a:buNone/>
            </a:pPr>
            <a:r>
              <a:rPr lang="en-US" sz="1050" b="1" dirty="0">
                <a:solidFill>
                  <a:srgbClr val="1B2340"/>
                </a:solidFill>
                <a:latin typeface="Calibri" pitchFamily="34" charset="0"/>
                <a:ea typeface="Calibri" pitchFamily="34" charset="-122"/>
                <a:cs typeface="Calibri" pitchFamily="34" charset="-120"/>
              </a:rPr>
              <a:t>Extract theme</a:t>
            </a:r>
            <a:endParaRPr lang="en-US" sz="1050" dirty="0"/>
          </a:p>
        </p:txBody>
      </p:sp>
      <p:sp>
        <p:nvSpPr>
          <p:cNvPr id="19" name="Text 14"/>
          <p:cNvSpPr/>
          <p:nvPr/>
        </p:nvSpPr>
        <p:spPr>
          <a:xfrm>
            <a:off x="6675120" y="2423160"/>
            <a:ext cx="274320" cy="365760"/>
          </a:xfrm>
          <a:prstGeom prst="rect">
            <a:avLst/>
          </a:prstGeom>
          <a:noFill/>
          <a:ln/>
        </p:spPr>
        <p:txBody>
          <a:bodyPr wrap="square" lIns="0" tIns="0" rIns="0" bIns="0" rtlCol="0" anchor="ctr"/>
          <a:lstStyle/>
          <a:p>
            <a:pPr algn="ctr" indent="0" marL="0">
              <a:buNone/>
            </a:pPr>
            <a:r>
              <a:rPr lang="en-US" sz="1600" dirty="0">
                <a:solidFill>
                  <a:srgbClr val="6B7A99"/>
                </a:solidFill>
                <a:latin typeface="Arial" pitchFamily="34" charset="0"/>
                <a:ea typeface="Arial" pitchFamily="34" charset="-122"/>
                <a:cs typeface="Arial" pitchFamily="34" charset="-120"/>
              </a:rPr>
              <a:t>→</a:t>
            </a:r>
            <a:endParaRPr lang="en-US" sz="1600" dirty="0"/>
          </a:p>
        </p:txBody>
      </p:sp>
      <p:sp>
        <p:nvSpPr>
          <p:cNvPr id="20" name="Shape 15"/>
          <p:cNvSpPr/>
          <p:nvPr/>
        </p:nvSpPr>
        <p:spPr>
          <a:xfrm>
            <a:off x="6784848" y="2011680"/>
            <a:ext cx="1956816" cy="1234440"/>
          </a:xfrm>
          <a:prstGeom prst="roundRect">
            <a:avLst>
              <a:gd name="adj" fmla="val 6667"/>
            </a:avLst>
          </a:prstGeom>
          <a:solidFill>
            <a:srgbClr val="FFFFFF"/>
          </a:solidFill>
          <a:ln/>
          <a:effectLst>
            <a:outerShdw sx="100000" sy="100000" kx="0" ky="0" algn="bl" rotWithShape="0" blurRad="76200" dist="25400" dir="5400000">
              <a:srgbClr val="000000">
                <a:alpha val="10000"/>
              </a:srgbClr>
            </a:outerShdw>
          </a:effectLst>
        </p:spPr>
      </p:sp>
      <p:sp>
        <p:nvSpPr>
          <p:cNvPr id="21" name="Shape 16"/>
          <p:cNvSpPr/>
          <p:nvPr/>
        </p:nvSpPr>
        <p:spPr>
          <a:xfrm>
            <a:off x="7534656" y="2176272"/>
            <a:ext cx="457200" cy="457200"/>
          </a:xfrm>
          <a:prstGeom prst="ellipse">
            <a:avLst/>
          </a:prstGeom>
          <a:solidFill>
            <a:srgbClr val="FBEBD2"/>
          </a:solidFill>
          <a:ln/>
        </p:spPr>
      </p:sp>
      <p:pic>
        <p:nvPicPr>
          <p:cNvPr id="22" name="Image 3" descr="preencoded.png">    </p:cNvPr>
          <p:cNvPicPr>
            <a:picLocks noChangeAspect="1"/>
          </p:cNvPicPr>
          <p:nvPr/>
        </p:nvPicPr>
        <p:blipFill>
          <a:blip r:embed="rId4"/>
          <a:stretch>
            <a:fillRect/>
          </a:stretch>
        </p:blipFill>
        <p:spPr>
          <a:xfrm>
            <a:off x="7653528" y="2295144"/>
            <a:ext cx="219456" cy="219456"/>
          </a:xfrm>
          <a:prstGeom prst="rect">
            <a:avLst/>
          </a:prstGeom>
        </p:spPr>
      </p:pic>
      <p:sp>
        <p:nvSpPr>
          <p:cNvPr id="23" name="Text 17"/>
          <p:cNvSpPr/>
          <p:nvPr/>
        </p:nvSpPr>
        <p:spPr>
          <a:xfrm>
            <a:off x="6858000" y="2697480"/>
            <a:ext cx="1810512" cy="457200"/>
          </a:xfrm>
          <a:prstGeom prst="rect">
            <a:avLst/>
          </a:prstGeom>
          <a:noFill/>
          <a:ln/>
        </p:spPr>
        <p:txBody>
          <a:bodyPr wrap="square" lIns="0" tIns="0" rIns="0" bIns="0" rtlCol="0" anchor="ctr"/>
          <a:lstStyle/>
          <a:p>
            <a:pPr algn="ctr" indent="0" marL="0">
              <a:buNone/>
            </a:pPr>
            <a:r>
              <a:rPr lang="en-US" sz="1050" b="1" dirty="0">
                <a:solidFill>
                  <a:srgbClr val="1B2340"/>
                </a:solidFill>
                <a:latin typeface="Calibri" pitchFamily="34" charset="0"/>
                <a:ea typeface="Calibri" pitchFamily="34" charset="-122"/>
                <a:cs typeface="Calibri" pitchFamily="34" charset="-120"/>
              </a:rPr>
              <a:t>Score urgency</a:t>
            </a:r>
            <a:endParaRPr lang="en-US" sz="1050" dirty="0"/>
          </a:p>
        </p:txBody>
      </p:sp>
      <p:sp>
        <p:nvSpPr>
          <p:cNvPr id="24" name="Text 18"/>
          <p:cNvSpPr/>
          <p:nvPr/>
        </p:nvSpPr>
        <p:spPr>
          <a:xfrm>
            <a:off x="8723376" y="2423160"/>
            <a:ext cx="274320" cy="365760"/>
          </a:xfrm>
          <a:prstGeom prst="rect">
            <a:avLst/>
          </a:prstGeom>
          <a:noFill/>
          <a:ln/>
        </p:spPr>
        <p:txBody>
          <a:bodyPr wrap="square" lIns="0" tIns="0" rIns="0" bIns="0" rtlCol="0" anchor="ctr"/>
          <a:lstStyle/>
          <a:p>
            <a:pPr algn="ctr" indent="0" marL="0">
              <a:buNone/>
            </a:pPr>
            <a:r>
              <a:rPr lang="en-US" sz="1600" dirty="0">
                <a:solidFill>
                  <a:srgbClr val="6B7A99"/>
                </a:solidFill>
                <a:latin typeface="Arial" pitchFamily="34" charset="0"/>
                <a:ea typeface="Arial" pitchFamily="34" charset="-122"/>
                <a:cs typeface="Arial" pitchFamily="34" charset="-120"/>
              </a:rPr>
              <a:t>→</a:t>
            </a:r>
            <a:endParaRPr lang="en-US" sz="1600" dirty="0"/>
          </a:p>
        </p:txBody>
      </p:sp>
      <p:sp>
        <p:nvSpPr>
          <p:cNvPr id="25" name="Shape 19"/>
          <p:cNvSpPr/>
          <p:nvPr/>
        </p:nvSpPr>
        <p:spPr>
          <a:xfrm>
            <a:off x="8833104" y="2011680"/>
            <a:ext cx="1956816" cy="1234440"/>
          </a:xfrm>
          <a:prstGeom prst="roundRect">
            <a:avLst>
              <a:gd name="adj" fmla="val 6667"/>
            </a:avLst>
          </a:prstGeom>
          <a:solidFill>
            <a:srgbClr val="FFFFFF"/>
          </a:solidFill>
          <a:ln/>
          <a:effectLst>
            <a:outerShdw sx="100000" sy="100000" kx="0" ky="0" algn="bl" rotWithShape="0" blurRad="76200" dist="25400" dir="5400000">
              <a:srgbClr val="000000">
                <a:alpha val="10000"/>
              </a:srgbClr>
            </a:outerShdw>
          </a:effectLst>
        </p:spPr>
      </p:sp>
      <p:sp>
        <p:nvSpPr>
          <p:cNvPr id="26" name="Shape 20"/>
          <p:cNvSpPr/>
          <p:nvPr/>
        </p:nvSpPr>
        <p:spPr>
          <a:xfrm>
            <a:off x="9582912" y="2176272"/>
            <a:ext cx="457200" cy="457200"/>
          </a:xfrm>
          <a:prstGeom prst="ellipse">
            <a:avLst/>
          </a:prstGeom>
          <a:solidFill>
            <a:srgbClr val="FBEBD2"/>
          </a:solidFill>
          <a:ln/>
        </p:spPr>
      </p:sp>
      <p:pic>
        <p:nvPicPr>
          <p:cNvPr id="27" name="Image 4" descr="preencoded.png">    </p:cNvPr>
          <p:cNvPicPr>
            <a:picLocks noChangeAspect="1"/>
          </p:cNvPicPr>
          <p:nvPr/>
        </p:nvPicPr>
        <p:blipFill>
          <a:blip r:embed="rId5"/>
          <a:stretch>
            <a:fillRect/>
          </a:stretch>
        </p:blipFill>
        <p:spPr>
          <a:xfrm>
            <a:off x="9701784" y="2295144"/>
            <a:ext cx="219456" cy="219456"/>
          </a:xfrm>
          <a:prstGeom prst="rect">
            <a:avLst/>
          </a:prstGeom>
        </p:spPr>
      </p:pic>
      <p:sp>
        <p:nvSpPr>
          <p:cNvPr id="28" name="Text 21"/>
          <p:cNvSpPr/>
          <p:nvPr/>
        </p:nvSpPr>
        <p:spPr>
          <a:xfrm>
            <a:off x="8906256" y="2697480"/>
            <a:ext cx="1810512" cy="457200"/>
          </a:xfrm>
          <a:prstGeom prst="rect">
            <a:avLst/>
          </a:prstGeom>
          <a:noFill/>
          <a:ln/>
        </p:spPr>
        <p:txBody>
          <a:bodyPr wrap="square" lIns="0" tIns="0" rIns="0" bIns="0" rtlCol="0" anchor="ctr"/>
          <a:lstStyle/>
          <a:p>
            <a:pPr algn="ctr" indent="0" marL="0">
              <a:buNone/>
            </a:pPr>
            <a:r>
              <a:rPr lang="en-US" sz="1050" b="1" dirty="0">
                <a:solidFill>
                  <a:srgbClr val="1B2340"/>
                </a:solidFill>
                <a:latin typeface="Calibri" pitchFamily="34" charset="0"/>
                <a:ea typeface="Calibri" pitchFamily="34" charset="-122"/>
                <a:cs typeface="Calibri" pitchFamily="34" charset="-120"/>
              </a:rPr>
              <a:t>Score sentiment</a:t>
            </a:r>
            <a:endParaRPr lang="en-US" sz="1050" dirty="0"/>
          </a:p>
        </p:txBody>
      </p:sp>
      <p:sp>
        <p:nvSpPr>
          <p:cNvPr id="29" name="Shape 22"/>
          <p:cNvSpPr/>
          <p:nvPr/>
        </p:nvSpPr>
        <p:spPr>
          <a:xfrm>
            <a:off x="640080" y="3566160"/>
            <a:ext cx="5257800" cy="2606040"/>
          </a:xfrm>
          <a:prstGeom prst="roundRect">
            <a:avLst>
              <a:gd name="adj" fmla="val 3509"/>
            </a:avLst>
          </a:prstGeom>
          <a:solidFill>
            <a:srgbClr val="1B2340"/>
          </a:solidFill>
          <a:ln/>
          <a:effectLst>
            <a:outerShdw sx="100000" sy="100000" kx="0" ky="0" algn="bl" rotWithShape="0" blurRad="76200" dist="25400" dir="5400000">
              <a:srgbClr val="000000">
                <a:alpha val="10000"/>
              </a:srgbClr>
            </a:outerShdw>
          </a:effectLst>
        </p:spPr>
      </p:sp>
      <p:sp>
        <p:nvSpPr>
          <p:cNvPr id="30" name="Text 23"/>
          <p:cNvSpPr/>
          <p:nvPr/>
        </p:nvSpPr>
        <p:spPr>
          <a:xfrm>
            <a:off x="914400" y="3749040"/>
            <a:ext cx="4572000" cy="320040"/>
          </a:xfrm>
          <a:prstGeom prst="rect">
            <a:avLst/>
          </a:prstGeom>
          <a:noFill/>
          <a:ln/>
        </p:spPr>
        <p:txBody>
          <a:bodyPr wrap="square" lIns="0" tIns="0" rIns="0" bIns="0" rtlCol="0" anchor="ctr"/>
          <a:lstStyle/>
          <a:p>
            <a:pPr indent="0" marL="0">
              <a:buNone/>
            </a:pPr>
            <a:r>
              <a:rPr lang="en-US" sz="1200" b="1" dirty="0">
                <a:solidFill>
                  <a:srgbClr val="E8A33D"/>
                </a:solidFill>
                <a:latin typeface="Calibri" pitchFamily="34" charset="0"/>
                <a:ea typeface="Calibri" pitchFamily="34" charset="-122"/>
                <a:cs typeface="Calibri" pitchFamily="34" charset="-120"/>
              </a:rPr>
              <a:t>PRIMARY: GROQ (Qwen3-32B)</a:t>
            </a:r>
            <a:endParaRPr lang="en-US" sz="1200" dirty="0"/>
          </a:p>
        </p:txBody>
      </p:sp>
      <p:sp>
        <p:nvSpPr>
          <p:cNvPr id="31" name="Text 24"/>
          <p:cNvSpPr/>
          <p:nvPr/>
        </p:nvSpPr>
        <p:spPr>
          <a:xfrm>
            <a:off x="914400" y="4114800"/>
            <a:ext cx="4709160" cy="960120"/>
          </a:xfrm>
          <a:prstGeom prst="rect">
            <a:avLst/>
          </a:prstGeom>
          <a:noFill/>
          <a:ln/>
        </p:spPr>
        <p:txBody>
          <a:bodyPr wrap="square" lIns="0" tIns="0" rIns="0" bIns="0" rtlCol="0" anchor="ctr"/>
          <a:lstStyle/>
          <a:p>
            <a:pPr indent="0" marL="0">
              <a:buNone/>
            </a:pPr>
            <a:r>
              <a:rPr lang="en-US" sz="1200" dirty="0">
                <a:solidFill>
                  <a:srgbClr val="CBD3E8"/>
                </a:solidFill>
                <a:latin typeface="Calibri" pitchFamily="34" charset="0"/>
                <a:ea typeface="Calibri" pitchFamily="34" charset="-122"/>
                <a:cs typeface="Calibri" pitchFamily="34" charset="-120"/>
              </a:rPr>
              <a:t>A single structured LLM call returns category, theme, keywords, urgency, sentiment &amp; an English translation — for text in English, Hindi, or Telugu.</a:t>
            </a:r>
            <a:endParaRPr lang="en-US" sz="1200" dirty="0"/>
          </a:p>
        </p:txBody>
      </p:sp>
      <p:sp>
        <p:nvSpPr>
          <p:cNvPr id="32" name="Text 25"/>
          <p:cNvSpPr/>
          <p:nvPr/>
        </p:nvSpPr>
        <p:spPr>
          <a:xfrm>
            <a:off x="914400" y="5166360"/>
            <a:ext cx="4572000" cy="320040"/>
          </a:xfrm>
          <a:prstGeom prst="rect">
            <a:avLst/>
          </a:prstGeom>
          <a:noFill/>
          <a:ln/>
        </p:spPr>
        <p:txBody>
          <a:bodyPr wrap="square" lIns="0" tIns="0" rIns="0" bIns="0" rtlCol="0" anchor="ctr"/>
          <a:lstStyle/>
          <a:p>
            <a:pPr indent="0" marL="0">
              <a:buNone/>
            </a:pPr>
            <a:r>
              <a:rPr lang="en-US" sz="1200" b="1" dirty="0">
                <a:solidFill>
                  <a:srgbClr val="8FE3C0"/>
                </a:solidFill>
                <a:latin typeface="Calibri" pitchFamily="34" charset="0"/>
                <a:ea typeface="Calibri" pitchFamily="34" charset="-122"/>
                <a:cs typeface="Calibri" pitchFamily="34" charset="-120"/>
              </a:rPr>
              <a:t>FALLBACK: rule-based multilingual engine</a:t>
            </a:r>
            <a:endParaRPr lang="en-US" sz="1200" dirty="0"/>
          </a:p>
        </p:txBody>
      </p:sp>
      <p:sp>
        <p:nvSpPr>
          <p:cNvPr id="33" name="Text 26"/>
          <p:cNvSpPr/>
          <p:nvPr/>
        </p:nvSpPr>
        <p:spPr>
          <a:xfrm>
            <a:off x="914400" y="5486400"/>
            <a:ext cx="4709160" cy="640080"/>
          </a:xfrm>
          <a:prstGeom prst="rect">
            <a:avLst/>
          </a:prstGeom>
          <a:noFill/>
          <a:ln/>
        </p:spPr>
        <p:txBody>
          <a:bodyPr wrap="square" lIns="0" tIns="0" rIns="0" bIns="0" rtlCol="0" anchor="ctr"/>
          <a:lstStyle/>
          <a:p>
            <a:pPr indent="0" marL="0">
              <a:buNone/>
            </a:pPr>
            <a:r>
              <a:rPr lang="en-US" sz="1200" dirty="0">
                <a:solidFill>
                  <a:srgbClr val="CBD3E8"/>
                </a:solidFill>
                <a:latin typeface="Calibri" pitchFamily="34" charset="0"/>
                <a:ea typeface="Calibri" pitchFamily="34" charset="-122"/>
                <a:cs typeface="Calibri" pitchFamily="34" charset="-120"/>
              </a:rPr>
              <a:t>Zero-cost keyword matching across 3 scripts — the app works fully offline with no API key.</a:t>
            </a:r>
            <a:endParaRPr lang="en-US" sz="1200" dirty="0"/>
          </a:p>
        </p:txBody>
      </p:sp>
      <p:sp>
        <p:nvSpPr>
          <p:cNvPr id="34" name="Shape 27"/>
          <p:cNvSpPr/>
          <p:nvPr/>
        </p:nvSpPr>
        <p:spPr>
          <a:xfrm>
            <a:off x="6172200" y="3566160"/>
            <a:ext cx="5349240" cy="2606040"/>
          </a:xfrm>
          <a:prstGeom prst="roundRect">
            <a:avLst>
              <a:gd name="adj" fmla="val 3509"/>
            </a:avLst>
          </a:prstGeom>
          <a:solidFill>
            <a:srgbClr val="FFFFFF"/>
          </a:solidFill>
          <a:ln/>
          <a:effectLst>
            <a:outerShdw sx="100000" sy="100000" kx="0" ky="0" algn="bl" rotWithShape="0" blurRad="76200" dist="25400" dir="5400000">
              <a:srgbClr val="000000">
                <a:alpha val="10000"/>
              </a:srgbClr>
            </a:outerShdw>
          </a:effectLst>
        </p:spPr>
      </p:sp>
      <p:sp>
        <p:nvSpPr>
          <p:cNvPr id="35" name="Text 28"/>
          <p:cNvSpPr/>
          <p:nvPr/>
        </p:nvSpPr>
        <p:spPr>
          <a:xfrm>
            <a:off x="6446520" y="3749040"/>
            <a:ext cx="4846320" cy="320040"/>
          </a:xfrm>
          <a:prstGeom prst="rect">
            <a:avLst/>
          </a:prstGeom>
          <a:noFill/>
          <a:ln/>
        </p:spPr>
        <p:txBody>
          <a:bodyPr wrap="square" lIns="0" tIns="0" rIns="0" bIns="0" rtlCol="0" anchor="ctr"/>
          <a:lstStyle/>
          <a:p>
            <a:pPr indent="0" marL="0">
              <a:buNone/>
            </a:pPr>
            <a:r>
              <a:rPr lang="en-US" sz="1200" b="1" dirty="0">
                <a:solidFill>
                  <a:srgbClr val="C97E1E"/>
                </a:solidFill>
                <a:latin typeface="Calibri" pitchFamily="34" charset="0"/>
                <a:ea typeface="Calibri" pitchFamily="34" charset="-122"/>
                <a:cs typeface="Calibri" pitchFamily="34" charset="-120"/>
              </a:rPr>
              <a:t>EXAMPLE SUBMISSION → OUTPUT</a:t>
            </a:r>
            <a:endParaRPr lang="en-US" sz="1200" dirty="0"/>
          </a:p>
        </p:txBody>
      </p:sp>
      <p:sp>
        <p:nvSpPr>
          <p:cNvPr id="36" name="Text 29"/>
          <p:cNvSpPr/>
          <p:nvPr/>
        </p:nvSpPr>
        <p:spPr>
          <a:xfrm>
            <a:off x="6446520" y="4114800"/>
            <a:ext cx="4846320" cy="548640"/>
          </a:xfrm>
          <a:prstGeom prst="rect">
            <a:avLst/>
          </a:prstGeom>
          <a:noFill/>
          <a:ln/>
        </p:spPr>
        <p:txBody>
          <a:bodyPr wrap="square" lIns="0" tIns="0" rIns="0" bIns="0" rtlCol="0" anchor="ctr"/>
          <a:lstStyle/>
          <a:p>
            <a:pPr indent="0" marL="0">
              <a:buNone/>
            </a:pPr>
            <a:r>
              <a:rPr lang="en-US" sz="1150" i="1" dirty="0">
                <a:solidFill>
                  <a:srgbClr val="6B6458"/>
                </a:solidFill>
                <a:latin typeface="Calibri" pitchFamily="34" charset="0"/>
                <a:ea typeface="Calibri" pitchFamily="34" charset="-122"/>
                <a:cs typeface="Calibri" pitchFamily="34" charset="-120"/>
              </a:rPr>
              <a:t>"Our school roof leaks, no drinking water — urgent, this is an emergency."</a:t>
            </a:r>
            <a:endParaRPr lang="en-US" sz="1150" dirty="0"/>
          </a:p>
        </p:txBody>
      </p:sp>
      <p:sp>
        <p:nvSpPr>
          <p:cNvPr id="37" name="Shape 30"/>
          <p:cNvSpPr/>
          <p:nvPr/>
        </p:nvSpPr>
        <p:spPr>
          <a:xfrm>
            <a:off x="6446520" y="4754880"/>
            <a:ext cx="930859" cy="365760"/>
          </a:xfrm>
          <a:prstGeom prst="roundRect">
            <a:avLst>
              <a:gd name="adj" fmla="val 50000"/>
            </a:avLst>
          </a:prstGeom>
          <a:solidFill>
            <a:srgbClr val="FBEBD2"/>
          </a:solidFill>
          <a:ln/>
        </p:spPr>
      </p:sp>
      <p:sp>
        <p:nvSpPr>
          <p:cNvPr id="38" name="Text 31"/>
          <p:cNvSpPr/>
          <p:nvPr/>
        </p:nvSpPr>
        <p:spPr>
          <a:xfrm>
            <a:off x="6446520" y="4754880"/>
            <a:ext cx="930859" cy="365760"/>
          </a:xfrm>
          <a:prstGeom prst="rect">
            <a:avLst/>
          </a:prstGeom>
          <a:noFill/>
          <a:ln/>
        </p:spPr>
        <p:txBody>
          <a:bodyPr wrap="square" lIns="0" tIns="0" rIns="0" bIns="0" rtlCol="0" anchor="ctr"/>
          <a:lstStyle/>
          <a:p>
            <a:pPr algn="ctr" indent="0" marL="0">
              <a:buNone/>
            </a:pPr>
            <a:r>
              <a:rPr lang="en-US" sz="1000" b="1" dirty="0">
                <a:solidFill>
                  <a:srgbClr val="C97E1E"/>
                </a:solidFill>
                <a:latin typeface="Calibri" pitchFamily="34" charset="0"/>
                <a:ea typeface="Calibri" pitchFamily="34" charset="-122"/>
                <a:cs typeface="Calibri" pitchFamily="34" charset="-120"/>
              </a:rPr>
              <a:t>Education</a:t>
            </a:r>
            <a:endParaRPr lang="en-US" sz="1000" dirty="0"/>
          </a:p>
        </p:txBody>
      </p:sp>
      <p:sp>
        <p:nvSpPr>
          <p:cNvPr id="39" name="Shape 32"/>
          <p:cNvSpPr/>
          <p:nvPr/>
        </p:nvSpPr>
        <p:spPr>
          <a:xfrm>
            <a:off x="7514539" y="4754880"/>
            <a:ext cx="1080821" cy="365760"/>
          </a:xfrm>
          <a:prstGeom prst="roundRect">
            <a:avLst>
              <a:gd name="adj" fmla="val 50000"/>
            </a:avLst>
          </a:prstGeom>
          <a:solidFill>
            <a:srgbClr val="FDE2E2"/>
          </a:solidFill>
          <a:ln/>
        </p:spPr>
      </p:sp>
      <p:sp>
        <p:nvSpPr>
          <p:cNvPr id="40" name="Text 33"/>
          <p:cNvSpPr/>
          <p:nvPr/>
        </p:nvSpPr>
        <p:spPr>
          <a:xfrm>
            <a:off x="7514539" y="4754880"/>
            <a:ext cx="1080821" cy="365760"/>
          </a:xfrm>
          <a:prstGeom prst="rect">
            <a:avLst/>
          </a:prstGeom>
          <a:noFill/>
          <a:ln/>
        </p:spPr>
        <p:txBody>
          <a:bodyPr wrap="square" lIns="0" tIns="0" rIns="0" bIns="0" rtlCol="0" anchor="ctr"/>
          <a:lstStyle/>
          <a:p>
            <a:pPr algn="ctr" indent="0" marL="0">
              <a:buNone/>
            </a:pPr>
            <a:r>
              <a:rPr lang="en-US" sz="1000" b="1" dirty="0">
                <a:solidFill>
                  <a:srgbClr val="B23A3A"/>
                </a:solidFill>
                <a:latin typeface="Calibri" pitchFamily="34" charset="0"/>
                <a:ea typeface="Calibri" pitchFamily="34" charset="-122"/>
                <a:cs typeface="Calibri" pitchFamily="34" charset="-120"/>
              </a:rPr>
              <a:t>Urgency 5/5</a:t>
            </a:r>
            <a:endParaRPr lang="en-US" sz="1000" dirty="0"/>
          </a:p>
        </p:txBody>
      </p:sp>
      <p:sp>
        <p:nvSpPr>
          <p:cNvPr id="41" name="Shape 34"/>
          <p:cNvSpPr/>
          <p:nvPr/>
        </p:nvSpPr>
        <p:spPr>
          <a:xfrm>
            <a:off x="8732520" y="4754880"/>
            <a:ext cx="1305763" cy="365760"/>
          </a:xfrm>
          <a:prstGeom prst="roundRect">
            <a:avLst>
              <a:gd name="adj" fmla="val 50000"/>
            </a:avLst>
          </a:prstGeom>
          <a:solidFill>
            <a:srgbClr val="E7ECF9"/>
          </a:solidFill>
          <a:ln/>
        </p:spPr>
      </p:sp>
      <p:sp>
        <p:nvSpPr>
          <p:cNvPr id="42" name="Text 35"/>
          <p:cNvSpPr/>
          <p:nvPr/>
        </p:nvSpPr>
        <p:spPr>
          <a:xfrm>
            <a:off x="8732520" y="4754880"/>
            <a:ext cx="1305763" cy="365760"/>
          </a:xfrm>
          <a:prstGeom prst="rect">
            <a:avLst/>
          </a:prstGeom>
          <a:noFill/>
          <a:ln/>
        </p:spPr>
        <p:txBody>
          <a:bodyPr wrap="square" lIns="0" tIns="0" rIns="0" bIns="0" rtlCol="0" anchor="ctr"/>
          <a:lstStyle/>
          <a:p>
            <a:pPr algn="ctr" indent="0" marL="0">
              <a:buNone/>
            </a:pPr>
            <a:r>
              <a:rPr lang="en-US" sz="1000" b="1" dirty="0">
                <a:solidFill>
                  <a:srgbClr val="35508C"/>
                </a:solidFill>
                <a:latin typeface="Calibri" pitchFamily="34" charset="0"/>
                <a:ea typeface="Calibri" pitchFamily="34" charset="-122"/>
                <a:cs typeface="Calibri" pitchFamily="34" charset="-120"/>
              </a:rPr>
              <a:t>Sentiment −0.8</a:t>
            </a:r>
            <a:endParaRPr lang="en-US" sz="1000" dirty="0"/>
          </a:p>
        </p:txBody>
      </p:sp>
      <p:sp>
        <p:nvSpPr>
          <p:cNvPr id="43" name="Text 36"/>
          <p:cNvSpPr/>
          <p:nvPr/>
        </p:nvSpPr>
        <p:spPr>
          <a:xfrm>
            <a:off x="6446520" y="5303520"/>
            <a:ext cx="4846320" cy="365760"/>
          </a:xfrm>
          <a:prstGeom prst="rect">
            <a:avLst/>
          </a:prstGeom>
          <a:noFill/>
          <a:ln/>
        </p:spPr>
        <p:txBody>
          <a:bodyPr wrap="square" lIns="0" tIns="0" rIns="0" bIns="0" rtlCol="0" anchor="ctr"/>
          <a:lstStyle/>
          <a:p>
            <a:pPr indent="0" marL="0">
              <a:buNone/>
            </a:pPr>
            <a:r>
              <a:rPr lang="en-US" sz="1200" b="1" dirty="0">
                <a:solidFill>
                  <a:srgbClr val="1B2340"/>
                </a:solidFill>
                <a:latin typeface="Calibri" pitchFamily="34" charset="0"/>
                <a:ea typeface="Calibri" pitchFamily="34" charset="-122"/>
                <a:cs typeface="Calibri" pitchFamily="34" charset="-120"/>
              </a:rPr>
              <a:t>Theme: school-infrastructure-repairs</a:t>
            </a:r>
            <a:endParaRPr lang="en-US" sz="1200" dirty="0"/>
          </a:p>
        </p:txBody>
      </p:sp>
      <p:sp>
        <p:nvSpPr>
          <p:cNvPr id="44" name="Text 37"/>
          <p:cNvSpPr/>
          <p:nvPr/>
        </p:nvSpPr>
        <p:spPr>
          <a:xfrm>
            <a:off x="6446520" y="5623560"/>
            <a:ext cx="4846320" cy="457200"/>
          </a:xfrm>
          <a:prstGeom prst="rect">
            <a:avLst/>
          </a:prstGeom>
          <a:noFill/>
          <a:ln/>
        </p:spPr>
        <p:txBody>
          <a:bodyPr wrap="square" lIns="0" tIns="0" rIns="0" bIns="0" rtlCol="0" anchor="ctr"/>
          <a:lstStyle/>
          <a:p>
            <a:pPr indent="0" marL="0">
              <a:buNone/>
            </a:pPr>
            <a:r>
              <a:rPr lang="en-US" sz="1050" dirty="0">
                <a:solidFill>
                  <a:srgbClr val="5B6478"/>
                </a:solidFill>
                <a:latin typeface="Calibri" pitchFamily="34" charset="0"/>
                <a:ea typeface="Calibri" pitchFamily="34" charset="-122"/>
                <a:cs typeface="Calibri" pitchFamily="34" charset="-120"/>
              </a:rPr>
              <a:t>Keywords: roof-leak · drinking-water · urgent-repairs · emergency</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5F0"/>
        </a:solidFill>
      </p:bgPr>
    </p:bg>
    <p:spTree>
      <p:nvGrpSpPr>
        <p:cNvPr id="1" name=""/>
        <p:cNvGrpSpPr/>
        <p:nvPr/>
      </p:nvGrpSpPr>
      <p:grpSpPr>
        <a:xfrm>
          <a:off x="0" y="0"/>
          <a:ext cx="0" cy="0"/>
          <a:chOff x="0" y="0"/>
          <a:chExt cx="0" cy="0"/>
        </a:xfrm>
      </p:grpSpPr>
      <p:sp>
        <p:nvSpPr>
          <p:cNvPr id="2" name="Text 0"/>
          <p:cNvSpPr/>
          <p:nvPr/>
        </p:nvSpPr>
        <p:spPr>
          <a:xfrm>
            <a:off x="640080" y="457200"/>
            <a:ext cx="5486400" cy="365760"/>
          </a:xfrm>
          <a:prstGeom prst="rect">
            <a:avLst/>
          </a:prstGeom>
          <a:noFill/>
          <a:ln/>
        </p:spPr>
        <p:txBody>
          <a:bodyPr wrap="square" lIns="0" tIns="0" rIns="0" bIns="0" rtlCol="0" anchor="ctr"/>
          <a:lstStyle/>
          <a:p>
            <a:pPr indent="0" marL="0">
              <a:buNone/>
            </a:pPr>
            <a:r>
              <a:rPr lang="en-US" sz="1300" b="1" spc="200" kern="0" dirty="0">
                <a:solidFill>
                  <a:srgbClr val="C97E1E"/>
                </a:solidFill>
                <a:latin typeface="Calibri" pitchFamily="34" charset="0"/>
                <a:ea typeface="Calibri" pitchFamily="34" charset="-122"/>
                <a:cs typeface="Calibri" pitchFamily="34" charset="-120"/>
              </a:rPr>
              <a:t>FEATURE 03</a:t>
            </a:r>
            <a:endParaRPr lang="en-US" sz="1300" dirty="0"/>
          </a:p>
        </p:txBody>
      </p:sp>
      <p:sp>
        <p:nvSpPr>
          <p:cNvPr id="3" name="Text 1"/>
          <p:cNvSpPr/>
          <p:nvPr/>
        </p:nvSpPr>
        <p:spPr>
          <a:xfrm>
            <a:off x="640080" y="777240"/>
            <a:ext cx="10789920" cy="640080"/>
          </a:xfrm>
          <a:prstGeom prst="rect">
            <a:avLst/>
          </a:prstGeom>
          <a:noFill/>
          <a:ln/>
        </p:spPr>
        <p:txBody>
          <a:bodyPr wrap="square" lIns="0" tIns="0" rIns="0" bIns="0" rtlCol="0" anchor="ctr"/>
          <a:lstStyle/>
          <a:p>
            <a:pPr indent="0" marL="0">
              <a:buNone/>
            </a:pPr>
            <a:r>
              <a:rPr lang="en-US" sz="2800" b="1" dirty="0">
                <a:solidFill>
                  <a:srgbClr val="1B2340"/>
                </a:solidFill>
                <a:latin typeface="Cambria" pitchFamily="34" charset="0"/>
                <a:ea typeface="Cambria" pitchFamily="34" charset="-122"/>
                <a:cs typeface="Cambria" pitchFamily="34" charset="-120"/>
              </a:rPr>
              <a:t>MP Dashboard: see demand before you decide</a:t>
            </a:r>
            <a:endParaRPr lang="en-US" sz="2800" dirty="0"/>
          </a:p>
        </p:txBody>
      </p:sp>
      <p:sp>
        <p:nvSpPr>
          <p:cNvPr id="4" name="Shape 2"/>
          <p:cNvSpPr/>
          <p:nvPr/>
        </p:nvSpPr>
        <p:spPr>
          <a:xfrm>
            <a:off x="640080" y="1600200"/>
            <a:ext cx="5760720" cy="4572000"/>
          </a:xfrm>
          <a:prstGeom prst="roundRect">
            <a:avLst>
              <a:gd name="adj" fmla="val 2000"/>
            </a:avLst>
          </a:prstGeom>
          <a:solidFill>
            <a:srgbClr val="E4E7DC"/>
          </a:solidFill>
          <a:ln/>
          <a:effectLst>
            <a:outerShdw sx="100000" sy="100000" kx="0" ky="0" algn="bl" rotWithShape="0" blurRad="76200" dist="25400" dir="5400000">
              <a:srgbClr val="000000">
                <a:alpha val="10000"/>
              </a:srgbClr>
            </a:outerShdw>
          </a:effectLst>
        </p:spPr>
      </p:sp>
      <p:sp>
        <p:nvSpPr>
          <p:cNvPr id="5" name="Text 3"/>
          <p:cNvSpPr/>
          <p:nvPr/>
        </p:nvSpPr>
        <p:spPr>
          <a:xfrm>
            <a:off x="914400" y="1783080"/>
            <a:ext cx="3657600" cy="320040"/>
          </a:xfrm>
          <a:prstGeom prst="rect">
            <a:avLst/>
          </a:prstGeom>
          <a:noFill/>
          <a:ln/>
        </p:spPr>
        <p:txBody>
          <a:bodyPr wrap="square" lIns="0" tIns="0" rIns="0" bIns="0" rtlCol="0" anchor="ctr"/>
          <a:lstStyle/>
          <a:p>
            <a:pPr indent="0" marL="0">
              <a:buNone/>
            </a:pPr>
            <a:r>
              <a:rPr lang="en-US" sz="1150" b="1" spc="100" kern="0" dirty="0">
                <a:solidFill>
                  <a:srgbClr val="5B6478"/>
                </a:solidFill>
                <a:latin typeface="Calibri" pitchFamily="34" charset="0"/>
                <a:ea typeface="Calibri" pitchFamily="34" charset="-122"/>
                <a:cs typeface="Calibri" pitchFamily="34" charset="-120"/>
              </a:rPr>
              <a:t>DEMAND HOTSPOTS</a:t>
            </a:r>
            <a:endParaRPr lang="en-US" sz="1150" dirty="0"/>
          </a:p>
        </p:txBody>
      </p:sp>
      <p:sp>
        <p:nvSpPr>
          <p:cNvPr id="6" name="Shape 4"/>
          <p:cNvSpPr/>
          <p:nvPr/>
        </p:nvSpPr>
        <p:spPr>
          <a:xfrm>
            <a:off x="1097280" y="3886200"/>
            <a:ext cx="4846320" cy="-274320"/>
          </a:xfrm>
          <a:prstGeom prst="line">
            <a:avLst/>
          </a:prstGeom>
          <a:noFill/>
          <a:ln w="38100">
            <a:solidFill>
              <a:srgbClr val="C7CBBD"/>
            </a:solidFill>
            <a:prstDash val="solid"/>
          </a:ln>
        </p:spPr>
      </p:sp>
      <p:sp>
        <p:nvSpPr>
          <p:cNvPr id="7" name="Shape 5"/>
          <p:cNvSpPr/>
          <p:nvPr/>
        </p:nvSpPr>
        <p:spPr>
          <a:xfrm>
            <a:off x="2011680" y="2331720"/>
            <a:ext cx="457200" cy="3291840"/>
          </a:xfrm>
          <a:prstGeom prst="line">
            <a:avLst/>
          </a:prstGeom>
          <a:noFill/>
          <a:ln w="38100">
            <a:solidFill>
              <a:srgbClr val="C7CBBD"/>
            </a:solidFill>
            <a:prstDash val="solid"/>
          </a:ln>
        </p:spPr>
      </p:sp>
      <p:sp>
        <p:nvSpPr>
          <p:cNvPr id="8" name="Shape 6"/>
          <p:cNvSpPr/>
          <p:nvPr/>
        </p:nvSpPr>
        <p:spPr>
          <a:xfrm>
            <a:off x="3840480" y="2423160"/>
            <a:ext cx="914400" cy="3291840"/>
          </a:xfrm>
          <a:prstGeom prst="line">
            <a:avLst/>
          </a:prstGeom>
          <a:noFill/>
          <a:ln w="38100">
            <a:solidFill>
              <a:srgbClr val="C7CBBD"/>
            </a:solidFill>
            <a:prstDash val="solid"/>
          </a:ln>
        </p:spPr>
      </p:sp>
      <p:sp>
        <p:nvSpPr>
          <p:cNvPr id="9" name="Shape 7"/>
          <p:cNvSpPr/>
          <p:nvPr/>
        </p:nvSpPr>
        <p:spPr>
          <a:xfrm>
            <a:off x="2103120" y="3246120"/>
            <a:ext cx="502920" cy="502920"/>
          </a:xfrm>
          <a:prstGeom prst="ellipse">
            <a:avLst/>
          </a:prstGeom>
          <a:solidFill>
            <a:srgbClr val="E8A33D">
              <a:alpha val="85000"/>
            </a:srgbClr>
          </a:solidFill>
          <a:ln w="25400">
            <a:solidFill>
              <a:srgbClr val="FFFFFF"/>
            </a:solidFill>
            <a:prstDash val="solid"/>
          </a:ln>
        </p:spPr>
      </p:sp>
      <p:sp>
        <p:nvSpPr>
          <p:cNvPr id="10" name="Text 8"/>
          <p:cNvSpPr/>
          <p:nvPr/>
        </p:nvSpPr>
        <p:spPr>
          <a:xfrm>
            <a:off x="2103120" y="3246120"/>
            <a:ext cx="502920" cy="5029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12</a:t>
            </a:r>
            <a:endParaRPr lang="en-US" sz="1100" dirty="0"/>
          </a:p>
        </p:txBody>
      </p:sp>
      <p:sp>
        <p:nvSpPr>
          <p:cNvPr id="11" name="Shape 9"/>
          <p:cNvSpPr/>
          <p:nvPr/>
        </p:nvSpPr>
        <p:spPr>
          <a:xfrm>
            <a:off x="3566160" y="3977640"/>
            <a:ext cx="384048" cy="384048"/>
          </a:xfrm>
          <a:prstGeom prst="ellipse">
            <a:avLst/>
          </a:prstGeom>
          <a:solidFill>
            <a:srgbClr val="6B7A99">
              <a:alpha val="85000"/>
            </a:srgbClr>
          </a:solidFill>
          <a:ln w="25400">
            <a:solidFill>
              <a:srgbClr val="FFFFFF"/>
            </a:solidFill>
            <a:prstDash val="solid"/>
          </a:ln>
        </p:spPr>
      </p:sp>
      <p:sp>
        <p:nvSpPr>
          <p:cNvPr id="12" name="Text 10"/>
          <p:cNvSpPr/>
          <p:nvPr/>
        </p:nvSpPr>
        <p:spPr>
          <a:xfrm>
            <a:off x="3566160" y="3977640"/>
            <a:ext cx="3840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sp>
        <p:nvSpPr>
          <p:cNvPr id="13" name="Shape 11"/>
          <p:cNvSpPr/>
          <p:nvPr/>
        </p:nvSpPr>
        <p:spPr>
          <a:xfrm>
            <a:off x="4846320" y="2971800"/>
            <a:ext cx="310896" cy="310896"/>
          </a:xfrm>
          <a:prstGeom prst="ellipse">
            <a:avLst/>
          </a:prstGeom>
          <a:solidFill>
            <a:srgbClr val="8DA394">
              <a:alpha val="85000"/>
            </a:srgbClr>
          </a:solidFill>
          <a:ln w="25400">
            <a:solidFill>
              <a:srgbClr val="FFFFFF"/>
            </a:solidFill>
            <a:prstDash val="solid"/>
          </a:ln>
        </p:spPr>
      </p:sp>
      <p:sp>
        <p:nvSpPr>
          <p:cNvPr id="14" name="Text 12"/>
          <p:cNvSpPr/>
          <p:nvPr/>
        </p:nvSpPr>
        <p:spPr>
          <a:xfrm>
            <a:off x="4846320" y="2971800"/>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15" name="Shape 13"/>
          <p:cNvSpPr/>
          <p:nvPr/>
        </p:nvSpPr>
        <p:spPr>
          <a:xfrm>
            <a:off x="2834640" y="4983480"/>
            <a:ext cx="438912" cy="438912"/>
          </a:xfrm>
          <a:prstGeom prst="ellipse">
            <a:avLst/>
          </a:prstGeom>
          <a:solidFill>
            <a:srgbClr val="C97E1E">
              <a:alpha val="85000"/>
            </a:srgbClr>
          </a:solidFill>
          <a:ln w="25400">
            <a:solidFill>
              <a:srgbClr val="FFFFFF"/>
            </a:solidFill>
            <a:prstDash val="solid"/>
          </a:ln>
        </p:spPr>
      </p:sp>
      <p:sp>
        <p:nvSpPr>
          <p:cNvPr id="16" name="Text 14"/>
          <p:cNvSpPr/>
          <p:nvPr/>
        </p:nvSpPr>
        <p:spPr>
          <a:xfrm>
            <a:off x="2834640" y="4983480"/>
            <a:ext cx="438912" cy="43891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9</a:t>
            </a:r>
            <a:endParaRPr lang="en-US" sz="1100" dirty="0"/>
          </a:p>
        </p:txBody>
      </p:sp>
      <p:sp>
        <p:nvSpPr>
          <p:cNvPr id="17" name="Shape 15"/>
          <p:cNvSpPr/>
          <p:nvPr/>
        </p:nvSpPr>
        <p:spPr>
          <a:xfrm>
            <a:off x="5303520" y="5166360"/>
            <a:ext cx="274320" cy="274320"/>
          </a:xfrm>
          <a:prstGeom prst="ellipse">
            <a:avLst/>
          </a:prstGeom>
          <a:solidFill>
            <a:srgbClr val="6B7A99">
              <a:alpha val="85000"/>
            </a:srgbClr>
          </a:solidFill>
          <a:ln w="25400">
            <a:solidFill>
              <a:srgbClr val="FFFFFF"/>
            </a:solidFill>
            <a:prstDash val="solid"/>
          </a:ln>
        </p:spPr>
      </p:sp>
      <p:sp>
        <p:nvSpPr>
          <p:cNvPr id="18" name="Text 16"/>
          <p:cNvSpPr/>
          <p:nvPr/>
        </p:nvSpPr>
        <p:spPr>
          <a:xfrm>
            <a:off x="5303520" y="5166360"/>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19" name="Text 17"/>
          <p:cNvSpPr/>
          <p:nvPr/>
        </p:nvSpPr>
        <p:spPr>
          <a:xfrm>
            <a:off x="914400" y="5806440"/>
            <a:ext cx="5212080" cy="274320"/>
          </a:xfrm>
          <a:prstGeom prst="rect">
            <a:avLst/>
          </a:prstGeom>
          <a:noFill/>
          <a:ln/>
        </p:spPr>
        <p:txBody>
          <a:bodyPr wrap="square" lIns="0" tIns="0" rIns="0" bIns="0" rtlCol="0" anchor="ctr"/>
          <a:lstStyle/>
          <a:p>
            <a:pPr indent="0" marL="0">
              <a:buNone/>
            </a:pPr>
            <a:r>
              <a:rPr lang="en-US" sz="950" i="1" dirty="0">
                <a:solidFill>
                  <a:srgbClr val="5B6478"/>
                </a:solidFill>
                <a:latin typeface="Calibri" pitchFamily="34" charset="0"/>
                <a:ea typeface="Calibri" pitchFamily="34" charset="-122"/>
                <a:cs typeface="Calibri" pitchFamily="34" charset="-120"/>
              </a:rPr>
              <a:t>Circle size = submission volume · color = top category</a:t>
            </a:r>
            <a:endParaRPr lang="en-US" sz="950" dirty="0"/>
          </a:p>
        </p:txBody>
      </p:sp>
      <p:sp>
        <p:nvSpPr>
          <p:cNvPr id="20" name="Text 18"/>
          <p:cNvSpPr/>
          <p:nvPr/>
        </p:nvSpPr>
        <p:spPr>
          <a:xfrm>
            <a:off x="6675120" y="1600200"/>
            <a:ext cx="4846320" cy="457200"/>
          </a:xfrm>
          <a:prstGeom prst="rect">
            <a:avLst/>
          </a:prstGeom>
          <a:noFill/>
          <a:ln/>
        </p:spPr>
        <p:txBody>
          <a:bodyPr wrap="square" lIns="0" tIns="0" rIns="0" bIns="0" rtlCol="0" anchor="ctr"/>
          <a:lstStyle/>
          <a:p>
            <a:pPr indent="0" marL="0">
              <a:buNone/>
            </a:pPr>
            <a:r>
              <a:rPr lang="en-US" sz="1500" b="1" dirty="0">
                <a:solidFill>
                  <a:srgbClr val="1B2340"/>
                </a:solidFill>
                <a:latin typeface="Calibri" pitchFamily="34" charset="0"/>
                <a:ea typeface="Calibri" pitchFamily="34" charset="-122"/>
                <a:cs typeface="Calibri" pitchFamily="34" charset="-120"/>
              </a:rPr>
              <a:t>Recurring themes, not just raw complaints</a:t>
            </a:r>
            <a:endParaRPr lang="en-US" sz="1500" dirty="0"/>
          </a:p>
        </p:txBody>
      </p:sp>
      <p:sp>
        <p:nvSpPr>
          <p:cNvPr id="21" name="Text 19"/>
          <p:cNvSpPr/>
          <p:nvPr/>
        </p:nvSpPr>
        <p:spPr>
          <a:xfrm>
            <a:off x="6675120" y="2148840"/>
            <a:ext cx="3108960" cy="274320"/>
          </a:xfrm>
          <a:prstGeom prst="rect">
            <a:avLst/>
          </a:prstGeom>
          <a:noFill/>
          <a:ln/>
        </p:spPr>
        <p:txBody>
          <a:bodyPr wrap="square" lIns="0" tIns="0" rIns="0" bIns="0" rtlCol="0" anchor="ctr"/>
          <a:lstStyle/>
          <a:p>
            <a:pPr indent="0" marL="0">
              <a:buNone/>
            </a:pPr>
            <a:r>
              <a:rPr lang="en-US" sz="1100" dirty="0">
                <a:solidFill>
                  <a:srgbClr val="1B2340"/>
                </a:solidFill>
                <a:latin typeface="Calibri" pitchFamily="34" charset="0"/>
                <a:ea typeface="Calibri" pitchFamily="34" charset="-122"/>
                <a:cs typeface="Calibri" pitchFamily="34" charset="-120"/>
              </a:rPr>
              <a:t>Road pothole repair</a:t>
            </a:r>
            <a:endParaRPr lang="en-US" sz="1100" dirty="0"/>
          </a:p>
        </p:txBody>
      </p:sp>
      <p:sp>
        <p:nvSpPr>
          <p:cNvPr id="22" name="Shape 20"/>
          <p:cNvSpPr/>
          <p:nvPr/>
        </p:nvSpPr>
        <p:spPr>
          <a:xfrm>
            <a:off x="6675120" y="2441448"/>
            <a:ext cx="4846320" cy="201168"/>
          </a:xfrm>
          <a:prstGeom prst="roundRect">
            <a:avLst>
              <a:gd name="adj" fmla="val 13636"/>
            </a:avLst>
          </a:prstGeom>
          <a:solidFill>
            <a:srgbClr val="E4E1D6"/>
          </a:solidFill>
          <a:ln/>
        </p:spPr>
      </p:sp>
      <p:sp>
        <p:nvSpPr>
          <p:cNvPr id="23" name="Shape 21"/>
          <p:cNvSpPr/>
          <p:nvPr/>
        </p:nvSpPr>
        <p:spPr>
          <a:xfrm>
            <a:off x="6675120" y="2441448"/>
            <a:ext cx="4458614" cy="201168"/>
          </a:xfrm>
          <a:prstGeom prst="roundRect">
            <a:avLst>
              <a:gd name="adj" fmla="val 13636"/>
            </a:avLst>
          </a:prstGeom>
          <a:solidFill>
            <a:srgbClr val="E8A33D"/>
          </a:solidFill>
          <a:ln/>
        </p:spPr>
      </p:sp>
      <p:sp>
        <p:nvSpPr>
          <p:cNvPr id="24" name="Text 22"/>
          <p:cNvSpPr/>
          <p:nvPr/>
        </p:nvSpPr>
        <p:spPr>
          <a:xfrm>
            <a:off x="6675120" y="2770632"/>
            <a:ext cx="3108960" cy="274320"/>
          </a:xfrm>
          <a:prstGeom prst="rect">
            <a:avLst/>
          </a:prstGeom>
          <a:noFill/>
          <a:ln/>
        </p:spPr>
        <p:txBody>
          <a:bodyPr wrap="square" lIns="0" tIns="0" rIns="0" bIns="0" rtlCol="0" anchor="ctr"/>
          <a:lstStyle/>
          <a:p>
            <a:pPr indent="0" marL="0">
              <a:buNone/>
            </a:pPr>
            <a:r>
              <a:rPr lang="en-US" sz="1100" dirty="0">
                <a:solidFill>
                  <a:srgbClr val="1B2340"/>
                </a:solidFill>
                <a:latin typeface="Calibri" pitchFamily="34" charset="0"/>
                <a:ea typeface="Calibri" pitchFamily="34" charset="-122"/>
                <a:cs typeface="Calibri" pitchFamily="34" charset="-120"/>
              </a:rPr>
              <a:t>School infrastructure</a:t>
            </a:r>
            <a:endParaRPr lang="en-US" sz="1100" dirty="0"/>
          </a:p>
        </p:txBody>
      </p:sp>
      <p:sp>
        <p:nvSpPr>
          <p:cNvPr id="25" name="Shape 23"/>
          <p:cNvSpPr/>
          <p:nvPr/>
        </p:nvSpPr>
        <p:spPr>
          <a:xfrm>
            <a:off x="6675120" y="3063240"/>
            <a:ext cx="4846320" cy="201168"/>
          </a:xfrm>
          <a:prstGeom prst="roundRect">
            <a:avLst>
              <a:gd name="adj" fmla="val 13636"/>
            </a:avLst>
          </a:prstGeom>
          <a:solidFill>
            <a:srgbClr val="E4E1D6"/>
          </a:solidFill>
          <a:ln/>
        </p:spPr>
      </p:sp>
      <p:sp>
        <p:nvSpPr>
          <p:cNvPr id="26" name="Shape 24"/>
          <p:cNvSpPr/>
          <p:nvPr/>
        </p:nvSpPr>
        <p:spPr>
          <a:xfrm>
            <a:off x="6675120" y="3063240"/>
            <a:ext cx="3586277" cy="201168"/>
          </a:xfrm>
          <a:prstGeom prst="roundRect">
            <a:avLst>
              <a:gd name="adj" fmla="val 13636"/>
            </a:avLst>
          </a:prstGeom>
          <a:solidFill>
            <a:srgbClr val="C97E1E"/>
          </a:solidFill>
          <a:ln/>
        </p:spPr>
      </p:sp>
      <p:sp>
        <p:nvSpPr>
          <p:cNvPr id="27" name="Text 25"/>
          <p:cNvSpPr/>
          <p:nvPr/>
        </p:nvSpPr>
        <p:spPr>
          <a:xfrm>
            <a:off x="6675120" y="3392424"/>
            <a:ext cx="3108960" cy="274320"/>
          </a:xfrm>
          <a:prstGeom prst="rect">
            <a:avLst/>
          </a:prstGeom>
          <a:noFill/>
          <a:ln/>
        </p:spPr>
        <p:txBody>
          <a:bodyPr wrap="square" lIns="0" tIns="0" rIns="0" bIns="0" rtlCol="0" anchor="ctr"/>
          <a:lstStyle/>
          <a:p>
            <a:pPr indent="0" marL="0">
              <a:buNone/>
            </a:pPr>
            <a:r>
              <a:rPr lang="en-US" sz="1100" dirty="0">
                <a:solidFill>
                  <a:srgbClr val="1B2340"/>
                </a:solidFill>
                <a:latin typeface="Calibri" pitchFamily="34" charset="0"/>
                <a:ea typeface="Calibri" pitchFamily="34" charset="-122"/>
                <a:cs typeface="Calibri" pitchFamily="34" charset="-120"/>
              </a:rPr>
              <a:t>Drinking water supply</a:t>
            </a:r>
            <a:endParaRPr lang="en-US" sz="1100" dirty="0"/>
          </a:p>
        </p:txBody>
      </p:sp>
      <p:sp>
        <p:nvSpPr>
          <p:cNvPr id="28" name="Shape 26"/>
          <p:cNvSpPr/>
          <p:nvPr/>
        </p:nvSpPr>
        <p:spPr>
          <a:xfrm>
            <a:off x="6675120" y="3685032"/>
            <a:ext cx="4846320" cy="201168"/>
          </a:xfrm>
          <a:prstGeom prst="roundRect">
            <a:avLst>
              <a:gd name="adj" fmla="val 13636"/>
            </a:avLst>
          </a:prstGeom>
          <a:solidFill>
            <a:srgbClr val="E4E1D6"/>
          </a:solidFill>
          <a:ln/>
        </p:spPr>
      </p:sp>
      <p:sp>
        <p:nvSpPr>
          <p:cNvPr id="29" name="Shape 27"/>
          <p:cNvSpPr/>
          <p:nvPr/>
        </p:nvSpPr>
        <p:spPr>
          <a:xfrm>
            <a:off x="6675120" y="3685032"/>
            <a:ext cx="2907792" cy="201168"/>
          </a:xfrm>
          <a:prstGeom prst="roundRect">
            <a:avLst>
              <a:gd name="adj" fmla="val 13636"/>
            </a:avLst>
          </a:prstGeom>
          <a:solidFill>
            <a:srgbClr val="6B7A99"/>
          </a:solidFill>
          <a:ln/>
        </p:spPr>
      </p:sp>
      <p:sp>
        <p:nvSpPr>
          <p:cNvPr id="30" name="Text 28"/>
          <p:cNvSpPr/>
          <p:nvPr/>
        </p:nvSpPr>
        <p:spPr>
          <a:xfrm>
            <a:off x="6675120" y="4014216"/>
            <a:ext cx="3108960" cy="274320"/>
          </a:xfrm>
          <a:prstGeom prst="rect">
            <a:avLst/>
          </a:prstGeom>
          <a:noFill/>
          <a:ln/>
        </p:spPr>
        <p:txBody>
          <a:bodyPr wrap="square" lIns="0" tIns="0" rIns="0" bIns="0" rtlCol="0" anchor="ctr"/>
          <a:lstStyle/>
          <a:p>
            <a:pPr indent="0" marL="0">
              <a:buNone/>
            </a:pPr>
            <a:r>
              <a:rPr lang="en-US" sz="1100" dirty="0">
                <a:solidFill>
                  <a:srgbClr val="1B2340"/>
                </a:solidFill>
                <a:latin typeface="Calibri" pitchFamily="34" charset="0"/>
                <a:ea typeface="Calibri" pitchFamily="34" charset="-122"/>
                <a:cs typeface="Calibri" pitchFamily="34" charset="-120"/>
              </a:rPr>
              <a:t>Street lighting</a:t>
            </a:r>
            <a:endParaRPr lang="en-US" sz="1100" dirty="0"/>
          </a:p>
        </p:txBody>
      </p:sp>
      <p:sp>
        <p:nvSpPr>
          <p:cNvPr id="31" name="Shape 29"/>
          <p:cNvSpPr/>
          <p:nvPr/>
        </p:nvSpPr>
        <p:spPr>
          <a:xfrm>
            <a:off x="6675120" y="4306824"/>
            <a:ext cx="4846320" cy="201168"/>
          </a:xfrm>
          <a:prstGeom prst="roundRect">
            <a:avLst>
              <a:gd name="adj" fmla="val 13636"/>
            </a:avLst>
          </a:prstGeom>
          <a:solidFill>
            <a:srgbClr val="E4E1D6"/>
          </a:solidFill>
          <a:ln/>
        </p:spPr>
      </p:sp>
      <p:sp>
        <p:nvSpPr>
          <p:cNvPr id="32" name="Shape 30"/>
          <p:cNvSpPr/>
          <p:nvPr/>
        </p:nvSpPr>
        <p:spPr>
          <a:xfrm>
            <a:off x="6675120" y="4306824"/>
            <a:ext cx="2132381" cy="201168"/>
          </a:xfrm>
          <a:prstGeom prst="roundRect">
            <a:avLst>
              <a:gd name="adj" fmla="val 13636"/>
            </a:avLst>
          </a:prstGeom>
          <a:solidFill>
            <a:srgbClr val="6B7A99"/>
          </a:solidFill>
          <a:ln/>
        </p:spPr>
      </p:sp>
      <p:sp>
        <p:nvSpPr>
          <p:cNvPr id="33" name="Text 31"/>
          <p:cNvSpPr/>
          <p:nvPr/>
        </p:nvSpPr>
        <p:spPr>
          <a:xfrm>
            <a:off x="6675120" y="4636008"/>
            <a:ext cx="3108960" cy="274320"/>
          </a:xfrm>
          <a:prstGeom prst="rect">
            <a:avLst/>
          </a:prstGeom>
          <a:noFill/>
          <a:ln/>
        </p:spPr>
        <p:txBody>
          <a:bodyPr wrap="square" lIns="0" tIns="0" rIns="0" bIns="0" rtlCol="0" anchor="ctr"/>
          <a:lstStyle/>
          <a:p>
            <a:pPr indent="0" marL="0">
              <a:buNone/>
            </a:pPr>
            <a:r>
              <a:rPr lang="en-US" sz="1100" dirty="0">
                <a:solidFill>
                  <a:srgbClr val="1B2340"/>
                </a:solidFill>
                <a:latin typeface="Calibri" pitchFamily="34" charset="0"/>
                <a:ea typeface="Calibri" pitchFamily="34" charset="-122"/>
                <a:cs typeface="Calibri" pitchFamily="34" charset="-120"/>
              </a:rPr>
              <a:t>Vocational training</a:t>
            </a:r>
            <a:endParaRPr lang="en-US" sz="1100" dirty="0"/>
          </a:p>
        </p:txBody>
      </p:sp>
      <p:sp>
        <p:nvSpPr>
          <p:cNvPr id="34" name="Shape 32"/>
          <p:cNvSpPr/>
          <p:nvPr/>
        </p:nvSpPr>
        <p:spPr>
          <a:xfrm>
            <a:off x="6675120" y="4928616"/>
            <a:ext cx="4846320" cy="201168"/>
          </a:xfrm>
          <a:prstGeom prst="roundRect">
            <a:avLst>
              <a:gd name="adj" fmla="val 13636"/>
            </a:avLst>
          </a:prstGeom>
          <a:solidFill>
            <a:srgbClr val="E4E1D6"/>
          </a:solidFill>
          <a:ln/>
        </p:spPr>
      </p:sp>
      <p:sp>
        <p:nvSpPr>
          <p:cNvPr id="35" name="Shape 33"/>
          <p:cNvSpPr/>
          <p:nvPr/>
        </p:nvSpPr>
        <p:spPr>
          <a:xfrm>
            <a:off x="6675120" y="4928616"/>
            <a:ext cx="1453896" cy="201168"/>
          </a:xfrm>
          <a:prstGeom prst="roundRect">
            <a:avLst>
              <a:gd name="adj" fmla="val 13636"/>
            </a:avLst>
          </a:prstGeom>
          <a:solidFill>
            <a:srgbClr val="6B7A99"/>
          </a:solidFill>
          <a:ln/>
        </p:spPr>
      </p:sp>
      <p:sp>
        <p:nvSpPr>
          <p:cNvPr id="36" name="Shape 34"/>
          <p:cNvSpPr/>
          <p:nvPr/>
        </p:nvSpPr>
        <p:spPr>
          <a:xfrm>
            <a:off x="6675120" y="5349240"/>
            <a:ext cx="4846320" cy="822960"/>
          </a:xfrm>
          <a:prstGeom prst="roundRect">
            <a:avLst>
              <a:gd name="adj" fmla="val 10000"/>
            </a:avLst>
          </a:prstGeom>
          <a:solidFill>
            <a:srgbClr val="FFFFFF"/>
          </a:solidFill>
          <a:ln/>
          <a:effectLst>
            <a:outerShdw sx="100000" sy="100000" kx="0" ky="0" algn="bl" rotWithShape="0" blurRad="76200" dist="25400" dir="5400000">
              <a:srgbClr val="000000">
                <a:alpha val="10000"/>
              </a:srgbClr>
            </a:outerShdw>
          </a:effectLst>
        </p:spPr>
      </p:sp>
      <p:pic>
        <p:nvPicPr>
          <p:cNvPr id="37" name="Image 0" descr="preencoded.png">    </p:cNvPr>
          <p:cNvPicPr>
            <a:picLocks noChangeAspect="1"/>
          </p:cNvPicPr>
          <p:nvPr/>
        </p:nvPicPr>
        <p:blipFill>
          <a:blip r:embed="rId1"/>
          <a:stretch>
            <a:fillRect/>
          </a:stretch>
        </p:blipFill>
        <p:spPr>
          <a:xfrm>
            <a:off x="6858000" y="5532120"/>
            <a:ext cx="457200" cy="457200"/>
          </a:xfrm>
          <a:prstGeom prst="rect">
            <a:avLst/>
          </a:prstGeom>
        </p:spPr>
      </p:pic>
      <p:sp>
        <p:nvSpPr>
          <p:cNvPr id="38" name="Text 35"/>
          <p:cNvSpPr/>
          <p:nvPr/>
        </p:nvSpPr>
        <p:spPr>
          <a:xfrm>
            <a:off x="7452360" y="5349240"/>
            <a:ext cx="3931920" cy="822960"/>
          </a:xfrm>
          <a:prstGeom prst="rect">
            <a:avLst/>
          </a:prstGeom>
          <a:noFill/>
          <a:ln/>
        </p:spPr>
        <p:txBody>
          <a:bodyPr wrap="square" lIns="0" tIns="0" rIns="0" bIns="0" rtlCol="0" anchor="ctr"/>
          <a:lstStyle/>
          <a:p>
            <a:pPr indent="0" marL="0">
              <a:buNone/>
            </a:pPr>
            <a:r>
              <a:rPr lang="en-US" sz="1150" dirty="0">
                <a:solidFill>
                  <a:srgbClr val="5B6478"/>
                </a:solidFill>
                <a:latin typeface="Calibri" pitchFamily="34" charset="0"/>
                <a:ea typeface="Calibri" pitchFamily="34" charset="-122"/>
                <a:cs typeface="Calibri" pitchFamily="34" charset="-120"/>
              </a:rPr>
              <a:t>OpenStreetMap + Leaflet — zero API key, zero cost.</a:t>
            </a:r>
            <a:endParaRPr lang="en-US" sz="11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B2340"/>
        </a:solidFill>
      </p:bgPr>
    </p:bg>
    <p:spTree>
      <p:nvGrpSpPr>
        <p:cNvPr id="1" name=""/>
        <p:cNvGrpSpPr/>
        <p:nvPr/>
      </p:nvGrpSpPr>
      <p:grpSpPr>
        <a:xfrm>
          <a:off x="0" y="0"/>
          <a:ext cx="0" cy="0"/>
          <a:chOff x="0" y="0"/>
          <a:chExt cx="0" cy="0"/>
        </a:xfrm>
      </p:grpSpPr>
      <p:sp>
        <p:nvSpPr>
          <p:cNvPr id="2" name="Text 0"/>
          <p:cNvSpPr/>
          <p:nvPr/>
        </p:nvSpPr>
        <p:spPr>
          <a:xfrm>
            <a:off x="640080" y="457200"/>
            <a:ext cx="7315200" cy="365760"/>
          </a:xfrm>
          <a:prstGeom prst="rect">
            <a:avLst/>
          </a:prstGeom>
          <a:noFill/>
          <a:ln/>
        </p:spPr>
        <p:txBody>
          <a:bodyPr wrap="square" lIns="0" tIns="0" rIns="0" bIns="0" rtlCol="0" anchor="ctr"/>
          <a:lstStyle/>
          <a:p>
            <a:pPr indent="0" marL="0">
              <a:buNone/>
            </a:pPr>
            <a:r>
              <a:rPr lang="en-US" sz="1300" b="1" spc="200" kern="0" dirty="0">
                <a:solidFill>
                  <a:srgbClr val="E8A33D"/>
                </a:solidFill>
                <a:latin typeface="Calibri" pitchFamily="34" charset="0"/>
                <a:ea typeface="Calibri" pitchFamily="34" charset="-122"/>
                <a:cs typeface="Calibri" pitchFamily="34" charset="-120"/>
              </a:rPr>
              <a:t>FEATURE 04 · THE CORE INNOVATION</a:t>
            </a:r>
            <a:endParaRPr lang="en-US" sz="1300" dirty="0"/>
          </a:p>
        </p:txBody>
      </p:sp>
      <p:sp>
        <p:nvSpPr>
          <p:cNvPr id="3" name="Text 1"/>
          <p:cNvSpPr/>
          <p:nvPr/>
        </p:nvSpPr>
        <p:spPr>
          <a:xfrm>
            <a:off x="640080" y="777240"/>
            <a:ext cx="10789920" cy="640080"/>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A ranking engine an MP can actually defend</a:t>
            </a:r>
            <a:endParaRPr lang="en-US" sz="2800" dirty="0"/>
          </a:p>
        </p:txBody>
      </p:sp>
      <p:sp>
        <p:nvSpPr>
          <p:cNvPr id="4" name="Text 2"/>
          <p:cNvSpPr/>
          <p:nvPr/>
        </p:nvSpPr>
        <p:spPr>
          <a:xfrm>
            <a:off x="640080" y="1371600"/>
            <a:ext cx="10515600" cy="365760"/>
          </a:xfrm>
          <a:prstGeom prst="rect">
            <a:avLst/>
          </a:prstGeom>
          <a:noFill/>
          <a:ln/>
        </p:spPr>
        <p:txBody>
          <a:bodyPr wrap="square" lIns="0" tIns="0" rIns="0" bIns="0" rtlCol="0" anchor="ctr"/>
          <a:lstStyle/>
          <a:p>
            <a:pPr indent="0" marL="0">
              <a:buNone/>
            </a:pPr>
            <a:r>
              <a:rPr lang="en-US" sz="1350" dirty="0">
                <a:solidFill>
                  <a:srgbClr val="B9C1DE"/>
                </a:solidFill>
                <a:latin typeface="Calibri" pitchFamily="34" charset="0"/>
                <a:ea typeface="Calibri" pitchFamily="34" charset="-122"/>
                <a:cs typeface="Calibri" pitchFamily="34" charset="-120"/>
              </a:rPr>
              <a:t>Four transparent, adjustable weights combine into one 0–100 score per theme-per-ward:</a:t>
            </a:r>
            <a:endParaRPr lang="en-US" sz="1350" dirty="0"/>
          </a:p>
        </p:txBody>
      </p:sp>
      <p:sp>
        <p:nvSpPr>
          <p:cNvPr id="5" name="Shape 3"/>
          <p:cNvSpPr/>
          <p:nvPr/>
        </p:nvSpPr>
        <p:spPr>
          <a:xfrm>
            <a:off x="640080" y="1965960"/>
            <a:ext cx="2606040" cy="2331720"/>
          </a:xfrm>
          <a:prstGeom prst="roundRect">
            <a:avLst>
              <a:gd name="adj" fmla="val 3922"/>
            </a:avLst>
          </a:prstGeom>
          <a:solidFill>
            <a:srgbClr val="2A3459"/>
          </a:solidFill>
          <a:ln/>
        </p:spPr>
      </p:sp>
      <p:sp>
        <p:nvSpPr>
          <p:cNvPr id="6" name="Shape 4"/>
          <p:cNvSpPr/>
          <p:nvPr/>
        </p:nvSpPr>
        <p:spPr>
          <a:xfrm>
            <a:off x="868680" y="2194560"/>
            <a:ext cx="502920" cy="502920"/>
          </a:xfrm>
          <a:prstGeom prst="ellipse">
            <a:avLst/>
          </a:prstGeom>
          <a:solidFill>
            <a:srgbClr val="1B2340"/>
          </a:solidFill>
          <a:ln/>
        </p:spPr>
      </p:sp>
      <p:pic>
        <p:nvPicPr>
          <p:cNvPr id="7" name="Image 0" descr="preencoded.png">    </p:cNvPr>
          <p:cNvPicPr>
            <a:picLocks noChangeAspect="1"/>
          </p:cNvPicPr>
          <p:nvPr/>
        </p:nvPicPr>
        <p:blipFill>
          <a:blip r:embed="rId1"/>
          <a:stretch>
            <a:fillRect/>
          </a:stretch>
        </p:blipFill>
        <p:spPr>
          <a:xfrm>
            <a:off x="999439" y="2325319"/>
            <a:ext cx="241402" cy="241402"/>
          </a:xfrm>
          <a:prstGeom prst="rect">
            <a:avLst/>
          </a:prstGeom>
        </p:spPr>
      </p:pic>
      <p:sp>
        <p:nvSpPr>
          <p:cNvPr id="8" name="Text 5"/>
          <p:cNvSpPr/>
          <p:nvPr/>
        </p:nvSpPr>
        <p:spPr>
          <a:xfrm>
            <a:off x="2240280" y="2194560"/>
            <a:ext cx="822960" cy="502920"/>
          </a:xfrm>
          <a:prstGeom prst="rect">
            <a:avLst/>
          </a:prstGeom>
          <a:noFill/>
          <a:ln/>
        </p:spPr>
        <p:txBody>
          <a:bodyPr wrap="square" lIns="0" tIns="0" rIns="0" bIns="0" rtlCol="0" anchor="ctr"/>
          <a:lstStyle/>
          <a:p>
            <a:pPr algn="r" indent="0" marL="0">
              <a:buNone/>
            </a:pPr>
            <a:r>
              <a:rPr lang="en-US" sz="2200" b="1" dirty="0">
                <a:solidFill>
                  <a:srgbClr val="E8A33D"/>
                </a:solidFill>
                <a:latin typeface="Cambria" pitchFamily="34" charset="0"/>
                <a:ea typeface="Cambria" pitchFamily="34" charset="-122"/>
                <a:cs typeface="Cambria" pitchFamily="34" charset="-120"/>
              </a:rPr>
              <a:t>35%</a:t>
            </a:r>
            <a:endParaRPr lang="en-US" sz="2200" dirty="0"/>
          </a:p>
        </p:txBody>
      </p:sp>
      <p:sp>
        <p:nvSpPr>
          <p:cNvPr id="9" name="Text 6"/>
          <p:cNvSpPr/>
          <p:nvPr/>
        </p:nvSpPr>
        <p:spPr>
          <a:xfrm>
            <a:off x="868680" y="2834640"/>
            <a:ext cx="2148840" cy="36576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Demand</a:t>
            </a:r>
            <a:endParaRPr lang="en-US" sz="1500" dirty="0"/>
          </a:p>
        </p:txBody>
      </p:sp>
      <p:sp>
        <p:nvSpPr>
          <p:cNvPr id="10" name="Text 7"/>
          <p:cNvSpPr/>
          <p:nvPr/>
        </p:nvSpPr>
        <p:spPr>
          <a:xfrm>
            <a:off x="868680" y="3200400"/>
            <a:ext cx="2148840" cy="1005840"/>
          </a:xfrm>
          <a:prstGeom prst="rect">
            <a:avLst/>
          </a:prstGeom>
          <a:noFill/>
          <a:ln/>
        </p:spPr>
        <p:txBody>
          <a:bodyPr wrap="square" lIns="0" tIns="0" rIns="0" bIns="0" rtlCol="0" anchor="ctr"/>
          <a:lstStyle/>
          <a:p>
            <a:pPr indent="0" marL="0">
              <a:buNone/>
            </a:pPr>
            <a:r>
              <a:rPr lang="en-US" sz="1080" dirty="0">
                <a:solidFill>
                  <a:srgbClr val="9AA4C4"/>
                </a:solidFill>
                <a:latin typeface="Calibri" pitchFamily="34" charset="0"/>
                <a:ea typeface="Calibri" pitchFamily="34" charset="-122"/>
                <a:cs typeface="Calibri" pitchFamily="34" charset="-120"/>
              </a:rPr>
              <a:t>How many citizens raised it, relative to the largest theme.</a:t>
            </a:r>
            <a:endParaRPr lang="en-US" sz="1080" dirty="0"/>
          </a:p>
        </p:txBody>
      </p:sp>
      <p:sp>
        <p:nvSpPr>
          <p:cNvPr id="11" name="Shape 8"/>
          <p:cNvSpPr/>
          <p:nvPr/>
        </p:nvSpPr>
        <p:spPr>
          <a:xfrm>
            <a:off x="3447288" y="1965960"/>
            <a:ext cx="2606040" cy="2331720"/>
          </a:xfrm>
          <a:prstGeom prst="roundRect">
            <a:avLst>
              <a:gd name="adj" fmla="val 3922"/>
            </a:avLst>
          </a:prstGeom>
          <a:solidFill>
            <a:srgbClr val="2A3459"/>
          </a:solidFill>
          <a:ln/>
        </p:spPr>
      </p:sp>
      <p:sp>
        <p:nvSpPr>
          <p:cNvPr id="12" name="Shape 9"/>
          <p:cNvSpPr/>
          <p:nvPr/>
        </p:nvSpPr>
        <p:spPr>
          <a:xfrm>
            <a:off x="3675888" y="2194560"/>
            <a:ext cx="502920" cy="502920"/>
          </a:xfrm>
          <a:prstGeom prst="ellipse">
            <a:avLst/>
          </a:prstGeom>
          <a:solidFill>
            <a:srgbClr val="1B2340"/>
          </a:solidFill>
          <a:ln/>
        </p:spPr>
      </p:sp>
      <p:pic>
        <p:nvPicPr>
          <p:cNvPr id="13" name="Image 1" descr="preencoded.png">    </p:cNvPr>
          <p:cNvPicPr>
            <a:picLocks noChangeAspect="1"/>
          </p:cNvPicPr>
          <p:nvPr/>
        </p:nvPicPr>
        <p:blipFill>
          <a:blip r:embed="rId2"/>
          <a:stretch>
            <a:fillRect/>
          </a:stretch>
        </p:blipFill>
        <p:spPr>
          <a:xfrm>
            <a:off x="3806647" y="2325319"/>
            <a:ext cx="241402" cy="241402"/>
          </a:xfrm>
          <a:prstGeom prst="rect">
            <a:avLst/>
          </a:prstGeom>
        </p:spPr>
      </p:pic>
      <p:sp>
        <p:nvSpPr>
          <p:cNvPr id="14" name="Text 10"/>
          <p:cNvSpPr/>
          <p:nvPr/>
        </p:nvSpPr>
        <p:spPr>
          <a:xfrm>
            <a:off x="5047488" y="2194560"/>
            <a:ext cx="822960" cy="502920"/>
          </a:xfrm>
          <a:prstGeom prst="rect">
            <a:avLst/>
          </a:prstGeom>
          <a:noFill/>
          <a:ln/>
        </p:spPr>
        <p:txBody>
          <a:bodyPr wrap="square" lIns="0" tIns="0" rIns="0" bIns="0" rtlCol="0" anchor="ctr"/>
          <a:lstStyle/>
          <a:p>
            <a:pPr algn="r" indent="0" marL="0">
              <a:buNone/>
            </a:pPr>
            <a:r>
              <a:rPr lang="en-US" sz="2200" b="1" dirty="0">
                <a:solidFill>
                  <a:srgbClr val="E8A33D"/>
                </a:solidFill>
                <a:latin typeface="Cambria" pitchFamily="34" charset="0"/>
                <a:ea typeface="Cambria" pitchFamily="34" charset="-122"/>
                <a:cs typeface="Cambria" pitchFamily="34" charset="-120"/>
              </a:rPr>
              <a:t>25%</a:t>
            </a:r>
            <a:endParaRPr lang="en-US" sz="2200" dirty="0"/>
          </a:p>
        </p:txBody>
      </p:sp>
      <p:sp>
        <p:nvSpPr>
          <p:cNvPr id="15" name="Text 11"/>
          <p:cNvSpPr/>
          <p:nvPr/>
        </p:nvSpPr>
        <p:spPr>
          <a:xfrm>
            <a:off x="3675888" y="2834640"/>
            <a:ext cx="2148840" cy="36576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Urgency</a:t>
            </a:r>
            <a:endParaRPr lang="en-US" sz="1500" dirty="0"/>
          </a:p>
        </p:txBody>
      </p:sp>
      <p:sp>
        <p:nvSpPr>
          <p:cNvPr id="16" name="Text 12"/>
          <p:cNvSpPr/>
          <p:nvPr/>
        </p:nvSpPr>
        <p:spPr>
          <a:xfrm>
            <a:off x="3675888" y="3200400"/>
            <a:ext cx="2148840" cy="1005840"/>
          </a:xfrm>
          <a:prstGeom prst="rect">
            <a:avLst/>
          </a:prstGeom>
          <a:noFill/>
          <a:ln/>
        </p:spPr>
        <p:txBody>
          <a:bodyPr wrap="square" lIns="0" tIns="0" rIns="0" bIns="0" rtlCol="0" anchor="ctr"/>
          <a:lstStyle/>
          <a:p>
            <a:pPr indent="0" marL="0">
              <a:buNone/>
            </a:pPr>
            <a:r>
              <a:rPr lang="en-US" sz="1080" dirty="0">
                <a:solidFill>
                  <a:srgbClr val="9AA4C4"/>
                </a:solidFill>
                <a:latin typeface="Calibri" pitchFamily="34" charset="0"/>
                <a:ea typeface="Calibri" pitchFamily="34" charset="-122"/>
                <a:cs typeface="Calibri" pitchFamily="34" charset="-120"/>
              </a:rPr>
              <a:t>Average AI-derived urgency across matching submissions.</a:t>
            </a:r>
            <a:endParaRPr lang="en-US" sz="1080" dirty="0"/>
          </a:p>
        </p:txBody>
      </p:sp>
      <p:sp>
        <p:nvSpPr>
          <p:cNvPr id="17" name="Shape 13"/>
          <p:cNvSpPr/>
          <p:nvPr/>
        </p:nvSpPr>
        <p:spPr>
          <a:xfrm>
            <a:off x="6254496" y="1965960"/>
            <a:ext cx="2606040" cy="2331720"/>
          </a:xfrm>
          <a:prstGeom prst="roundRect">
            <a:avLst>
              <a:gd name="adj" fmla="val 3922"/>
            </a:avLst>
          </a:prstGeom>
          <a:solidFill>
            <a:srgbClr val="2A3459"/>
          </a:solidFill>
          <a:ln/>
        </p:spPr>
      </p:sp>
      <p:sp>
        <p:nvSpPr>
          <p:cNvPr id="18" name="Shape 14"/>
          <p:cNvSpPr/>
          <p:nvPr/>
        </p:nvSpPr>
        <p:spPr>
          <a:xfrm>
            <a:off x="6483096" y="2194560"/>
            <a:ext cx="502920" cy="502920"/>
          </a:xfrm>
          <a:prstGeom prst="ellipse">
            <a:avLst/>
          </a:prstGeom>
          <a:solidFill>
            <a:srgbClr val="1B2340"/>
          </a:solidFill>
          <a:ln/>
        </p:spPr>
      </p:sp>
      <p:pic>
        <p:nvPicPr>
          <p:cNvPr id="19" name="Image 2" descr="preencoded.png">    </p:cNvPr>
          <p:cNvPicPr>
            <a:picLocks noChangeAspect="1"/>
          </p:cNvPicPr>
          <p:nvPr/>
        </p:nvPicPr>
        <p:blipFill>
          <a:blip r:embed="rId3"/>
          <a:stretch>
            <a:fillRect/>
          </a:stretch>
        </p:blipFill>
        <p:spPr>
          <a:xfrm>
            <a:off x="6613855" y="2325319"/>
            <a:ext cx="241402" cy="241402"/>
          </a:xfrm>
          <a:prstGeom prst="rect">
            <a:avLst/>
          </a:prstGeom>
        </p:spPr>
      </p:pic>
      <p:sp>
        <p:nvSpPr>
          <p:cNvPr id="20" name="Text 15"/>
          <p:cNvSpPr/>
          <p:nvPr/>
        </p:nvSpPr>
        <p:spPr>
          <a:xfrm>
            <a:off x="7854696" y="2194560"/>
            <a:ext cx="822960" cy="502920"/>
          </a:xfrm>
          <a:prstGeom prst="rect">
            <a:avLst/>
          </a:prstGeom>
          <a:noFill/>
          <a:ln/>
        </p:spPr>
        <p:txBody>
          <a:bodyPr wrap="square" lIns="0" tIns="0" rIns="0" bIns="0" rtlCol="0" anchor="ctr"/>
          <a:lstStyle/>
          <a:p>
            <a:pPr algn="r" indent="0" marL="0">
              <a:buNone/>
            </a:pPr>
            <a:r>
              <a:rPr lang="en-US" sz="2200" b="1" dirty="0">
                <a:solidFill>
                  <a:srgbClr val="E8A33D"/>
                </a:solidFill>
                <a:latin typeface="Cambria" pitchFamily="34" charset="0"/>
                <a:ea typeface="Cambria" pitchFamily="34" charset="-122"/>
                <a:cs typeface="Cambria" pitchFamily="34" charset="-120"/>
              </a:rPr>
              <a:t>30%</a:t>
            </a:r>
            <a:endParaRPr lang="en-US" sz="2200" dirty="0"/>
          </a:p>
        </p:txBody>
      </p:sp>
      <p:sp>
        <p:nvSpPr>
          <p:cNvPr id="21" name="Text 16"/>
          <p:cNvSpPr/>
          <p:nvPr/>
        </p:nvSpPr>
        <p:spPr>
          <a:xfrm>
            <a:off x="6483096" y="2834640"/>
            <a:ext cx="2148840" cy="36576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Need Gap</a:t>
            </a:r>
            <a:endParaRPr lang="en-US" sz="1500" dirty="0"/>
          </a:p>
        </p:txBody>
      </p:sp>
      <p:sp>
        <p:nvSpPr>
          <p:cNvPr id="22" name="Text 17"/>
          <p:cNvSpPr/>
          <p:nvPr/>
        </p:nvSpPr>
        <p:spPr>
          <a:xfrm>
            <a:off x="6483096" y="3200400"/>
            <a:ext cx="2148840" cy="1005840"/>
          </a:xfrm>
          <a:prstGeom prst="rect">
            <a:avLst/>
          </a:prstGeom>
          <a:noFill/>
          <a:ln/>
        </p:spPr>
        <p:txBody>
          <a:bodyPr wrap="square" lIns="0" tIns="0" rIns="0" bIns="0" rtlCol="0" anchor="ctr"/>
          <a:lstStyle/>
          <a:p>
            <a:pPr indent="0" marL="0">
              <a:buNone/>
            </a:pPr>
            <a:r>
              <a:rPr lang="en-US" sz="1080" dirty="0">
                <a:solidFill>
                  <a:srgbClr val="9AA4C4"/>
                </a:solidFill>
                <a:latin typeface="Calibri" pitchFamily="34" charset="0"/>
                <a:ea typeface="Calibri" pitchFamily="34" charset="-122"/>
                <a:cs typeface="Calibri" pitchFamily="34" charset="-120"/>
              </a:rPr>
              <a:t>How badly ward demographic/infra data supports the request.</a:t>
            </a:r>
            <a:endParaRPr lang="en-US" sz="1080" dirty="0"/>
          </a:p>
        </p:txBody>
      </p:sp>
      <p:sp>
        <p:nvSpPr>
          <p:cNvPr id="23" name="Shape 18"/>
          <p:cNvSpPr/>
          <p:nvPr/>
        </p:nvSpPr>
        <p:spPr>
          <a:xfrm>
            <a:off x="9061704" y="1965960"/>
            <a:ext cx="2606040" cy="2331720"/>
          </a:xfrm>
          <a:prstGeom prst="roundRect">
            <a:avLst>
              <a:gd name="adj" fmla="val 3922"/>
            </a:avLst>
          </a:prstGeom>
          <a:solidFill>
            <a:srgbClr val="2A3459"/>
          </a:solidFill>
          <a:ln/>
        </p:spPr>
      </p:sp>
      <p:sp>
        <p:nvSpPr>
          <p:cNvPr id="24" name="Shape 19"/>
          <p:cNvSpPr/>
          <p:nvPr/>
        </p:nvSpPr>
        <p:spPr>
          <a:xfrm>
            <a:off x="9290304" y="2194560"/>
            <a:ext cx="502920" cy="502920"/>
          </a:xfrm>
          <a:prstGeom prst="ellipse">
            <a:avLst/>
          </a:prstGeom>
          <a:solidFill>
            <a:srgbClr val="1B2340"/>
          </a:solidFill>
          <a:ln/>
        </p:spPr>
      </p:sp>
      <p:pic>
        <p:nvPicPr>
          <p:cNvPr id="25" name="Image 3" descr="preencoded.png">    </p:cNvPr>
          <p:cNvPicPr>
            <a:picLocks noChangeAspect="1"/>
          </p:cNvPicPr>
          <p:nvPr/>
        </p:nvPicPr>
        <p:blipFill>
          <a:blip r:embed="rId4"/>
          <a:stretch>
            <a:fillRect/>
          </a:stretch>
        </p:blipFill>
        <p:spPr>
          <a:xfrm>
            <a:off x="9421063" y="2325319"/>
            <a:ext cx="241402" cy="241402"/>
          </a:xfrm>
          <a:prstGeom prst="rect">
            <a:avLst/>
          </a:prstGeom>
        </p:spPr>
      </p:pic>
      <p:sp>
        <p:nvSpPr>
          <p:cNvPr id="26" name="Text 20"/>
          <p:cNvSpPr/>
          <p:nvPr/>
        </p:nvSpPr>
        <p:spPr>
          <a:xfrm>
            <a:off x="10661904" y="2194560"/>
            <a:ext cx="822960" cy="502920"/>
          </a:xfrm>
          <a:prstGeom prst="rect">
            <a:avLst/>
          </a:prstGeom>
          <a:noFill/>
          <a:ln/>
        </p:spPr>
        <p:txBody>
          <a:bodyPr wrap="square" lIns="0" tIns="0" rIns="0" bIns="0" rtlCol="0" anchor="ctr"/>
          <a:lstStyle/>
          <a:p>
            <a:pPr algn="r" indent="0" marL="0">
              <a:buNone/>
            </a:pPr>
            <a:r>
              <a:rPr lang="en-US" sz="2200" b="1" dirty="0">
                <a:solidFill>
                  <a:srgbClr val="E8A33D"/>
                </a:solidFill>
                <a:latin typeface="Cambria" pitchFamily="34" charset="0"/>
                <a:ea typeface="Cambria" pitchFamily="34" charset="-122"/>
                <a:cs typeface="Cambria" pitchFamily="34" charset="-120"/>
              </a:rPr>
              <a:t>10%</a:t>
            </a:r>
            <a:endParaRPr lang="en-US" sz="2200" dirty="0"/>
          </a:p>
        </p:txBody>
      </p:sp>
      <p:sp>
        <p:nvSpPr>
          <p:cNvPr id="27" name="Text 21"/>
          <p:cNvSpPr/>
          <p:nvPr/>
        </p:nvSpPr>
        <p:spPr>
          <a:xfrm>
            <a:off x="9290304" y="2834640"/>
            <a:ext cx="2148840" cy="36576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Recency</a:t>
            </a:r>
            <a:endParaRPr lang="en-US" sz="1500" dirty="0"/>
          </a:p>
        </p:txBody>
      </p:sp>
      <p:sp>
        <p:nvSpPr>
          <p:cNvPr id="28" name="Text 22"/>
          <p:cNvSpPr/>
          <p:nvPr/>
        </p:nvSpPr>
        <p:spPr>
          <a:xfrm>
            <a:off x="9290304" y="3200400"/>
            <a:ext cx="2148840" cy="1005840"/>
          </a:xfrm>
          <a:prstGeom prst="rect">
            <a:avLst/>
          </a:prstGeom>
          <a:noFill/>
          <a:ln/>
        </p:spPr>
        <p:txBody>
          <a:bodyPr wrap="square" lIns="0" tIns="0" rIns="0" bIns="0" rtlCol="0" anchor="ctr"/>
          <a:lstStyle/>
          <a:p>
            <a:pPr indent="0" marL="0">
              <a:buNone/>
            </a:pPr>
            <a:r>
              <a:rPr lang="en-US" sz="1080" dirty="0">
                <a:solidFill>
                  <a:srgbClr val="9AA4C4"/>
                </a:solidFill>
                <a:latin typeface="Calibri" pitchFamily="34" charset="0"/>
                <a:ea typeface="Calibri" pitchFamily="34" charset="-122"/>
                <a:cs typeface="Calibri" pitchFamily="34" charset="-120"/>
              </a:rPr>
              <a:t>Recent surges outweigh old, possibly-resolved chatter.</a:t>
            </a:r>
            <a:endParaRPr lang="en-US" sz="1080" dirty="0"/>
          </a:p>
        </p:txBody>
      </p:sp>
      <p:sp>
        <p:nvSpPr>
          <p:cNvPr id="29" name="Shape 23"/>
          <p:cNvSpPr/>
          <p:nvPr/>
        </p:nvSpPr>
        <p:spPr>
          <a:xfrm>
            <a:off x="640080" y="4572000"/>
            <a:ext cx="10881360" cy="1600200"/>
          </a:xfrm>
          <a:prstGeom prst="roundRect">
            <a:avLst>
              <a:gd name="adj" fmla="val 5714"/>
            </a:avLst>
          </a:prstGeom>
          <a:solidFill>
            <a:srgbClr val="E8A33D"/>
          </a:solidFill>
          <a:ln/>
        </p:spPr>
      </p:sp>
      <p:sp>
        <p:nvSpPr>
          <p:cNvPr id="30" name="Text 24"/>
          <p:cNvSpPr/>
          <p:nvPr/>
        </p:nvSpPr>
        <p:spPr>
          <a:xfrm>
            <a:off x="914400" y="4754880"/>
            <a:ext cx="4572000" cy="320040"/>
          </a:xfrm>
          <a:prstGeom prst="rect">
            <a:avLst/>
          </a:prstGeom>
          <a:noFill/>
          <a:ln/>
        </p:spPr>
        <p:txBody>
          <a:bodyPr wrap="square" lIns="0" tIns="0" rIns="0" bIns="0" rtlCol="0" anchor="ctr"/>
          <a:lstStyle/>
          <a:p>
            <a:pPr indent="0" marL="0">
              <a:buNone/>
            </a:pPr>
            <a:r>
              <a:rPr lang="en-US" sz="1100" b="1" spc="150" kern="0" dirty="0">
                <a:solidFill>
                  <a:srgbClr val="1B2340"/>
                </a:solidFill>
                <a:latin typeface="Calibri" pitchFamily="34" charset="0"/>
                <a:ea typeface="Calibri" pitchFamily="34" charset="-122"/>
                <a:cs typeface="Calibri" pitchFamily="34" charset="-120"/>
              </a:rPr>
              <a:t>WORKED EXAMPLE</a:t>
            </a:r>
            <a:endParaRPr lang="en-US" sz="1100" dirty="0"/>
          </a:p>
        </p:txBody>
      </p:sp>
      <p:sp>
        <p:nvSpPr>
          <p:cNvPr id="31" name="Text 25"/>
          <p:cNvSpPr/>
          <p:nvPr/>
        </p:nvSpPr>
        <p:spPr>
          <a:xfrm>
            <a:off x="914400" y="5074920"/>
            <a:ext cx="10332720" cy="1005840"/>
          </a:xfrm>
          <a:prstGeom prst="rect">
            <a:avLst/>
          </a:prstGeom>
          <a:noFill/>
          <a:ln/>
        </p:spPr>
        <p:txBody>
          <a:bodyPr wrap="square" lIns="0" tIns="0" rIns="0" bIns="0" rtlCol="0" anchor="ctr"/>
          <a:lstStyle/>
          <a:p>
            <a:pPr indent="0" marL="0">
              <a:buNone/>
            </a:pPr>
            <a:r>
              <a:rPr lang="en-US" sz="1350" dirty="0">
                <a:solidFill>
                  <a:srgbClr val="1B2340"/>
                </a:solidFill>
                <a:latin typeface="Calibri" pitchFamily="34" charset="0"/>
                <a:ea typeface="Calibri" pitchFamily="34" charset="-122"/>
                <a:cs typeface="Calibri" pitchFamily="34" charset="-120"/>
              </a:rPr>
              <a:t>A school-upgrade request in an overcrowded, long-commute ward scores higher than an identical request in a well-served ward — and can outrank a louder but less-evidenced vocational-centre proposal. Every score expands to show its breakdown and a sample citizen submission. No black box.</a:t>
            </a:r>
            <a:endParaRPr lang="en-US" sz="13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5F0"/>
        </a:solidFill>
      </p:bgPr>
    </p:bg>
    <p:spTree>
      <p:nvGrpSpPr>
        <p:cNvPr id="1" name=""/>
        <p:cNvGrpSpPr/>
        <p:nvPr/>
      </p:nvGrpSpPr>
      <p:grpSpPr>
        <a:xfrm>
          <a:off x="0" y="0"/>
          <a:ext cx="0" cy="0"/>
          <a:chOff x="0" y="0"/>
          <a:chExt cx="0" cy="0"/>
        </a:xfrm>
      </p:grpSpPr>
      <p:sp>
        <p:nvSpPr>
          <p:cNvPr id="2" name="Text 0"/>
          <p:cNvSpPr/>
          <p:nvPr/>
        </p:nvSpPr>
        <p:spPr>
          <a:xfrm>
            <a:off x="640080" y="457200"/>
            <a:ext cx="7315200" cy="365760"/>
          </a:xfrm>
          <a:prstGeom prst="rect">
            <a:avLst/>
          </a:prstGeom>
          <a:noFill/>
          <a:ln/>
        </p:spPr>
        <p:txBody>
          <a:bodyPr wrap="square" lIns="0" tIns="0" rIns="0" bIns="0" rtlCol="0" anchor="ctr"/>
          <a:lstStyle/>
          <a:p>
            <a:pPr indent="0" marL="0">
              <a:buNone/>
            </a:pPr>
            <a:r>
              <a:rPr lang="en-US" sz="1300" b="1" spc="200" kern="0" dirty="0">
                <a:solidFill>
                  <a:srgbClr val="C97E1E"/>
                </a:solidFill>
                <a:latin typeface="Calibri" pitchFamily="34" charset="0"/>
                <a:ea typeface="Calibri" pitchFamily="34" charset="-122"/>
                <a:cs typeface="Calibri" pitchFamily="34" charset="-120"/>
              </a:rPr>
              <a:t>HOW NEED GAP IS COMPUTED</a:t>
            </a:r>
            <a:endParaRPr lang="en-US" sz="1300" dirty="0"/>
          </a:p>
        </p:txBody>
      </p:sp>
      <p:sp>
        <p:nvSpPr>
          <p:cNvPr id="3" name="Text 1"/>
          <p:cNvSpPr/>
          <p:nvPr/>
        </p:nvSpPr>
        <p:spPr>
          <a:xfrm>
            <a:off x="640080" y="777240"/>
            <a:ext cx="10789920" cy="640080"/>
          </a:xfrm>
          <a:prstGeom prst="rect">
            <a:avLst/>
          </a:prstGeom>
          <a:noFill/>
          <a:ln/>
        </p:spPr>
        <p:txBody>
          <a:bodyPr wrap="square" lIns="0" tIns="0" rIns="0" bIns="0" rtlCol="0" anchor="ctr"/>
          <a:lstStyle/>
          <a:p>
            <a:pPr indent="0" marL="0">
              <a:buNone/>
            </a:pPr>
            <a:r>
              <a:rPr lang="en-US" sz="2800" b="1" dirty="0">
                <a:solidFill>
                  <a:srgbClr val="1B2340"/>
                </a:solidFill>
                <a:latin typeface="Cambria" pitchFamily="34" charset="0"/>
                <a:ea typeface="Cambria" pitchFamily="34" charset="-122"/>
                <a:cs typeface="Cambria" pitchFamily="34" charset="-120"/>
              </a:rPr>
              <a:t>Real demographic &amp; infrastructure data, per ward</a:t>
            </a:r>
            <a:endParaRPr lang="en-US" sz="2800" dirty="0"/>
          </a:p>
        </p:txBody>
      </p:sp>
      <p:sp>
        <p:nvSpPr>
          <p:cNvPr id="4" name="Shape 2"/>
          <p:cNvSpPr/>
          <p:nvPr/>
        </p:nvSpPr>
        <p:spPr>
          <a:xfrm>
            <a:off x="640080" y="1828800"/>
            <a:ext cx="2606040" cy="1188720"/>
          </a:xfrm>
          <a:prstGeom prst="roundRect">
            <a:avLst>
              <a:gd name="adj" fmla="val 6154"/>
            </a:avLst>
          </a:prstGeom>
          <a:solidFill>
            <a:srgbClr val="FFFFFF"/>
          </a:solidFill>
          <a:ln/>
          <a:effectLst>
            <a:outerShdw sx="100000" sy="100000" kx="0" ky="0" algn="bl" rotWithShape="0" blurRad="76200" dist="25400" dir="5400000">
              <a:srgbClr val="000000">
                <a:alpha val="10000"/>
              </a:srgbClr>
            </a:outerShdw>
          </a:effectLst>
        </p:spPr>
      </p:sp>
      <p:sp>
        <p:nvSpPr>
          <p:cNvPr id="5" name="Shape 3"/>
          <p:cNvSpPr/>
          <p:nvPr/>
        </p:nvSpPr>
        <p:spPr>
          <a:xfrm>
            <a:off x="822960" y="2011680"/>
            <a:ext cx="411480" cy="411480"/>
          </a:xfrm>
          <a:prstGeom prst="ellipse">
            <a:avLst/>
          </a:prstGeom>
          <a:solidFill>
            <a:srgbClr val="FBEBD2"/>
          </a:solidFill>
          <a:ln/>
        </p:spPr>
      </p:sp>
      <p:pic>
        <p:nvPicPr>
          <p:cNvPr id="6" name="Image 0" descr="preencoded.png">    </p:cNvPr>
          <p:cNvPicPr>
            <a:picLocks noChangeAspect="1"/>
          </p:cNvPicPr>
          <p:nvPr/>
        </p:nvPicPr>
        <p:blipFill>
          <a:blip r:embed="rId1"/>
          <a:stretch>
            <a:fillRect/>
          </a:stretch>
        </p:blipFill>
        <p:spPr>
          <a:xfrm>
            <a:off x="929945" y="2118665"/>
            <a:ext cx="197510" cy="197510"/>
          </a:xfrm>
          <a:prstGeom prst="rect">
            <a:avLst/>
          </a:prstGeom>
        </p:spPr>
      </p:pic>
      <p:sp>
        <p:nvSpPr>
          <p:cNvPr id="7" name="Text 4"/>
          <p:cNvSpPr/>
          <p:nvPr/>
        </p:nvSpPr>
        <p:spPr>
          <a:xfrm>
            <a:off x="822960" y="2468880"/>
            <a:ext cx="2240280" cy="502920"/>
          </a:xfrm>
          <a:prstGeom prst="rect">
            <a:avLst/>
          </a:prstGeom>
          <a:noFill/>
          <a:ln/>
        </p:spPr>
        <p:txBody>
          <a:bodyPr wrap="square" lIns="0" tIns="0" rIns="0" bIns="0" rtlCol="0" anchor="ctr"/>
          <a:lstStyle/>
          <a:p>
            <a:pPr indent="0" marL="0">
              <a:buNone/>
            </a:pPr>
            <a:r>
              <a:rPr lang="en-US" sz="1150" b="1" dirty="0">
                <a:solidFill>
                  <a:srgbClr val="1B2340"/>
                </a:solidFill>
                <a:latin typeface="Calibri" pitchFamily="34" charset="0"/>
                <a:ea typeface="Calibri" pitchFamily="34" charset="-122"/>
                <a:cs typeface="Calibri" pitchFamily="34" charset="-120"/>
              </a:rPr>
              <a:t>School enrollment &amp; count</a:t>
            </a:r>
            <a:endParaRPr lang="en-US" sz="1150" dirty="0"/>
          </a:p>
        </p:txBody>
      </p:sp>
      <p:sp>
        <p:nvSpPr>
          <p:cNvPr id="8" name="Shape 5"/>
          <p:cNvSpPr/>
          <p:nvPr/>
        </p:nvSpPr>
        <p:spPr>
          <a:xfrm>
            <a:off x="3429000" y="1828800"/>
            <a:ext cx="2606040" cy="1188720"/>
          </a:xfrm>
          <a:prstGeom prst="roundRect">
            <a:avLst>
              <a:gd name="adj" fmla="val 6154"/>
            </a:avLst>
          </a:prstGeom>
          <a:solidFill>
            <a:srgbClr val="FFFFFF"/>
          </a:solidFill>
          <a:ln/>
          <a:effectLst>
            <a:outerShdw sx="100000" sy="100000" kx="0" ky="0" algn="bl" rotWithShape="0" blurRad="76200" dist="25400" dir="5400000">
              <a:srgbClr val="000000">
                <a:alpha val="10000"/>
              </a:srgbClr>
            </a:outerShdw>
          </a:effectLst>
        </p:spPr>
      </p:sp>
      <p:sp>
        <p:nvSpPr>
          <p:cNvPr id="9" name="Shape 6"/>
          <p:cNvSpPr/>
          <p:nvPr/>
        </p:nvSpPr>
        <p:spPr>
          <a:xfrm>
            <a:off x="3611880" y="2011680"/>
            <a:ext cx="411480" cy="411480"/>
          </a:xfrm>
          <a:prstGeom prst="ellipse">
            <a:avLst/>
          </a:prstGeom>
          <a:solidFill>
            <a:srgbClr val="FBEBD2"/>
          </a:solidFill>
          <a:ln/>
        </p:spPr>
      </p:sp>
      <p:pic>
        <p:nvPicPr>
          <p:cNvPr id="10" name="Image 1" descr="preencoded.png">    </p:cNvPr>
          <p:cNvPicPr>
            <a:picLocks noChangeAspect="1"/>
          </p:cNvPicPr>
          <p:nvPr/>
        </p:nvPicPr>
        <p:blipFill>
          <a:blip r:embed="rId2"/>
          <a:stretch>
            <a:fillRect/>
          </a:stretch>
        </p:blipFill>
        <p:spPr>
          <a:xfrm>
            <a:off x="3718865" y="2118665"/>
            <a:ext cx="197510" cy="197510"/>
          </a:xfrm>
          <a:prstGeom prst="rect">
            <a:avLst/>
          </a:prstGeom>
        </p:spPr>
      </p:pic>
      <p:sp>
        <p:nvSpPr>
          <p:cNvPr id="11" name="Text 7"/>
          <p:cNvSpPr/>
          <p:nvPr/>
        </p:nvSpPr>
        <p:spPr>
          <a:xfrm>
            <a:off x="3611880" y="2468880"/>
            <a:ext cx="2240280" cy="502920"/>
          </a:xfrm>
          <a:prstGeom prst="rect">
            <a:avLst/>
          </a:prstGeom>
          <a:noFill/>
          <a:ln/>
        </p:spPr>
        <p:txBody>
          <a:bodyPr wrap="square" lIns="0" tIns="0" rIns="0" bIns="0" rtlCol="0" anchor="ctr"/>
          <a:lstStyle/>
          <a:p>
            <a:pPr indent="0" marL="0">
              <a:buNone/>
            </a:pPr>
            <a:r>
              <a:rPr lang="en-US" sz="1150" b="1" dirty="0">
                <a:solidFill>
                  <a:srgbClr val="1B2340"/>
                </a:solidFill>
                <a:latin typeface="Calibri" pitchFamily="34" charset="0"/>
                <a:ea typeface="Calibri" pitchFamily="34" charset="-122"/>
                <a:cs typeface="Calibri" pitchFamily="34" charset="-120"/>
              </a:rPr>
              <a:t>Travel distance to services</a:t>
            </a:r>
            <a:endParaRPr lang="en-US" sz="1150" dirty="0"/>
          </a:p>
        </p:txBody>
      </p:sp>
      <p:sp>
        <p:nvSpPr>
          <p:cNvPr id="12" name="Shape 8"/>
          <p:cNvSpPr/>
          <p:nvPr/>
        </p:nvSpPr>
        <p:spPr>
          <a:xfrm>
            <a:off x="6217920" y="1828800"/>
            <a:ext cx="2606040" cy="1188720"/>
          </a:xfrm>
          <a:prstGeom prst="roundRect">
            <a:avLst>
              <a:gd name="adj" fmla="val 6154"/>
            </a:avLst>
          </a:prstGeom>
          <a:solidFill>
            <a:srgbClr val="FFFFFF"/>
          </a:solidFill>
          <a:ln/>
          <a:effectLst>
            <a:outerShdw sx="100000" sy="100000" kx="0" ky="0" algn="bl" rotWithShape="0" blurRad="76200" dist="25400" dir="5400000">
              <a:srgbClr val="000000">
                <a:alpha val="10000"/>
              </a:srgbClr>
            </a:outerShdw>
          </a:effectLst>
        </p:spPr>
      </p:sp>
      <p:sp>
        <p:nvSpPr>
          <p:cNvPr id="13" name="Shape 9"/>
          <p:cNvSpPr/>
          <p:nvPr/>
        </p:nvSpPr>
        <p:spPr>
          <a:xfrm>
            <a:off x="6400800" y="2011680"/>
            <a:ext cx="411480" cy="411480"/>
          </a:xfrm>
          <a:prstGeom prst="ellipse">
            <a:avLst/>
          </a:prstGeom>
          <a:solidFill>
            <a:srgbClr val="FBEBD2"/>
          </a:solidFill>
          <a:ln/>
        </p:spPr>
      </p:sp>
      <p:pic>
        <p:nvPicPr>
          <p:cNvPr id="14" name="Image 2" descr="preencoded.png">    </p:cNvPr>
          <p:cNvPicPr>
            <a:picLocks noChangeAspect="1"/>
          </p:cNvPicPr>
          <p:nvPr/>
        </p:nvPicPr>
        <p:blipFill>
          <a:blip r:embed="rId3"/>
          <a:stretch>
            <a:fillRect/>
          </a:stretch>
        </p:blipFill>
        <p:spPr>
          <a:xfrm>
            <a:off x="6507785" y="2118665"/>
            <a:ext cx="197510" cy="197510"/>
          </a:xfrm>
          <a:prstGeom prst="rect">
            <a:avLst/>
          </a:prstGeom>
        </p:spPr>
      </p:pic>
      <p:sp>
        <p:nvSpPr>
          <p:cNvPr id="15" name="Text 10"/>
          <p:cNvSpPr/>
          <p:nvPr/>
        </p:nvSpPr>
        <p:spPr>
          <a:xfrm>
            <a:off x="6400800" y="2468880"/>
            <a:ext cx="2240280" cy="502920"/>
          </a:xfrm>
          <a:prstGeom prst="rect">
            <a:avLst/>
          </a:prstGeom>
          <a:noFill/>
          <a:ln/>
        </p:spPr>
        <p:txBody>
          <a:bodyPr wrap="square" lIns="0" tIns="0" rIns="0" bIns="0" rtlCol="0" anchor="ctr"/>
          <a:lstStyle/>
          <a:p>
            <a:pPr indent="0" marL="0">
              <a:buNone/>
            </a:pPr>
            <a:r>
              <a:rPr lang="en-US" sz="1150" b="1" dirty="0">
                <a:solidFill>
                  <a:srgbClr val="1B2340"/>
                </a:solidFill>
                <a:latin typeface="Calibri" pitchFamily="34" charset="0"/>
                <a:ea typeface="Calibri" pitchFamily="34" charset="-122"/>
                <a:cs typeface="Calibri" pitchFamily="34" charset="-120"/>
              </a:rPr>
              <a:t>Health centre coverage</a:t>
            </a:r>
            <a:endParaRPr lang="en-US" sz="1150" dirty="0"/>
          </a:p>
        </p:txBody>
      </p:sp>
      <p:sp>
        <p:nvSpPr>
          <p:cNvPr id="16" name="Shape 11"/>
          <p:cNvSpPr/>
          <p:nvPr/>
        </p:nvSpPr>
        <p:spPr>
          <a:xfrm>
            <a:off x="9006840" y="1828800"/>
            <a:ext cx="2606040" cy="1188720"/>
          </a:xfrm>
          <a:prstGeom prst="roundRect">
            <a:avLst>
              <a:gd name="adj" fmla="val 6154"/>
            </a:avLst>
          </a:prstGeom>
          <a:solidFill>
            <a:srgbClr val="FFFFFF"/>
          </a:solidFill>
          <a:ln/>
          <a:effectLst>
            <a:outerShdw sx="100000" sy="100000" kx="0" ky="0" algn="bl" rotWithShape="0" blurRad="76200" dist="25400" dir="5400000">
              <a:srgbClr val="000000">
                <a:alpha val="10000"/>
              </a:srgbClr>
            </a:outerShdw>
          </a:effectLst>
        </p:spPr>
      </p:sp>
      <p:sp>
        <p:nvSpPr>
          <p:cNvPr id="17" name="Shape 12"/>
          <p:cNvSpPr/>
          <p:nvPr/>
        </p:nvSpPr>
        <p:spPr>
          <a:xfrm>
            <a:off x="9189720" y="2011680"/>
            <a:ext cx="411480" cy="411480"/>
          </a:xfrm>
          <a:prstGeom prst="ellipse">
            <a:avLst/>
          </a:prstGeom>
          <a:solidFill>
            <a:srgbClr val="FBEBD2"/>
          </a:solidFill>
          <a:ln/>
        </p:spPr>
      </p:sp>
      <p:pic>
        <p:nvPicPr>
          <p:cNvPr id="18" name="Image 3" descr="preencoded.png">    </p:cNvPr>
          <p:cNvPicPr>
            <a:picLocks noChangeAspect="1"/>
          </p:cNvPicPr>
          <p:nvPr/>
        </p:nvPicPr>
        <p:blipFill>
          <a:blip r:embed="rId4"/>
          <a:stretch>
            <a:fillRect/>
          </a:stretch>
        </p:blipFill>
        <p:spPr>
          <a:xfrm>
            <a:off x="9296705" y="2118665"/>
            <a:ext cx="197510" cy="197510"/>
          </a:xfrm>
          <a:prstGeom prst="rect">
            <a:avLst/>
          </a:prstGeom>
        </p:spPr>
      </p:pic>
      <p:sp>
        <p:nvSpPr>
          <p:cNvPr id="19" name="Text 13"/>
          <p:cNvSpPr/>
          <p:nvPr/>
        </p:nvSpPr>
        <p:spPr>
          <a:xfrm>
            <a:off x="9189720" y="2468880"/>
            <a:ext cx="2240280" cy="502920"/>
          </a:xfrm>
          <a:prstGeom prst="rect">
            <a:avLst/>
          </a:prstGeom>
          <a:noFill/>
          <a:ln/>
        </p:spPr>
        <p:txBody>
          <a:bodyPr wrap="square" lIns="0" tIns="0" rIns="0" bIns="0" rtlCol="0" anchor="ctr"/>
          <a:lstStyle/>
          <a:p>
            <a:pPr indent="0" marL="0">
              <a:buNone/>
            </a:pPr>
            <a:r>
              <a:rPr lang="en-US" sz="1150" b="1" dirty="0">
                <a:solidFill>
                  <a:srgbClr val="1B2340"/>
                </a:solidFill>
                <a:latin typeface="Calibri" pitchFamily="34" charset="0"/>
                <a:ea typeface="Calibri" pitchFamily="34" charset="-122"/>
                <a:cs typeface="Calibri" pitchFamily="34" charset="-120"/>
              </a:rPr>
              <a:t>Water access %</a:t>
            </a:r>
            <a:endParaRPr lang="en-US" sz="1150" dirty="0"/>
          </a:p>
        </p:txBody>
      </p:sp>
      <p:sp>
        <p:nvSpPr>
          <p:cNvPr id="20" name="Shape 14"/>
          <p:cNvSpPr/>
          <p:nvPr/>
        </p:nvSpPr>
        <p:spPr>
          <a:xfrm>
            <a:off x="640080" y="3200400"/>
            <a:ext cx="2606040" cy="1188720"/>
          </a:xfrm>
          <a:prstGeom prst="roundRect">
            <a:avLst>
              <a:gd name="adj" fmla="val 6154"/>
            </a:avLst>
          </a:prstGeom>
          <a:solidFill>
            <a:srgbClr val="FFFFFF"/>
          </a:solidFill>
          <a:ln/>
          <a:effectLst>
            <a:outerShdw sx="100000" sy="100000" kx="0" ky="0" algn="bl" rotWithShape="0" blurRad="76200" dist="25400" dir="5400000">
              <a:srgbClr val="000000">
                <a:alpha val="10000"/>
              </a:srgbClr>
            </a:outerShdw>
          </a:effectLst>
        </p:spPr>
      </p:sp>
      <p:sp>
        <p:nvSpPr>
          <p:cNvPr id="21" name="Shape 15"/>
          <p:cNvSpPr/>
          <p:nvPr/>
        </p:nvSpPr>
        <p:spPr>
          <a:xfrm>
            <a:off x="822960" y="3383280"/>
            <a:ext cx="411480" cy="411480"/>
          </a:xfrm>
          <a:prstGeom prst="ellipse">
            <a:avLst/>
          </a:prstGeom>
          <a:solidFill>
            <a:srgbClr val="FBEBD2"/>
          </a:solidFill>
          <a:ln/>
        </p:spPr>
      </p:sp>
      <p:pic>
        <p:nvPicPr>
          <p:cNvPr id="22" name="Image 4" descr="preencoded.png">    </p:cNvPr>
          <p:cNvPicPr>
            <a:picLocks noChangeAspect="1"/>
          </p:cNvPicPr>
          <p:nvPr/>
        </p:nvPicPr>
        <p:blipFill>
          <a:blip r:embed="rId5"/>
          <a:stretch>
            <a:fillRect/>
          </a:stretch>
        </p:blipFill>
        <p:spPr>
          <a:xfrm>
            <a:off x="929945" y="3490265"/>
            <a:ext cx="197510" cy="197510"/>
          </a:xfrm>
          <a:prstGeom prst="rect">
            <a:avLst/>
          </a:prstGeom>
        </p:spPr>
      </p:pic>
      <p:sp>
        <p:nvSpPr>
          <p:cNvPr id="23" name="Text 16"/>
          <p:cNvSpPr/>
          <p:nvPr/>
        </p:nvSpPr>
        <p:spPr>
          <a:xfrm>
            <a:off x="822960" y="3840480"/>
            <a:ext cx="2240280" cy="502920"/>
          </a:xfrm>
          <a:prstGeom prst="rect">
            <a:avLst/>
          </a:prstGeom>
          <a:noFill/>
          <a:ln/>
        </p:spPr>
        <p:txBody>
          <a:bodyPr wrap="square" lIns="0" tIns="0" rIns="0" bIns="0" rtlCol="0" anchor="ctr"/>
          <a:lstStyle/>
          <a:p>
            <a:pPr indent="0" marL="0">
              <a:buNone/>
            </a:pPr>
            <a:r>
              <a:rPr lang="en-US" sz="1150" b="1" dirty="0">
                <a:solidFill>
                  <a:srgbClr val="1B2340"/>
                </a:solidFill>
                <a:latin typeface="Calibri" pitchFamily="34" charset="0"/>
                <a:ea typeface="Calibri" pitchFamily="34" charset="-122"/>
                <a:cs typeface="Calibri" pitchFamily="34" charset="-120"/>
              </a:rPr>
              <a:t>Electrification %</a:t>
            </a:r>
            <a:endParaRPr lang="en-US" sz="1150" dirty="0"/>
          </a:p>
        </p:txBody>
      </p:sp>
      <p:sp>
        <p:nvSpPr>
          <p:cNvPr id="24" name="Shape 17"/>
          <p:cNvSpPr/>
          <p:nvPr/>
        </p:nvSpPr>
        <p:spPr>
          <a:xfrm>
            <a:off x="3429000" y="3200400"/>
            <a:ext cx="2606040" cy="1188720"/>
          </a:xfrm>
          <a:prstGeom prst="roundRect">
            <a:avLst>
              <a:gd name="adj" fmla="val 6154"/>
            </a:avLst>
          </a:prstGeom>
          <a:solidFill>
            <a:srgbClr val="FFFFFF"/>
          </a:solidFill>
          <a:ln/>
          <a:effectLst>
            <a:outerShdw sx="100000" sy="100000" kx="0" ky="0" algn="bl" rotWithShape="0" blurRad="76200" dist="25400" dir="5400000">
              <a:srgbClr val="000000">
                <a:alpha val="10000"/>
              </a:srgbClr>
            </a:outerShdw>
          </a:effectLst>
        </p:spPr>
      </p:sp>
      <p:sp>
        <p:nvSpPr>
          <p:cNvPr id="25" name="Shape 18"/>
          <p:cNvSpPr/>
          <p:nvPr/>
        </p:nvSpPr>
        <p:spPr>
          <a:xfrm>
            <a:off x="3611880" y="3383280"/>
            <a:ext cx="411480" cy="411480"/>
          </a:xfrm>
          <a:prstGeom prst="ellipse">
            <a:avLst/>
          </a:prstGeom>
          <a:solidFill>
            <a:srgbClr val="FBEBD2"/>
          </a:solidFill>
          <a:ln/>
        </p:spPr>
      </p:sp>
      <p:pic>
        <p:nvPicPr>
          <p:cNvPr id="26" name="Image 5" descr="preencoded.png">    </p:cNvPr>
          <p:cNvPicPr>
            <a:picLocks noChangeAspect="1"/>
          </p:cNvPicPr>
          <p:nvPr/>
        </p:nvPicPr>
        <p:blipFill>
          <a:blip r:embed="rId6"/>
          <a:stretch>
            <a:fillRect/>
          </a:stretch>
        </p:blipFill>
        <p:spPr>
          <a:xfrm>
            <a:off x="3718865" y="3490265"/>
            <a:ext cx="197510" cy="197510"/>
          </a:xfrm>
          <a:prstGeom prst="rect">
            <a:avLst/>
          </a:prstGeom>
        </p:spPr>
      </p:pic>
      <p:sp>
        <p:nvSpPr>
          <p:cNvPr id="27" name="Text 19"/>
          <p:cNvSpPr/>
          <p:nvPr/>
        </p:nvSpPr>
        <p:spPr>
          <a:xfrm>
            <a:off x="3611880" y="3840480"/>
            <a:ext cx="2240280" cy="502920"/>
          </a:xfrm>
          <a:prstGeom prst="rect">
            <a:avLst/>
          </a:prstGeom>
          <a:noFill/>
          <a:ln/>
        </p:spPr>
        <p:txBody>
          <a:bodyPr wrap="square" lIns="0" tIns="0" rIns="0" bIns="0" rtlCol="0" anchor="ctr"/>
          <a:lstStyle/>
          <a:p>
            <a:pPr indent="0" marL="0">
              <a:buNone/>
            </a:pPr>
            <a:r>
              <a:rPr lang="en-US" sz="1150" b="1" dirty="0">
                <a:solidFill>
                  <a:srgbClr val="1B2340"/>
                </a:solidFill>
                <a:latin typeface="Calibri" pitchFamily="34" charset="0"/>
                <a:ea typeface="Calibri" pitchFamily="34" charset="-122"/>
                <a:cs typeface="Calibri" pitchFamily="34" charset="-120"/>
              </a:rPr>
              <a:t>Road condition index</a:t>
            </a:r>
            <a:endParaRPr lang="en-US" sz="1150" dirty="0"/>
          </a:p>
        </p:txBody>
      </p:sp>
      <p:sp>
        <p:nvSpPr>
          <p:cNvPr id="28" name="Shape 20"/>
          <p:cNvSpPr/>
          <p:nvPr/>
        </p:nvSpPr>
        <p:spPr>
          <a:xfrm>
            <a:off x="6217920" y="3200400"/>
            <a:ext cx="2606040" cy="1188720"/>
          </a:xfrm>
          <a:prstGeom prst="roundRect">
            <a:avLst>
              <a:gd name="adj" fmla="val 6154"/>
            </a:avLst>
          </a:prstGeom>
          <a:solidFill>
            <a:srgbClr val="FFFFFF"/>
          </a:solidFill>
          <a:ln/>
          <a:effectLst>
            <a:outerShdw sx="100000" sy="100000" kx="0" ky="0" algn="bl" rotWithShape="0" blurRad="76200" dist="25400" dir="5400000">
              <a:srgbClr val="000000">
                <a:alpha val="10000"/>
              </a:srgbClr>
            </a:outerShdw>
          </a:effectLst>
        </p:spPr>
      </p:sp>
      <p:sp>
        <p:nvSpPr>
          <p:cNvPr id="29" name="Shape 21"/>
          <p:cNvSpPr/>
          <p:nvPr/>
        </p:nvSpPr>
        <p:spPr>
          <a:xfrm>
            <a:off x="6400800" y="3383280"/>
            <a:ext cx="411480" cy="411480"/>
          </a:xfrm>
          <a:prstGeom prst="ellipse">
            <a:avLst/>
          </a:prstGeom>
          <a:solidFill>
            <a:srgbClr val="FBEBD2"/>
          </a:solidFill>
          <a:ln/>
        </p:spPr>
      </p:sp>
      <p:pic>
        <p:nvPicPr>
          <p:cNvPr id="30" name="Image 6" descr="preencoded.png">    </p:cNvPr>
          <p:cNvPicPr>
            <a:picLocks noChangeAspect="1"/>
          </p:cNvPicPr>
          <p:nvPr/>
        </p:nvPicPr>
        <p:blipFill>
          <a:blip r:embed="rId7"/>
          <a:stretch>
            <a:fillRect/>
          </a:stretch>
        </p:blipFill>
        <p:spPr>
          <a:xfrm>
            <a:off x="6507785" y="3490265"/>
            <a:ext cx="197510" cy="197510"/>
          </a:xfrm>
          <a:prstGeom prst="rect">
            <a:avLst/>
          </a:prstGeom>
        </p:spPr>
      </p:pic>
      <p:sp>
        <p:nvSpPr>
          <p:cNvPr id="31" name="Text 22"/>
          <p:cNvSpPr/>
          <p:nvPr/>
        </p:nvSpPr>
        <p:spPr>
          <a:xfrm>
            <a:off x="6400800" y="3840480"/>
            <a:ext cx="2240280" cy="502920"/>
          </a:xfrm>
          <a:prstGeom prst="rect">
            <a:avLst/>
          </a:prstGeom>
          <a:noFill/>
          <a:ln/>
        </p:spPr>
        <p:txBody>
          <a:bodyPr wrap="square" lIns="0" tIns="0" rIns="0" bIns="0" rtlCol="0" anchor="ctr"/>
          <a:lstStyle/>
          <a:p>
            <a:pPr indent="0" marL="0">
              <a:buNone/>
            </a:pPr>
            <a:r>
              <a:rPr lang="en-US" sz="1150" b="1" dirty="0">
                <a:solidFill>
                  <a:srgbClr val="1B2340"/>
                </a:solidFill>
                <a:latin typeface="Calibri" pitchFamily="34" charset="0"/>
                <a:ea typeface="Calibri" pitchFamily="34" charset="-122"/>
                <a:cs typeface="Calibri" pitchFamily="34" charset="-120"/>
              </a:rPr>
              <a:t>Unemployment rate</a:t>
            </a:r>
            <a:endParaRPr lang="en-US" sz="1150" dirty="0"/>
          </a:p>
        </p:txBody>
      </p:sp>
      <p:sp>
        <p:nvSpPr>
          <p:cNvPr id="32" name="Shape 23"/>
          <p:cNvSpPr/>
          <p:nvPr/>
        </p:nvSpPr>
        <p:spPr>
          <a:xfrm>
            <a:off x="9006840" y="3200400"/>
            <a:ext cx="2606040" cy="1188720"/>
          </a:xfrm>
          <a:prstGeom prst="roundRect">
            <a:avLst>
              <a:gd name="adj" fmla="val 6154"/>
            </a:avLst>
          </a:prstGeom>
          <a:solidFill>
            <a:srgbClr val="FFFFFF"/>
          </a:solidFill>
          <a:ln/>
          <a:effectLst>
            <a:outerShdw sx="100000" sy="100000" kx="0" ky="0" algn="bl" rotWithShape="0" blurRad="76200" dist="25400" dir="5400000">
              <a:srgbClr val="000000">
                <a:alpha val="10000"/>
              </a:srgbClr>
            </a:outerShdw>
          </a:effectLst>
        </p:spPr>
      </p:sp>
      <p:sp>
        <p:nvSpPr>
          <p:cNvPr id="33" name="Shape 24"/>
          <p:cNvSpPr/>
          <p:nvPr/>
        </p:nvSpPr>
        <p:spPr>
          <a:xfrm>
            <a:off x="9189720" y="3383280"/>
            <a:ext cx="411480" cy="411480"/>
          </a:xfrm>
          <a:prstGeom prst="ellipse">
            <a:avLst/>
          </a:prstGeom>
          <a:solidFill>
            <a:srgbClr val="FBEBD2"/>
          </a:solidFill>
          <a:ln/>
        </p:spPr>
      </p:sp>
      <p:pic>
        <p:nvPicPr>
          <p:cNvPr id="34" name="Image 7" descr="preencoded.png">    </p:cNvPr>
          <p:cNvPicPr>
            <a:picLocks noChangeAspect="1"/>
          </p:cNvPicPr>
          <p:nvPr/>
        </p:nvPicPr>
        <p:blipFill>
          <a:blip r:embed="rId8"/>
          <a:stretch>
            <a:fillRect/>
          </a:stretch>
        </p:blipFill>
        <p:spPr>
          <a:xfrm>
            <a:off x="9296705" y="3490265"/>
            <a:ext cx="197510" cy="197510"/>
          </a:xfrm>
          <a:prstGeom prst="rect">
            <a:avLst/>
          </a:prstGeom>
        </p:spPr>
      </p:pic>
      <p:sp>
        <p:nvSpPr>
          <p:cNvPr id="35" name="Text 25"/>
          <p:cNvSpPr/>
          <p:nvPr/>
        </p:nvSpPr>
        <p:spPr>
          <a:xfrm>
            <a:off x="9189720" y="3840480"/>
            <a:ext cx="2240280" cy="502920"/>
          </a:xfrm>
          <a:prstGeom prst="rect">
            <a:avLst/>
          </a:prstGeom>
          <a:noFill/>
          <a:ln/>
        </p:spPr>
        <p:txBody>
          <a:bodyPr wrap="square" lIns="0" tIns="0" rIns="0" bIns="0" rtlCol="0" anchor="ctr"/>
          <a:lstStyle/>
          <a:p>
            <a:pPr indent="0" marL="0">
              <a:buNone/>
            </a:pPr>
            <a:r>
              <a:rPr lang="en-US" sz="1150" b="1" dirty="0">
                <a:solidFill>
                  <a:srgbClr val="1B2340"/>
                </a:solidFill>
                <a:latin typeface="Calibri" pitchFamily="34" charset="0"/>
                <a:ea typeface="Calibri" pitchFamily="34" charset="-122"/>
                <a:cs typeface="Calibri" pitchFamily="34" charset="-120"/>
              </a:rPr>
              <a:t>Literacy rate</a:t>
            </a:r>
            <a:endParaRPr lang="en-US" sz="1150" dirty="0"/>
          </a:p>
        </p:txBody>
      </p:sp>
      <p:sp>
        <p:nvSpPr>
          <p:cNvPr id="36" name="Shape 26"/>
          <p:cNvSpPr/>
          <p:nvPr/>
        </p:nvSpPr>
        <p:spPr>
          <a:xfrm>
            <a:off x="640080" y="5349240"/>
            <a:ext cx="10881360" cy="960120"/>
          </a:xfrm>
          <a:prstGeom prst="roundRect">
            <a:avLst>
              <a:gd name="adj" fmla="val 8571"/>
            </a:avLst>
          </a:prstGeom>
          <a:solidFill>
            <a:srgbClr val="1B2340"/>
          </a:solidFill>
          <a:ln/>
        </p:spPr>
      </p:sp>
      <p:sp>
        <p:nvSpPr>
          <p:cNvPr id="37" name="Text 27"/>
          <p:cNvSpPr/>
          <p:nvPr/>
        </p:nvSpPr>
        <p:spPr>
          <a:xfrm>
            <a:off x="914400" y="5349240"/>
            <a:ext cx="10332720" cy="960120"/>
          </a:xfrm>
          <a:prstGeom prst="rect">
            <a:avLst/>
          </a:prstGeom>
          <a:noFill/>
          <a:ln/>
        </p:spPr>
        <p:txBody>
          <a:bodyPr wrap="square" lIns="0" tIns="0" rIns="0" bIns="0" rtlCol="0" anchor="ctr"/>
          <a:lstStyle/>
          <a:p>
            <a:pPr indent="0" marL="0">
              <a:buNone/>
            </a:pPr>
            <a:r>
              <a:rPr lang="en-US" sz="1450" b="1" dirty="0">
                <a:solidFill>
                  <a:srgbClr val="E8A33D"/>
                </a:solidFill>
                <a:latin typeface="Calibri" pitchFamily="34" charset="0"/>
                <a:ea typeface="Calibri" pitchFamily="34" charset="-122"/>
                <a:cs typeface="Calibri" pitchFamily="34" charset="-120"/>
              </a:rPr>
              <a:t>This is what separates ranking from ranting: </a:t>
            </a:r>
            <a:pPr indent="0" marL="0">
              <a:buNone/>
            </a:pPr>
            <a:r>
              <a:rPr lang="en-US" sz="1450" dirty="0">
                <a:solidFill>
                  <a:srgbClr val="FFFFFF"/>
                </a:solidFill>
                <a:latin typeface="Calibri" pitchFamily="34" charset="0"/>
                <a:ea typeface="Calibri" pitchFamily="34" charset="-122"/>
                <a:cs typeface="Calibri" pitchFamily="34" charset="-120"/>
              </a:rPr>
              <a:t>citizen sentiment alone can't tell you which ward is genuinely underserved — the data can.</a:t>
            </a:r>
            <a:endParaRPr lang="en-US" sz="14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5F0"/>
        </a:solidFill>
      </p:bgPr>
    </p:bg>
    <p:spTree>
      <p:nvGrpSpPr>
        <p:cNvPr id="1" name=""/>
        <p:cNvGrpSpPr/>
        <p:nvPr/>
      </p:nvGrpSpPr>
      <p:grpSpPr>
        <a:xfrm>
          <a:off x="0" y="0"/>
          <a:ext cx="0" cy="0"/>
          <a:chOff x="0" y="0"/>
          <a:chExt cx="0" cy="0"/>
        </a:xfrm>
      </p:grpSpPr>
      <p:sp>
        <p:nvSpPr>
          <p:cNvPr id="2" name="Text 0"/>
          <p:cNvSpPr/>
          <p:nvPr/>
        </p:nvSpPr>
        <p:spPr>
          <a:xfrm>
            <a:off x="640080" y="457200"/>
            <a:ext cx="5486400" cy="365760"/>
          </a:xfrm>
          <a:prstGeom prst="rect">
            <a:avLst/>
          </a:prstGeom>
          <a:noFill/>
          <a:ln/>
        </p:spPr>
        <p:txBody>
          <a:bodyPr wrap="square" lIns="0" tIns="0" rIns="0" bIns="0" rtlCol="0" anchor="ctr"/>
          <a:lstStyle/>
          <a:p>
            <a:pPr indent="0" marL="0">
              <a:buNone/>
            </a:pPr>
            <a:r>
              <a:rPr lang="en-US" sz="1300" b="1" spc="200" kern="0" dirty="0">
                <a:solidFill>
                  <a:srgbClr val="C97E1E"/>
                </a:solidFill>
                <a:latin typeface="Calibri" pitchFamily="34" charset="0"/>
                <a:ea typeface="Calibri" pitchFamily="34" charset="-122"/>
                <a:cs typeface="Calibri" pitchFamily="34" charset="-120"/>
              </a:rPr>
              <a:t>UNDER THE HOOD</a:t>
            </a:r>
            <a:endParaRPr lang="en-US" sz="1300" dirty="0"/>
          </a:p>
        </p:txBody>
      </p:sp>
      <p:sp>
        <p:nvSpPr>
          <p:cNvPr id="3" name="Text 1"/>
          <p:cNvSpPr/>
          <p:nvPr/>
        </p:nvSpPr>
        <p:spPr>
          <a:xfrm>
            <a:off x="640080" y="777240"/>
            <a:ext cx="7315200" cy="640080"/>
          </a:xfrm>
          <a:prstGeom prst="rect">
            <a:avLst/>
          </a:prstGeom>
          <a:noFill/>
          <a:ln/>
        </p:spPr>
        <p:txBody>
          <a:bodyPr wrap="square" lIns="0" tIns="0" rIns="0" bIns="0" rtlCol="0" anchor="ctr"/>
          <a:lstStyle/>
          <a:p>
            <a:pPr indent="0" marL="0">
              <a:buNone/>
            </a:pPr>
            <a:r>
              <a:rPr lang="en-US" sz="3000" b="1" dirty="0">
                <a:solidFill>
                  <a:srgbClr val="1B2340"/>
                </a:solidFill>
                <a:latin typeface="Cambria" pitchFamily="34" charset="0"/>
                <a:ea typeface="Cambria" pitchFamily="34" charset="-122"/>
                <a:cs typeface="Cambria" pitchFamily="34" charset="-120"/>
              </a:rPr>
              <a:t>Architecture &amp; tech stack</a:t>
            </a:r>
            <a:endParaRPr lang="en-US" sz="3000" dirty="0"/>
          </a:p>
        </p:txBody>
      </p:sp>
      <p:sp>
        <p:nvSpPr>
          <p:cNvPr id="4" name="Shape 2"/>
          <p:cNvSpPr/>
          <p:nvPr/>
        </p:nvSpPr>
        <p:spPr>
          <a:xfrm>
            <a:off x="640080" y="1691640"/>
            <a:ext cx="1645920" cy="1463040"/>
          </a:xfrm>
          <a:prstGeom prst="roundRect">
            <a:avLst>
              <a:gd name="adj" fmla="val 5625"/>
            </a:avLst>
          </a:prstGeom>
          <a:solidFill>
            <a:srgbClr val="FFFFFF"/>
          </a:solidFill>
          <a:ln/>
          <a:effectLst>
            <a:outerShdw sx="100000" sy="100000" kx="0" ky="0" algn="bl" rotWithShape="0" blurRad="76200" dist="25400" dir="5400000">
              <a:srgbClr val="000000">
                <a:alpha val="10000"/>
              </a:srgbClr>
            </a:outerShdw>
          </a:effectLst>
        </p:spPr>
      </p:sp>
      <p:sp>
        <p:nvSpPr>
          <p:cNvPr id="5" name="Shape 3"/>
          <p:cNvSpPr/>
          <p:nvPr/>
        </p:nvSpPr>
        <p:spPr>
          <a:xfrm>
            <a:off x="1211580" y="1874520"/>
            <a:ext cx="502920" cy="502920"/>
          </a:xfrm>
          <a:prstGeom prst="ellipse">
            <a:avLst/>
          </a:prstGeom>
          <a:solidFill>
            <a:srgbClr val="FBEBD2"/>
          </a:solidFill>
          <a:ln/>
        </p:spPr>
      </p:sp>
      <p:pic>
        <p:nvPicPr>
          <p:cNvPr id="6" name="Image 0" descr="preencoded.png">    </p:cNvPr>
          <p:cNvPicPr>
            <a:picLocks noChangeAspect="1"/>
          </p:cNvPicPr>
          <p:nvPr/>
        </p:nvPicPr>
        <p:blipFill>
          <a:blip r:embed="rId1"/>
          <a:stretch>
            <a:fillRect/>
          </a:stretch>
        </p:blipFill>
        <p:spPr>
          <a:xfrm>
            <a:off x="1342339" y="2005279"/>
            <a:ext cx="241402" cy="241402"/>
          </a:xfrm>
          <a:prstGeom prst="rect">
            <a:avLst/>
          </a:prstGeom>
        </p:spPr>
      </p:pic>
      <p:sp>
        <p:nvSpPr>
          <p:cNvPr id="7" name="Text 4"/>
          <p:cNvSpPr/>
          <p:nvPr/>
        </p:nvSpPr>
        <p:spPr>
          <a:xfrm>
            <a:off x="731520" y="2468880"/>
            <a:ext cx="1463040" cy="640080"/>
          </a:xfrm>
          <a:prstGeom prst="rect">
            <a:avLst/>
          </a:prstGeom>
          <a:noFill/>
          <a:ln/>
        </p:spPr>
        <p:txBody>
          <a:bodyPr wrap="square" lIns="0" tIns="0" rIns="0" bIns="0" rtlCol="0" anchor="ctr"/>
          <a:lstStyle/>
          <a:p>
            <a:pPr algn="ctr" indent="0" marL="0">
              <a:buNone/>
            </a:pPr>
            <a:r>
              <a:rPr lang="en-US" sz="1050" b="1" dirty="0">
                <a:solidFill>
                  <a:srgbClr val="1B2340"/>
                </a:solidFill>
                <a:latin typeface="Calibri" pitchFamily="34" charset="0"/>
                <a:ea typeface="Calibri" pitchFamily="34" charset="-122"/>
                <a:cs typeface="Calibri" pitchFamily="34" charset="-120"/>
              </a:rPr>
              <a:t>Citizens</a:t>
            </a:r>
            <a:endParaRPr lang="en-US" sz="1050" dirty="0"/>
          </a:p>
        </p:txBody>
      </p:sp>
      <p:sp>
        <p:nvSpPr>
          <p:cNvPr id="8" name="Text 5"/>
          <p:cNvSpPr/>
          <p:nvPr/>
        </p:nvSpPr>
        <p:spPr>
          <a:xfrm>
            <a:off x="2304288" y="2194560"/>
            <a:ext cx="557784" cy="457200"/>
          </a:xfrm>
          <a:prstGeom prst="rect">
            <a:avLst/>
          </a:prstGeom>
          <a:noFill/>
          <a:ln/>
        </p:spPr>
        <p:txBody>
          <a:bodyPr wrap="square" lIns="0" tIns="0" rIns="0" bIns="0" rtlCol="0" anchor="ctr"/>
          <a:lstStyle/>
          <a:p>
            <a:pPr algn="ctr" indent="0" marL="0">
              <a:buNone/>
            </a:pPr>
            <a:r>
              <a:rPr lang="en-US" sz="1800" dirty="0">
                <a:solidFill>
                  <a:srgbClr val="6B7A99"/>
                </a:solidFill>
                <a:latin typeface="Arial" pitchFamily="34" charset="0"/>
                <a:ea typeface="Arial" pitchFamily="34" charset="-122"/>
                <a:cs typeface="Arial" pitchFamily="34" charset="-120"/>
              </a:rPr>
              <a:t>→</a:t>
            </a:r>
            <a:endParaRPr lang="en-US" sz="1800" dirty="0"/>
          </a:p>
        </p:txBody>
      </p:sp>
      <p:sp>
        <p:nvSpPr>
          <p:cNvPr id="9" name="Shape 6"/>
          <p:cNvSpPr/>
          <p:nvPr/>
        </p:nvSpPr>
        <p:spPr>
          <a:xfrm>
            <a:off x="2880360" y="1691640"/>
            <a:ext cx="1874520" cy="1463040"/>
          </a:xfrm>
          <a:prstGeom prst="roundRect">
            <a:avLst>
              <a:gd name="adj" fmla="val 5625"/>
            </a:avLst>
          </a:prstGeom>
          <a:solidFill>
            <a:srgbClr val="FFFFFF"/>
          </a:solidFill>
          <a:ln/>
          <a:effectLst>
            <a:outerShdw sx="100000" sy="100000" kx="0" ky="0" algn="bl" rotWithShape="0" blurRad="76200" dist="25400" dir="5400000">
              <a:srgbClr val="000000">
                <a:alpha val="10000"/>
              </a:srgbClr>
            </a:outerShdw>
          </a:effectLst>
        </p:spPr>
      </p:sp>
      <p:sp>
        <p:nvSpPr>
          <p:cNvPr id="10" name="Shape 7"/>
          <p:cNvSpPr/>
          <p:nvPr/>
        </p:nvSpPr>
        <p:spPr>
          <a:xfrm>
            <a:off x="3566160" y="1874520"/>
            <a:ext cx="502920" cy="502920"/>
          </a:xfrm>
          <a:prstGeom prst="ellipse">
            <a:avLst/>
          </a:prstGeom>
          <a:solidFill>
            <a:srgbClr val="FBEBD2"/>
          </a:solidFill>
          <a:ln/>
        </p:spPr>
      </p:sp>
      <p:pic>
        <p:nvPicPr>
          <p:cNvPr id="11" name="Image 1" descr="preencoded.png">    </p:cNvPr>
          <p:cNvPicPr>
            <a:picLocks noChangeAspect="1"/>
          </p:cNvPicPr>
          <p:nvPr/>
        </p:nvPicPr>
        <p:blipFill>
          <a:blip r:embed="rId2"/>
          <a:stretch>
            <a:fillRect/>
          </a:stretch>
        </p:blipFill>
        <p:spPr>
          <a:xfrm>
            <a:off x="3696919" y="2005279"/>
            <a:ext cx="241402" cy="241402"/>
          </a:xfrm>
          <a:prstGeom prst="rect">
            <a:avLst/>
          </a:prstGeom>
        </p:spPr>
      </p:pic>
      <p:sp>
        <p:nvSpPr>
          <p:cNvPr id="12" name="Text 8"/>
          <p:cNvSpPr/>
          <p:nvPr/>
        </p:nvSpPr>
        <p:spPr>
          <a:xfrm>
            <a:off x="2971800" y="2468880"/>
            <a:ext cx="1691640" cy="640080"/>
          </a:xfrm>
          <a:prstGeom prst="rect">
            <a:avLst/>
          </a:prstGeom>
          <a:noFill/>
          <a:ln/>
        </p:spPr>
        <p:txBody>
          <a:bodyPr wrap="square" lIns="0" tIns="0" rIns="0" bIns="0" rtlCol="0" anchor="ctr"/>
          <a:lstStyle/>
          <a:p>
            <a:pPr algn="ctr" indent="0" marL="0">
              <a:buNone/>
            </a:pPr>
            <a:r>
              <a:rPr lang="en-US" sz="1050" b="1" dirty="0">
                <a:solidFill>
                  <a:srgbClr val="1B2340"/>
                </a:solidFill>
                <a:latin typeface="Calibri" pitchFamily="34" charset="0"/>
                <a:ea typeface="Calibri" pitchFamily="34" charset="-122"/>
                <a:cs typeface="Calibri" pitchFamily="34" charset="-120"/>
              </a:rPr>
              <a:t>Next.js App</a:t>
            </a:r>
            <a:endParaRPr lang="en-US" sz="1050" dirty="0"/>
          </a:p>
          <a:p>
            <a:pPr algn="ctr" indent="0" marL="0">
              <a:buNone/>
            </a:pPr>
            <a:r>
              <a:rPr lang="en-US" sz="1050" b="1" dirty="0">
                <a:solidFill>
                  <a:srgbClr val="1B2340"/>
                </a:solidFill>
                <a:latin typeface="Calibri" pitchFamily="34" charset="0"/>
                <a:ea typeface="Calibri" pitchFamily="34" charset="-122"/>
                <a:cs typeface="Calibri" pitchFamily="34" charset="-120"/>
              </a:rPr>
              <a:t>(Portal + Dashboard)</a:t>
            </a:r>
            <a:endParaRPr lang="en-US" sz="1050" dirty="0"/>
          </a:p>
        </p:txBody>
      </p:sp>
      <p:sp>
        <p:nvSpPr>
          <p:cNvPr id="13" name="Text 9"/>
          <p:cNvSpPr/>
          <p:nvPr/>
        </p:nvSpPr>
        <p:spPr>
          <a:xfrm>
            <a:off x="4773168" y="2194560"/>
            <a:ext cx="603504" cy="457200"/>
          </a:xfrm>
          <a:prstGeom prst="rect">
            <a:avLst/>
          </a:prstGeom>
          <a:noFill/>
          <a:ln/>
        </p:spPr>
        <p:txBody>
          <a:bodyPr wrap="square" lIns="0" tIns="0" rIns="0" bIns="0" rtlCol="0" anchor="ctr"/>
          <a:lstStyle/>
          <a:p>
            <a:pPr algn="ctr" indent="0" marL="0">
              <a:buNone/>
            </a:pPr>
            <a:r>
              <a:rPr lang="en-US" sz="1800" dirty="0">
                <a:solidFill>
                  <a:srgbClr val="6B7A99"/>
                </a:solidFill>
                <a:latin typeface="Arial" pitchFamily="34" charset="0"/>
                <a:ea typeface="Arial" pitchFamily="34" charset="-122"/>
                <a:cs typeface="Arial" pitchFamily="34" charset="-120"/>
              </a:rPr>
              <a:t>→</a:t>
            </a:r>
            <a:endParaRPr lang="en-US" sz="1800" dirty="0"/>
          </a:p>
        </p:txBody>
      </p:sp>
      <p:sp>
        <p:nvSpPr>
          <p:cNvPr id="14" name="Shape 10"/>
          <p:cNvSpPr/>
          <p:nvPr/>
        </p:nvSpPr>
        <p:spPr>
          <a:xfrm>
            <a:off x="5394960" y="1691640"/>
            <a:ext cx="1874520" cy="1463040"/>
          </a:xfrm>
          <a:prstGeom prst="roundRect">
            <a:avLst>
              <a:gd name="adj" fmla="val 5625"/>
            </a:avLst>
          </a:prstGeom>
          <a:solidFill>
            <a:srgbClr val="FFFFFF"/>
          </a:solidFill>
          <a:ln/>
          <a:effectLst>
            <a:outerShdw sx="100000" sy="100000" kx="0" ky="0" algn="bl" rotWithShape="0" blurRad="76200" dist="25400" dir="5400000">
              <a:srgbClr val="000000">
                <a:alpha val="10000"/>
              </a:srgbClr>
            </a:outerShdw>
          </a:effectLst>
        </p:spPr>
      </p:sp>
      <p:sp>
        <p:nvSpPr>
          <p:cNvPr id="15" name="Shape 11"/>
          <p:cNvSpPr/>
          <p:nvPr/>
        </p:nvSpPr>
        <p:spPr>
          <a:xfrm>
            <a:off x="6080760" y="1874520"/>
            <a:ext cx="502920" cy="502920"/>
          </a:xfrm>
          <a:prstGeom prst="ellipse">
            <a:avLst/>
          </a:prstGeom>
          <a:solidFill>
            <a:srgbClr val="FBEBD2"/>
          </a:solidFill>
          <a:ln/>
        </p:spPr>
      </p:sp>
      <p:pic>
        <p:nvPicPr>
          <p:cNvPr id="16" name="Image 2" descr="preencoded.png">    </p:cNvPr>
          <p:cNvPicPr>
            <a:picLocks noChangeAspect="1"/>
          </p:cNvPicPr>
          <p:nvPr/>
        </p:nvPicPr>
        <p:blipFill>
          <a:blip r:embed="rId3"/>
          <a:stretch>
            <a:fillRect/>
          </a:stretch>
        </p:blipFill>
        <p:spPr>
          <a:xfrm>
            <a:off x="6211519" y="2005279"/>
            <a:ext cx="241402" cy="241402"/>
          </a:xfrm>
          <a:prstGeom prst="rect">
            <a:avLst/>
          </a:prstGeom>
        </p:spPr>
      </p:pic>
      <p:sp>
        <p:nvSpPr>
          <p:cNvPr id="17" name="Text 12"/>
          <p:cNvSpPr/>
          <p:nvPr/>
        </p:nvSpPr>
        <p:spPr>
          <a:xfrm>
            <a:off x="5486400" y="2468880"/>
            <a:ext cx="1691640" cy="640080"/>
          </a:xfrm>
          <a:prstGeom prst="rect">
            <a:avLst/>
          </a:prstGeom>
          <a:noFill/>
          <a:ln/>
        </p:spPr>
        <p:txBody>
          <a:bodyPr wrap="square" lIns="0" tIns="0" rIns="0" bIns="0" rtlCol="0" anchor="ctr"/>
          <a:lstStyle/>
          <a:p>
            <a:pPr algn="ctr" indent="0" marL="0">
              <a:buNone/>
            </a:pPr>
            <a:r>
              <a:rPr lang="en-US" sz="1050" b="1" dirty="0">
                <a:solidFill>
                  <a:srgbClr val="1B2340"/>
                </a:solidFill>
                <a:latin typeface="Calibri" pitchFamily="34" charset="0"/>
                <a:ea typeface="Calibri" pitchFamily="34" charset="-122"/>
                <a:cs typeface="Calibri" pitchFamily="34" charset="-120"/>
              </a:rPr>
              <a:t>Groq (Qwen3-32B)</a:t>
            </a:r>
            <a:endParaRPr lang="en-US" sz="1050" dirty="0"/>
          </a:p>
          <a:p>
            <a:pPr algn="ctr" indent="0" marL="0">
              <a:buNone/>
            </a:pPr>
            <a:r>
              <a:rPr lang="en-US" sz="1050" b="1" dirty="0">
                <a:solidFill>
                  <a:srgbClr val="1B2340"/>
                </a:solidFill>
                <a:latin typeface="Calibri" pitchFamily="34" charset="0"/>
                <a:ea typeface="Calibri" pitchFamily="34" charset="-122"/>
                <a:cs typeface="Calibri" pitchFamily="34" charset="-120"/>
              </a:rPr>
              <a:t>+ rule-based fallback</a:t>
            </a:r>
            <a:endParaRPr lang="en-US" sz="1050" dirty="0"/>
          </a:p>
        </p:txBody>
      </p:sp>
      <p:sp>
        <p:nvSpPr>
          <p:cNvPr id="18" name="Text 13"/>
          <p:cNvSpPr/>
          <p:nvPr/>
        </p:nvSpPr>
        <p:spPr>
          <a:xfrm>
            <a:off x="7287768" y="2194560"/>
            <a:ext cx="603504" cy="457200"/>
          </a:xfrm>
          <a:prstGeom prst="rect">
            <a:avLst/>
          </a:prstGeom>
          <a:noFill/>
          <a:ln/>
        </p:spPr>
        <p:txBody>
          <a:bodyPr wrap="square" lIns="0" tIns="0" rIns="0" bIns="0" rtlCol="0" anchor="ctr"/>
          <a:lstStyle/>
          <a:p>
            <a:pPr algn="ctr" indent="0" marL="0">
              <a:buNone/>
            </a:pPr>
            <a:r>
              <a:rPr lang="en-US" sz="1800" dirty="0">
                <a:solidFill>
                  <a:srgbClr val="6B7A99"/>
                </a:solidFill>
                <a:latin typeface="Arial" pitchFamily="34" charset="0"/>
                <a:ea typeface="Arial" pitchFamily="34" charset="-122"/>
                <a:cs typeface="Arial" pitchFamily="34" charset="-120"/>
              </a:rPr>
              <a:t>→</a:t>
            </a:r>
            <a:endParaRPr lang="en-US" sz="1800" dirty="0"/>
          </a:p>
        </p:txBody>
      </p:sp>
      <p:sp>
        <p:nvSpPr>
          <p:cNvPr id="19" name="Shape 14"/>
          <p:cNvSpPr/>
          <p:nvPr/>
        </p:nvSpPr>
        <p:spPr>
          <a:xfrm>
            <a:off x="7909560" y="1691640"/>
            <a:ext cx="1874520" cy="1463040"/>
          </a:xfrm>
          <a:prstGeom prst="roundRect">
            <a:avLst>
              <a:gd name="adj" fmla="val 5625"/>
            </a:avLst>
          </a:prstGeom>
          <a:solidFill>
            <a:srgbClr val="FFFFFF"/>
          </a:solidFill>
          <a:ln/>
          <a:effectLst>
            <a:outerShdw sx="100000" sy="100000" kx="0" ky="0" algn="bl" rotWithShape="0" blurRad="76200" dist="25400" dir="5400000">
              <a:srgbClr val="000000">
                <a:alpha val="10000"/>
              </a:srgbClr>
            </a:outerShdw>
          </a:effectLst>
        </p:spPr>
      </p:sp>
      <p:sp>
        <p:nvSpPr>
          <p:cNvPr id="20" name="Shape 15"/>
          <p:cNvSpPr/>
          <p:nvPr/>
        </p:nvSpPr>
        <p:spPr>
          <a:xfrm>
            <a:off x="8595360" y="1874520"/>
            <a:ext cx="502920" cy="502920"/>
          </a:xfrm>
          <a:prstGeom prst="ellipse">
            <a:avLst/>
          </a:prstGeom>
          <a:solidFill>
            <a:srgbClr val="FBEBD2"/>
          </a:solidFill>
          <a:ln/>
        </p:spPr>
      </p:sp>
      <p:pic>
        <p:nvPicPr>
          <p:cNvPr id="21" name="Image 3" descr="preencoded.png">    </p:cNvPr>
          <p:cNvPicPr>
            <a:picLocks noChangeAspect="1"/>
          </p:cNvPicPr>
          <p:nvPr/>
        </p:nvPicPr>
        <p:blipFill>
          <a:blip r:embed="rId4"/>
          <a:stretch>
            <a:fillRect/>
          </a:stretch>
        </p:blipFill>
        <p:spPr>
          <a:xfrm>
            <a:off x="8726119" y="2005279"/>
            <a:ext cx="241402" cy="241402"/>
          </a:xfrm>
          <a:prstGeom prst="rect">
            <a:avLst/>
          </a:prstGeom>
        </p:spPr>
      </p:pic>
      <p:sp>
        <p:nvSpPr>
          <p:cNvPr id="22" name="Text 16"/>
          <p:cNvSpPr/>
          <p:nvPr/>
        </p:nvSpPr>
        <p:spPr>
          <a:xfrm>
            <a:off x="8001000" y="2468880"/>
            <a:ext cx="1691640" cy="640080"/>
          </a:xfrm>
          <a:prstGeom prst="rect">
            <a:avLst/>
          </a:prstGeom>
          <a:noFill/>
          <a:ln/>
        </p:spPr>
        <p:txBody>
          <a:bodyPr wrap="square" lIns="0" tIns="0" rIns="0" bIns="0" rtlCol="0" anchor="ctr"/>
          <a:lstStyle/>
          <a:p>
            <a:pPr algn="ctr" indent="0" marL="0">
              <a:buNone/>
            </a:pPr>
            <a:r>
              <a:rPr lang="en-US" sz="1050" b="1" dirty="0">
                <a:solidFill>
                  <a:srgbClr val="1B2340"/>
                </a:solidFill>
                <a:latin typeface="Calibri" pitchFamily="34" charset="0"/>
                <a:ea typeface="Calibri" pitchFamily="34" charset="-122"/>
                <a:cs typeface="Calibri" pitchFamily="34" charset="-120"/>
              </a:rPr>
              <a:t>Prisma ORM</a:t>
            </a:r>
            <a:endParaRPr lang="en-US" sz="1050" dirty="0"/>
          </a:p>
        </p:txBody>
      </p:sp>
      <p:sp>
        <p:nvSpPr>
          <p:cNvPr id="23" name="Text 17"/>
          <p:cNvSpPr/>
          <p:nvPr/>
        </p:nvSpPr>
        <p:spPr>
          <a:xfrm>
            <a:off x="9802368" y="2194560"/>
            <a:ext cx="100584" cy="457200"/>
          </a:xfrm>
          <a:prstGeom prst="rect">
            <a:avLst/>
          </a:prstGeom>
          <a:noFill/>
          <a:ln/>
        </p:spPr>
        <p:txBody>
          <a:bodyPr wrap="square" lIns="0" tIns="0" rIns="0" bIns="0" rtlCol="0" anchor="ctr"/>
          <a:lstStyle/>
          <a:p>
            <a:pPr algn="ctr" indent="0" marL="0">
              <a:buNone/>
            </a:pPr>
            <a:r>
              <a:rPr lang="en-US" sz="1800" dirty="0">
                <a:solidFill>
                  <a:srgbClr val="6B7A99"/>
                </a:solidFill>
                <a:latin typeface="Arial" pitchFamily="34" charset="0"/>
                <a:ea typeface="Arial" pitchFamily="34" charset="-122"/>
                <a:cs typeface="Arial" pitchFamily="34" charset="-120"/>
              </a:rPr>
              <a:t>→</a:t>
            </a:r>
            <a:endParaRPr lang="en-US" sz="1800" dirty="0"/>
          </a:p>
        </p:txBody>
      </p:sp>
      <p:sp>
        <p:nvSpPr>
          <p:cNvPr id="24" name="Shape 18"/>
          <p:cNvSpPr/>
          <p:nvPr/>
        </p:nvSpPr>
        <p:spPr>
          <a:xfrm>
            <a:off x="9921240" y="1691640"/>
            <a:ext cx="1828800" cy="1463040"/>
          </a:xfrm>
          <a:prstGeom prst="roundRect">
            <a:avLst>
              <a:gd name="adj" fmla="val 5625"/>
            </a:avLst>
          </a:prstGeom>
          <a:solidFill>
            <a:srgbClr val="FFFFFF"/>
          </a:solidFill>
          <a:ln/>
          <a:effectLst>
            <a:outerShdw sx="100000" sy="100000" kx="0" ky="0" algn="bl" rotWithShape="0" blurRad="76200" dist="25400" dir="5400000">
              <a:srgbClr val="000000">
                <a:alpha val="10000"/>
              </a:srgbClr>
            </a:outerShdw>
          </a:effectLst>
        </p:spPr>
      </p:sp>
      <p:sp>
        <p:nvSpPr>
          <p:cNvPr id="25" name="Shape 19"/>
          <p:cNvSpPr/>
          <p:nvPr/>
        </p:nvSpPr>
        <p:spPr>
          <a:xfrm>
            <a:off x="10584180" y="1874520"/>
            <a:ext cx="502920" cy="502920"/>
          </a:xfrm>
          <a:prstGeom prst="ellipse">
            <a:avLst/>
          </a:prstGeom>
          <a:solidFill>
            <a:srgbClr val="FBEBD2"/>
          </a:solidFill>
          <a:ln/>
        </p:spPr>
      </p:sp>
      <p:pic>
        <p:nvPicPr>
          <p:cNvPr id="26" name="Image 4" descr="preencoded.png">    </p:cNvPr>
          <p:cNvPicPr>
            <a:picLocks noChangeAspect="1"/>
          </p:cNvPicPr>
          <p:nvPr/>
        </p:nvPicPr>
        <p:blipFill>
          <a:blip r:embed="rId5"/>
          <a:stretch>
            <a:fillRect/>
          </a:stretch>
        </p:blipFill>
        <p:spPr>
          <a:xfrm>
            <a:off x="10714939" y="2005279"/>
            <a:ext cx="241402" cy="241402"/>
          </a:xfrm>
          <a:prstGeom prst="rect">
            <a:avLst/>
          </a:prstGeom>
        </p:spPr>
      </p:pic>
      <p:sp>
        <p:nvSpPr>
          <p:cNvPr id="27" name="Text 20"/>
          <p:cNvSpPr/>
          <p:nvPr/>
        </p:nvSpPr>
        <p:spPr>
          <a:xfrm>
            <a:off x="10012680" y="2468880"/>
            <a:ext cx="1645920" cy="640080"/>
          </a:xfrm>
          <a:prstGeom prst="rect">
            <a:avLst/>
          </a:prstGeom>
          <a:noFill/>
          <a:ln/>
        </p:spPr>
        <p:txBody>
          <a:bodyPr wrap="square" lIns="0" tIns="0" rIns="0" bIns="0" rtlCol="0" anchor="ctr"/>
          <a:lstStyle/>
          <a:p>
            <a:pPr algn="ctr" indent="0" marL="0">
              <a:buNone/>
            </a:pPr>
            <a:r>
              <a:rPr lang="en-US" sz="1050" b="1" dirty="0">
                <a:solidFill>
                  <a:srgbClr val="1B2340"/>
                </a:solidFill>
                <a:latin typeface="Calibri" pitchFamily="34" charset="0"/>
                <a:ea typeface="Calibri" pitchFamily="34" charset="-122"/>
                <a:cs typeface="Calibri" pitchFamily="34" charset="-120"/>
              </a:rPr>
              <a:t>Supabase</a:t>
            </a:r>
            <a:endParaRPr lang="en-US" sz="1050" dirty="0"/>
          </a:p>
          <a:p>
            <a:pPr algn="ctr" indent="0" marL="0">
              <a:buNone/>
            </a:pPr>
            <a:r>
              <a:rPr lang="en-US" sz="1050" b="1" dirty="0">
                <a:solidFill>
                  <a:srgbClr val="1B2340"/>
                </a:solidFill>
                <a:latin typeface="Calibri" pitchFamily="34" charset="0"/>
                <a:ea typeface="Calibri" pitchFamily="34" charset="-122"/>
                <a:cs typeface="Calibri" pitchFamily="34" charset="-120"/>
              </a:rPr>
              <a:t>Postgres</a:t>
            </a:r>
            <a:endParaRPr lang="en-US" sz="1050" dirty="0"/>
          </a:p>
        </p:txBody>
      </p:sp>
      <p:sp>
        <p:nvSpPr>
          <p:cNvPr id="28" name="Text 21"/>
          <p:cNvSpPr/>
          <p:nvPr/>
        </p:nvSpPr>
        <p:spPr>
          <a:xfrm>
            <a:off x="640080" y="3429000"/>
            <a:ext cx="10881360" cy="365760"/>
          </a:xfrm>
          <a:prstGeom prst="rect">
            <a:avLst/>
          </a:prstGeom>
          <a:noFill/>
          <a:ln/>
        </p:spPr>
        <p:txBody>
          <a:bodyPr wrap="square" lIns="0" tIns="0" rIns="0" bIns="0" rtlCol="0" anchor="ctr"/>
          <a:lstStyle/>
          <a:p>
            <a:pPr indent="0" marL="0">
              <a:buNone/>
            </a:pPr>
            <a:r>
              <a:rPr lang="en-US" sz="1300" i="1" dirty="0">
                <a:solidFill>
                  <a:srgbClr val="5B6478"/>
                </a:solidFill>
                <a:latin typeface="Calibri" pitchFamily="34" charset="0"/>
                <a:ea typeface="Calibri" pitchFamily="34" charset="-122"/>
                <a:cs typeface="Calibri" pitchFamily="34" charset="-120"/>
              </a:rPr>
              <a:t>Deployed on Vercel — serverless, autoscaling, zero-ops.</a:t>
            </a:r>
            <a:endParaRPr lang="en-US" sz="1300" dirty="0"/>
          </a:p>
        </p:txBody>
      </p:sp>
      <p:sp>
        <p:nvSpPr>
          <p:cNvPr id="29" name="Shape 22"/>
          <p:cNvSpPr/>
          <p:nvPr/>
        </p:nvSpPr>
        <p:spPr>
          <a:xfrm>
            <a:off x="640080" y="4023360"/>
            <a:ext cx="2990088" cy="384048"/>
          </a:xfrm>
          <a:prstGeom prst="roundRect">
            <a:avLst>
              <a:gd name="adj" fmla="val 50000"/>
            </a:avLst>
          </a:prstGeom>
          <a:solidFill>
            <a:srgbClr val="1B2340"/>
          </a:solidFill>
          <a:ln/>
        </p:spPr>
      </p:sp>
      <p:sp>
        <p:nvSpPr>
          <p:cNvPr id="30" name="Text 23"/>
          <p:cNvSpPr/>
          <p:nvPr/>
        </p:nvSpPr>
        <p:spPr>
          <a:xfrm>
            <a:off x="640080" y="4023360"/>
            <a:ext cx="2990088" cy="384048"/>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Next.js 15 (App Router, TypeScript)</a:t>
            </a:r>
            <a:endParaRPr lang="en-US" sz="1100" dirty="0"/>
          </a:p>
        </p:txBody>
      </p:sp>
      <p:sp>
        <p:nvSpPr>
          <p:cNvPr id="31" name="Shape 24"/>
          <p:cNvSpPr/>
          <p:nvPr/>
        </p:nvSpPr>
        <p:spPr>
          <a:xfrm>
            <a:off x="3776472" y="4023360"/>
            <a:ext cx="1265530" cy="384048"/>
          </a:xfrm>
          <a:prstGeom prst="roundRect">
            <a:avLst>
              <a:gd name="adj" fmla="val 50000"/>
            </a:avLst>
          </a:prstGeom>
          <a:solidFill>
            <a:srgbClr val="1B2340"/>
          </a:solidFill>
          <a:ln/>
        </p:spPr>
      </p:sp>
      <p:sp>
        <p:nvSpPr>
          <p:cNvPr id="32" name="Text 25"/>
          <p:cNvSpPr/>
          <p:nvPr/>
        </p:nvSpPr>
        <p:spPr>
          <a:xfrm>
            <a:off x="3776472" y="4023360"/>
            <a:ext cx="1265530" cy="384048"/>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Tailwind CSS</a:t>
            </a:r>
            <a:endParaRPr lang="en-US" sz="1100" dirty="0"/>
          </a:p>
        </p:txBody>
      </p:sp>
      <p:sp>
        <p:nvSpPr>
          <p:cNvPr id="33" name="Shape 26"/>
          <p:cNvSpPr/>
          <p:nvPr/>
        </p:nvSpPr>
        <p:spPr>
          <a:xfrm>
            <a:off x="5188306" y="4023360"/>
            <a:ext cx="1115568" cy="384048"/>
          </a:xfrm>
          <a:prstGeom prst="roundRect">
            <a:avLst>
              <a:gd name="adj" fmla="val 50000"/>
            </a:avLst>
          </a:prstGeom>
          <a:solidFill>
            <a:srgbClr val="1B2340"/>
          </a:solidFill>
          <a:ln/>
        </p:spPr>
      </p:sp>
      <p:sp>
        <p:nvSpPr>
          <p:cNvPr id="34" name="Text 27"/>
          <p:cNvSpPr/>
          <p:nvPr/>
        </p:nvSpPr>
        <p:spPr>
          <a:xfrm>
            <a:off x="5188306" y="4023360"/>
            <a:ext cx="1115568" cy="384048"/>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Prisma ORM</a:t>
            </a:r>
            <a:endParaRPr lang="en-US" sz="1100" dirty="0"/>
          </a:p>
        </p:txBody>
      </p:sp>
      <p:sp>
        <p:nvSpPr>
          <p:cNvPr id="35" name="Shape 28"/>
          <p:cNvSpPr/>
          <p:nvPr/>
        </p:nvSpPr>
        <p:spPr>
          <a:xfrm>
            <a:off x="6450178" y="4023360"/>
            <a:ext cx="1640434" cy="384048"/>
          </a:xfrm>
          <a:prstGeom prst="roundRect">
            <a:avLst>
              <a:gd name="adj" fmla="val 50000"/>
            </a:avLst>
          </a:prstGeom>
          <a:solidFill>
            <a:srgbClr val="1B2340"/>
          </a:solidFill>
          <a:ln/>
        </p:spPr>
      </p:sp>
      <p:sp>
        <p:nvSpPr>
          <p:cNvPr id="36" name="Text 29"/>
          <p:cNvSpPr/>
          <p:nvPr/>
        </p:nvSpPr>
        <p:spPr>
          <a:xfrm>
            <a:off x="6450178" y="4023360"/>
            <a:ext cx="1640434" cy="384048"/>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Supabase Postgres</a:t>
            </a:r>
            <a:endParaRPr lang="en-US" sz="1100" dirty="0"/>
          </a:p>
        </p:txBody>
      </p:sp>
      <p:sp>
        <p:nvSpPr>
          <p:cNvPr id="37" name="Shape 30"/>
          <p:cNvSpPr/>
          <p:nvPr/>
        </p:nvSpPr>
        <p:spPr>
          <a:xfrm>
            <a:off x="8236915" y="4023360"/>
            <a:ext cx="1865376" cy="384048"/>
          </a:xfrm>
          <a:prstGeom prst="roundRect">
            <a:avLst>
              <a:gd name="adj" fmla="val 50000"/>
            </a:avLst>
          </a:prstGeom>
          <a:solidFill>
            <a:srgbClr val="1B2340"/>
          </a:solidFill>
          <a:ln/>
        </p:spPr>
      </p:sp>
      <p:sp>
        <p:nvSpPr>
          <p:cNvPr id="38" name="Text 31"/>
          <p:cNvSpPr/>
          <p:nvPr/>
        </p:nvSpPr>
        <p:spPr>
          <a:xfrm>
            <a:off x="8236915" y="4023360"/>
            <a:ext cx="1865376" cy="384048"/>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Groq · Qwen3-32B LLM</a:t>
            </a:r>
            <a:endParaRPr lang="en-US" sz="1100" dirty="0"/>
          </a:p>
        </p:txBody>
      </p:sp>
      <p:sp>
        <p:nvSpPr>
          <p:cNvPr id="39" name="Shape 32"/>
          <p:cNvSpPr/>
          <p:nvPr/>
        </p:nvSpPr>
        <p:spPr>
          <a:xfrm>
            <a:off x="640080" y="4526280"/>
            <a:ext cx="2390242" cy="384048"/>
          </a:xfrm>
          <a:prstGeom prst="roundRect">
            <a:avLst>
              <a:gd name="adj" fmla="val 50000"/>
            </a:avLst>
          </a:prstGeom>
          <a:solidFill>
            <a:srgbClr val="1B2340"/>
          </a:solidFill>
          <a:ln/>
        </p:spPr>
      </p:sp>
      <p:sp>
        <p:nvSpPr>
          <p:cNvPr id="40" name="Text 33"/>
          <p:cNvSpPr/>
          <p:nvPr/>
        </p:nvSpPr>
        <p:spPr>
          <a:xfrm>
            <a:off x="640080" y="4526280"/>
            <a:ext cx="2390242" cy="384048"/>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OpenAI (secondary fallback)</a:t>
            </a:r>
            <a:endParaRPr lang="en-US" sz="1100" dirty="0"/>
          </a:p>
        </p:txBody>
      </p:sp>
      <p:sp>
        <p:nvSpPr>
          <p:cNvPr id="41" name="Shape 34"/>
          <p:cNvSpPr/>
          <p:nvPr/>
        </p:nvSpPr>
        <p:spPr>
          <a:xfrm>
            <a:off x="3176626" y="4526280"/>
            <a:ext cx="2015338" cy="384048"/>
          </a:xfrm>
          <a:prstGeom prst="roundRect">
            <a:avLst>
              <a:gd name="adj" fmla="val 50000"/>
            </a:avLst>
          </a:prstGeom>
          <a:solidFill>
            <a:srgbClr val="1B2340"/>
          </a:solidFill>
          <a:ln/>
        </p:spPr>
      </p:sp>
      <p:sp>
        <p:nvSpPr>
          <p:cNvPr id="42" name="Text 35"/>
          <p:cNvSpPr/>
          <p:nvPr/>
        </p:nvSpPr>
        <p:spPr>
          <a:xfrm>
            <a:off x="3176626" y="4526280"/>
            <a:ext cx="2015338" cy="384048"/>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Web Speech API (voice)</a:t>
            </a:r>
            <a:endParaRPr lang="en-US" sz="1100" dirty="0"/>
          </a:p>
        </p:txBody>
      </p:sp>
      <p:sp>
        <p:nvSpPr>
          <p:cNvPr id="43" name="Shape 36"/>
          <p:cNvSpPr/>
          <p:nvPr/>
        </p:nvSpPr>
        <p:spPr>
          <a:xfrm>
            <a:off x="5338267" y="4526280"/>
            <a:ext cx="2540203" cy="384048"/>
          </a:xfrm>
          <a:prstGeom prst="roundRect">
            <a:avLst>
              <a:gd name="adj" fmla="val 50000"/>
            </a:avLst>
          </a:prstGeom>
          <a:solidFill>
            <a:srgbClr val="1B2340"/>
          </a:solidFill>
          <a:ln/>
        </p:spPr>
      </p:sp>
      <p:sp>
        <p:nvSpPr>
          <p:cNvPr id="44" name="Text 37"/>
          <p:cNvSpPr/>
          <p:nvPr/>
        </p:nvSpPr>
        <p:spPr>
          <a:xfrm>
            <a:off x="5338267" y="4526280"/>
            <a:ext cx="2540203" cy="384048"/>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React-Leaflet + OpenStreetMap</a:t>
            </a:r>
            <a:endParaRPr lang="en-US" sz="1100" dirty="0"/>
          </a:p>
        </p:txBody>
      </p:sp>
      <p:sp>
        <p:nvSpPr>
          <p:cNvPr id="45" name="Shape 38"/>
          <p:cNvSpPr/>
          <p:nvPr/>
        </p:nvSpPr>
        <p:spPr>
          <a:xfrm>
            <a:off x="8024774" y="4526280"/>
            <a:ext cx="965606" cy="384048"/>
          </a:xfrm>
          <a:prstGeom prst="roundRect">
            <a:avLst>
              <a:gd name="adj" fmla="val 50000"/>
            </a:avLst>
          </a:prstGeom>
          <a:solidFill>
            <a:srgbClr val="1B2340"/>
          </a:solidFill>
          <a:ln/>
        </p:spPr>
      </p:sp>
      <p:sp>
        <p:nvSpPr>
          <p:cNvPr id="46" name="Text 39"/>
          <p:cNvSpPr/>
          <p:nvPr/>
        </p:nvSpPr>
        <p:spPr>
          <a:xfrm>
            <a:off x="8024774" y="4526280"/>
            <a:ext cx="965606" cy="384048"/>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Recharts</a:t>
            </a:r>
            <a:endParaRPr lang="en-US" sz="1100" dirty="0"/>
          </a:p>
        </p:txBody>
      </p:sp>
      <p:sp>
        <p:nvSpPr>
          <p:cNvPr id="47" name="Shape 40"/>
          <p:cNvSpPr/>
          <p:nvPr/>
        </p:nvSpPr>
        <p:spPr>
          <a:xfrm>
            <a:off x="9136685" y="4526280"/>
            <a:ext cx="2165299" cy="384048"/>
          </a:xfrm>
          <a:prstGeom prst="roundRect">
            <a:avLst>
              <a:gd name="adj" fmla="val 50000"/>
            </a:avLst>
          </a:prstGeom>
          <a:solidFill>
            <a:srgbClr val="1B2340"/>
          </a:solidFill>
          <a:ln/>
        </p:spPr>
      </p:sp>
      <p:sp>
        <p:nvSpPr>
          <p:cNvPr id="48" name="Text 41"/>
          <p:cNvSpPr/>
          <p:nvPr/>
        </p:nvSpPr>
        <p:spPr>
          <a:xfrm>
            <a:off x="9136685" y="4526280"/>
            <a:ext cx="2165299" cy="384048"/>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Vercel (hosting + CI/CD)</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B2340"/>
        </a:solidFill>
      </p:bgPr>
    </p:bg>
    <p:spTree>
      <p:nvGrpSpPr>
        <p:cNvPr id="1" name=""/>
        <p:cNvGrpSpPr/>
        <p:nvPr/>
      </p:nvGrpSpPr>
      <p:grpSpPr>
        <a:xfrm>
          <a:off x="0" y="0"/>
          <a:ext cx="0" cy="0"/>
          <a:chOff x="0" y="0"/>
          <a:chExt cx="0" cy="0"/>
        </a:xfrm>
      </p:grpSpPr>
      <p:sp>
        <p:nvSpPr>
          <p:cNvPr id="2" name="Text 0"/>
          <p:cNvSpPr/>
          <p:nvPr/>
        </p:nvSpPr>
        <p:spPr>
          <a:xfrm>
            <a:off x="640080" y="457200"/>
            <a:ext cx="5486400" cy="365760"/>
          </a:xfrm>
          <a:prstGeom prst="rect">
            <a:avLst/>
          </a:prstGeom>
          <a:noFill/>
          <a:ln/>
        </p:spPr>
        <p:txBody>
          <a:bodyPr wrap="square" lIns="0" tIns="0" rIns="0" bIns="0" rtlCol="0" anchor="ctr"/>
          <a:lstStyle/>
          <a:p>
            <a:pPr indent="0" marL="0">
              <a:buNone/>
            </a:pPr>
            <a:r>
              <a:rPr lang="en-US" sz="1300" b="1" spc="200" kern="0" dirty="0">
                <a:solidFill>
                  <a:srgbClr val="E8A33D"/>
                </a:solidFill>
                <a:latin typeface="Calibri" pitchFamily="34" charset="0"/>
                <a:ea typeface="Calibri" pitchFamily="34" charset="-122"/>
                <a:cs typeface="Calibri" pitchFamily="34" charset="-120"/>
              </a:rPr>
              <a:t>WHY THIS WINS</a:t>
            </a:r>
            <a:endParaRPr lang="en-US" sz="1300" dirty="0"/>
          </a:p>
        </p:txBody>
      </p:sp>
      <p:sp>
        <p:nvSpPr>
          <p:cNvPr id="3" name="Text 1"/>
          <p:cNvSpPr/>
          <p:nvPr/>
        </p:nvSpPr>
        <p:spPr>
          <a:xfrm>
            <a:off x="640080" y="777240"/>
            <a:ext cx="10789920" cy="640080"/>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Built for real MP offices, not just a demo</a:t>
            </a:r>
            <a:endParaRPr lang="en-US" sz="2800" dirty="0"/>
          </a:p>
        </p:txBody>
      </p:sp>
      <p:sp>
        <p:nvSpPr>
          <p:cNvPr id="4" name="Shape 2"/>
          <p:cNvSpPr/>
          <p:nvPr/>
        </p:nvSpPr>
        <p:spPr>
          <a:xfrm>
            <a:off x="640080" y="1828800"/>
            <a:ext cx="5349240" cy="1965960"/>
          </a:xfrm>
          <a:prstGeom prst="roundRect">
            <a:avLst>
              <a:gd name="adj" fmla="val 4651"/>
            </a:avLst>
          </a:prstGeom>
          <a:solidFill>
            <a:srgbClr val="2A3459"/>
          </a:solidFill>
          <a:ln/>
        </p:spPr>
      </p:sp>
      <p:sp>
        <p:nvSpPr>
          <p:cNvPr id="5" name="Shape 3"/>
          <p:cNvSpPr/>
          <p:nvPr/>
        </p:nvSpPr>
        <p:spPr>
          <a:xfrm>
            <a:off x="868680" y="2057400"/>
            <a:ext cx="502920" cy="502920"/>
          </a:xfrm>
          <a:prstGeom prst="ellipse">
            <a:avLst/>
          </a:prstGeom>
          <a:solidFill>
            <a:srgbClr val="1B2340"/>
          </a:solidFill>
          <a:ln/>
        </p:spPr>
      </p:sp>
      <p:pic>
        <p:nvPicPr>
          <p:cNvPr id="6" name="Image 0" descr="preencoded.png">    </p:cNvPr>
          <p:cNvPicPr>
            <a:picLocks noChangeAspect="1"/>
          </p:cNvPicPr>
          <p:nvPr/>
        </p:nvPicPr>
        <p:blipFill>
          <a:blip r:embed="rId1"/>
          <a:stretch>
            <a:fillRect/>
          </a:stretch>
        </p:blipFill>
        <p:spPr>
          <a:xfrm>
            <a:off x="999439" y="2188159"/>
            <a:ext cx="241402" cy="241402"/>
          </a:xfrm>
          <a:prstGeom prst="rect">
            <a:avLst/>
          </a:prstGeom>
        </p:spPr>
      </p:pic>
      <p:sp>
        <p:nvSpPr>
          <p:cNvPr id="7" name="Text 4"/>
          <p:cNvSpPr/>
          <p:nvPr/>
        </p:nvSpPr>
        <p:spPr>
          <a:xfrm>
            <a:off x="868680" y="2697480"/>
            <a:ext cx="4892040" cy="36576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Actually multilingual</a:t>
            </a:r>
            <a:endParaRPr lang="en-US" sz="1500" dirty="0"/>
          </a:p>
        </p:txBody>
      </p:sp>
      <p:sp>
        <p:nvSpPr>
          <p:cNvPr id="8" name="Text 5"/>
          <p:cNvSpPr/>
          <p:nvPr/>
        </p:nvSpPr>
        <p:spPr>
          <a:xfrm>
            <a:off x="868680" y="3063240"/>
            <a:ext cx="4892040" cy="685800"/>
          </a:xfrm>
          <a:prstGeom prst="rect">
            <a:avLst/>
          </a:prstGeom>
          <a:noFill/>
          <a:ln/>
        </p:spPr>
        <p:txBody>
          <a:bodyPr wrap="square" lIns="0" tIns="0" rIns="0" bIns="0" rtlCol="0" anchor="ctr"/>
          <a:lstStyle/>
          <a:p>
            <a:pPr indent="0" marL="0">
              <a:buNone/>
            </a:pPr>
            <a:r>
              <a:rPr lang="en-US" sz="1150" dirty="0">
                <a:solidFill>
                  <a:srgbClr val="9AA4C4"/>
                </a:solidFill>
                <a:latin typeface="Calibri" pitchFamily="34" charset="0"/>
                <a:ea typeface="Calibri" pitchFamily="34" charset="-122"/>
                <a:cs typeface="Calibri" pitchFamily="34" charset="-120"/>
              </a:rPr>
              <a:t>Not translated UI strings — real script + romanized detection for Hindi &amp; Telugu, both in NLP and voice input.</a:t>
            </a:r>
            <a:endParaRPr lang="en-US" sz="1150" dirty="0"/>
          </a:p>
        </p:txBody>
      </p:sp>
      <p:sp>
        <p:nvSpPr>
          <p:cNvPr id="9" name="Shape 6"/>
          <p:cNvSpPr/>
          <p:nvPr/>
        </p:nvSpPr>
        <p:spPr>
          <a:xfrm>
            <a:off x="6263640" y="1828800"/>
            <a:ext cx="5349240" cy="1965960"/>
          </a:xfrm>
          <a:prstGeom prst="roundRect">
            <a:avLst>
              <a:gd name="adj" fmla="val 4651"/>
            </a:avLst>
          </a:prstGeom>
          <a:solidFill>
            <a:srgbClr val="2A3459"/>
          </a:solidFill>
          <a:ln/>
        </p:spPr>
      </p:sp>
      <p:sp>
        <p:nvSpPr>
          <p:cNvPr id="10" name="Shape 7"/>
          <p:cNvSpPr/>
          <p:nvPr/>
        </p:nvSpPr>
        <p:spPr>
          <a:xfrm>
            <a:off x="6492240" y="2057400"/>
            <a:ext cx="502920" cy="502920"/>
          </a:xfrm>
          <a:prstGeom prst="ellipse">
            <a:avLst/>
          </a:prstGeom>
          <a:solidFill>
            <a:srgbClr val="1B2340"/>
          </a:solidFill>
          <a:ln/>
        </p:spPr>
      </p:sp>
      <p:pic>
        <p:nvPicPr>
          <p:cNvPr id="11" name="Image 1" descr="preencoded.png">    </p:cNvPr>
          <p:cNvPicPr>
            <a:picLocks noChangeAspect="1"/>
          </p:cNvPicPr>
          <p:nvPr/>
        </p:nvPicPr>
        <p:blipFill>
          <a:blip r:embed="rId2"/>
          <a:stretch>
            <a:fillRect/>
          </a:stretch>
        </p:blipFill>
        <p:spPr>
          <a:xfrm>
            <a:off x="6622999" y="2188159"/>
            <a:ext cx="241402" cy="241402"/>
          </a:xfrm>
          <a:prstGeom prst="rect">
            <a:avLst/>
          </a:prstGeom>
        </p:spPr>
      </p:pic>
      <p:sp>
        <p:nvSpPr>
          <p:cNvPr id="12" name="Text 8"/>
          <p:cNvSpPr/>
          <p:nvPr/>
        </p:nvSpPr>
        <p:spPr>
          <a:xfrm>
            <a:off x="6492240" y="2697480"/>
            <a:ext cx="4892040" cy="36576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Data-backed, not opinion-backed</a:t>
            </a:r>
            <a:endParaRPr lang="en-US" sz="1500" dirty="0"/>
          </a:p>
        </p:txBody>
      </p:sp>
      <p:sp>
        <p:nvSpPr>
          <p:cNvPr id="13" name="Text 9"/>
          <p:cNvSpPr/>
          <p:nvPr/>
        </p:nvSpPr>
        <p:spPr>
          <a:xfrm>
            <a:off x="6492240" y="3063240"/>
            <a:ext cx="4892040" cy="685800"/>
          </a:xfrm>
          <a:prstGeom prst="rect">
            <a:avLst/>
          </a:prstGeom>
          <a:noFill/>
          <a:ln/>
        </p:spPr>
        <p:txBody>
          <a:bodyPr wrap="square" lIns="0" tIns="0" rIns="0" bIns="0" rtlCol="0" anchor="ctr"/>
          <a:lstStyle/>
          <a:p>
            <a:pPr indent="0" marL="0">
              <a:buNone/>
            </a:pPr>
            <a:r>
              <a:rPr lang="en-US" sz="1150" dirty="0">
                <a:solidFill>
                  <a:srgbClr val="9AA4C4"/>
                </a:solidFill>
                <a:latin typeface="Calibri" pitchFamily="34" charset="0"/>
                <a:ea typeface="Calibri" pitchFamily="34" charset="-122"/>
                <a:cs typeface="Calibri" pitchFamily="34" charset="-120"/>
              </a:rPr>
              <a:t>Ranks are computed from real demographic/infrastructure indicators, fully transparent and adjustable.</a:t>
            </a:r>
            <a:endParaRPr lang="en-US" sz="1150" dirty="0"/>
          </a:p>
        </p:txBody>
      </p:sp>
      <p:sp>
        <p:nvSpPr>
          <p:cNvPr id="14" name="Shape 10"/>
          <p:cNvSpPr/>
          <p:nvPr/>
        </p:nvSpPr>
        <p:spPr>
          <a:xfrm>
            <a:off x="640080" y="3977640"/>
            <a:ext cx="5349240" cy="1965960"/>
          </a:xfrm>
          <a:prstGeom prst="roundRect">
            <a:avLst>
              <a:gd name="adj" fmla="val 4651"/>
            </a:avLst>
          </a:prstGeom>
          <a:solidFill>
            <a:srgbClr val="2A3459"/>
          </a:solidFill>
          <a:ln/>
        </p:spPr>
      </p:sp>
      <p:sp>
        <p:nvSpPr>
          <p:cNvPr id="15" name="Shape 11"/>
          <p:cNvSpPr/>
          <p:nvPr/>
        </p:nvSpPr>
        <p:spPr>
          <a:xfrm>
            <a:off x="868680" y="4206240"/>
            <a:ext cx="502920" cy="502920"/>
          </a:xfrm>
          <a:prstGeom prst="ellipse">
            <a:avLst/>
          </a:prstGeom>
          <a:solidFill>
            <a:srgbClr val="1B2340"/>
          </a:solidFill>
          <a:ln/>
        </p:spPr>
      </p:sp>
      <p:pic>
        <p:nvPicPr>
          <p:cNvPr id="16" name="Image 2" descr="preencoded.png">    </p:cNvPr>
          <p:cNvPicPr>
            <a:picLocks noChangeAspect="1"/>
          </p:cNvPicPr>
          <p:nvPr/>
        </p:nvPicPr>
        <p:blipFill>
          <a:blip r:embed="rId3"/>
          <a:stretch>
            <a:fillRect/>
          </a:stretch>
        </p:blipFill>
        <p:spPr>
          <a:xfrm>
            <a:off x="999439" y="4336999"/>
            <a:ext cx="241402" cy="241402"/>
          </a:xfrm>
          <a:prstGeom prst="rect">
            <a:avLst/>
          </a:prstGeom>
        </p:spPr>
      </p:pic>
      <p:sp>
        <p:nvSpPr>
          <p:cNvPr id="17" name="Text 12"/>
          <p:cNvSpPr/>
          <p:nvPr/>
        </p:nvSpPr>
        <p:spPr>
          <a:xfrm>
            <a:off x="868680" y="4846320"/>
            <a:ext cx="4892040" cy="36576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Zero-cost to run and deploy</a:t>
            </a:r>
            <a:endParaRPr lang="en-US" sz="1500" dirty="0"/>
          </a:p>
        </p:txBody>
      </p:sp>
      <p:sp>
        <p:nvSpPr>
          <p:cNvPr id="18" name="Text 13"/>
          <p:cNvSpPr/>
          <p:nvPr/>
        </p:nvSpPr>
        <p:spPr>
          <a:xfrm>
            <a:off x="868680" y="5212080"/>
            <a:ext cx="4892040" cy="685800"/>
          </a:xfrm>
          <a:prstGeom prst="rect">
            <a:avLst/>
          </a:prstGeom>
          <a:noFill/>
          <a:ln/>
        </p:spPr>
        <p:txBody>
          <a:bodyPr wrap="square" lIns="0" tIns="0" rIns="0" bIns="0" rtlCol="0" anchor="ctr"/>
          <a:lstStyle/>
          <a:p>
            <a:pPr indent="0" marL="0">
              <a:buNone/>
            </a:pPr>
            <a:r>
              <a:rPr lang="en-US" sz="1150" dirty="0">
                <a:solidFill>
                  <a:srgbClr val="9AA4C4"/>
                </a:solidFill>
                <a:latin typeface="Calibri" pitchFamily="34" charset="0"/>
                <a:ea typeface="Calibri" pitchFamily="34" charset="-122"/>
                <a:cs typeface="Calibri" pitchFamily="34" charset="-120"/>
              </a:rPr>
              <a:t>Rule-based fallback means it works with no API keys; Groq/Supabase free tiers cover everything else.</a:t>
            </a:r>
            <a:endParaRPr lang="en-US" sz="1150" dirty="0"/>
          </a:p>
        </p:txBody>
      </p:sp>
      <p:sp>
        <p:nvSpPr>
          <p:cNvPr id="19" name="Shape 14"/>
          <p:cNvSpPr/>
          <p:nvPr/>
        </p:nvSpPr>
        <p:spPr>
          <a:xfrm>
            <a:off x="6263640" y="3977640"/>
            <a:ext cx="5349240" cy="1965960"/>
          </a:xfrm>
          <a:prstGeom prst="roundRect">
            <a:avLst>
              <a:gd name="adj" fmla="val 4651"/>
            </a:avLst>
          </a:prstGeom>
          <a:solidFill>
            <a:srgbClr val="2A3459"/>
          </a:solidFill>
          <a:ln/>
        </p:spPr>
      </p:sp>
      <p:sp>
        <p:nvSpPr>
          <p:cNvPr id="20" name="Shape 15"/>
          <p:cNvSpPr/>
          <p:nvPr/>
        </p:nvSpPr>
        <p:spPr>
          <a:xfrm>
            <a:off x="6492240" y="4206240"/>
            <a:ext cx="502920" cy="502920"/>
          </a:xfrm>
          <a:prstGeom prst="ellipse">
            <a:avLst/>
          </a:prstGeom>
          <a:solidFill>
            <a:srgbClr val="1B2340"/>
          </a:solidFill>
          <a:ln/>
        </p:spPr>
      </p:sp>
      <p:pic>
        <p:nvPicPr>
          <p:cNvPr id="21" name="Image 3" descr="preencoded.png">    </p:cNvPr>
          <p:cNvPicPr>
            <a:picLocks noChangeAspect="1"/>
          </p:cNvPicPr>
          <p:nvPr/>
        </p:nvPicPr>
        <p:blipFill>
          <a:blip r:embed="rId4"/>
          <a:stretch>
            <a:fillRect/>
          </a:stretch>
        </p:blipFill>
        <p:spPr>
          <a:xfrm>
            <a:off x="6622999" y="4336999"/>
            <a:ext cx="241402" cy="241402"/>
          </a:xfrm>
          <a:prstGeom prst="rect">
            <a:avLst/>
          </a:prstGeom>
        </p:spPr>
      </p:pic>
      <p:sp>
        <p:nvSpPr>
          <p:cNvPr id="22" name="Text 16"/>
          <p:cNvSpPr/>
          <p:nvPr/>
        </p:nvSpPr>
        <p:spPr>
          <a:xfrm>
            <a:off x="6492240" y="4846320"/>
            <a:ext cx="4892040" cy="36576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Production-shaped, not a prototype</a:t>
            </a:r>
            <a:endParaRPr lang="en-US" sz="1500" dirty="0"/>
          </a:p>
        </p:txBody>
      </p:sp>
      <p:sp>
        <p:nvSpPr>
          <p:cNvPr id="23" name="Text 17"/>
          <p:cNvSpPr/>
          <p:nvPr/>
        </p:nvSpPr>
        <p:spPr>
          <a:xfrm>
            <a:off x="6492240" y="5212080"/>
            <a:ext cx="4892040" cy="685800"/>
          </a:xfrm>
          <a:prstGeom prst="rect">
            <a:avLst/>
          </a:prstGeom>
          <a:noFill/>
          <a:ln/>
        </p:spPr>
        <p:txBody>
          <a:bodyPr wrap="square" lIns="0" tIns="0" rIns="0" bIns="0" rtlCol="0" anchor="ctr"/>
          <a:lstStyle/>
          <a:p>
            <a:pPr indent="0" marL="0">
              <a:buNone/>
            </a:pPr>
            <a:r>
              <a:rPr lang="en-US" sz="1150" dirty="0">
                <a:solidFill>
                  <a:srgbClr val="9AA4C4"/>
                </a:solidFill>
                <a:latin typeface="Calibri" pitchFamily="34" charset="0"/>
                <a:ea typeface="Calibri" pitchFamily="34" charset="-122"/>
                <a:cs typeface="Calibri" pitchFamily="34" charset="-120"/>
              </a:rPr>
              <a:t>Postgres via Supabase, serverless deploy on Vercel, typed end-to-end with Prisma + TypeScript.</a:t>
            </a:r>
            <a:endParaRPr lang="en-US" sz="11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5F0"/>
        </a:solidFill>
      </p:bgPr>
    </p:bg>
    <p:spTree>
      <p:nvGrpSpPr>
        <p:cNvPr id="1" name=""/>
        <p:cNvGrpSpPr/>
        <p:nvPr/>
      </p:nvGrpSpPr>
      <p:grpSpPr>
        <a:xfrm>
          <a:off x="0" y="0"/>
          <a:ext cx="0" cy="0"/>
          <a:chOff x="0" y="0"/>
          <a:chExt cx="0" cy="0"/>
        </a:xfrm>
      </p:grpSpPr>
      <p:sp>
        <p:nvSpPr>
          <p:cNvPr id="2" name="Text 0"/>
          <p:cNvSpPr/>
          <p:nvPr/>
        </p:nvSpPr>
        <p:spPr>
          <a:xfrm>
            <a:off x="640080" y="457200"/>
            <a:ext cx="5486400" cy="365760"/>
          </a:xfrm>
          <a:prstGeom prst="rect">
            <a:avLst/>
          </a:prstGeom>
          <a:noFill/>
          <a:ln/>
        </p:spPr>
        <p:txBody>
          <a:bodyPr wrap="square" lIns="0" tIns="0" rIns="0" bIns="0" rtlCol="0" anchor="ctr"/>
          <a:lstStyle/>
          <a:p>
            <a:pPr indent="0" marL="0">
              <a:buNone/>
            </a:pPr>
            <a:r>
              <a:rPr lang="en-US" sz="1300" b="1" spc="200" kern="0" dirty="0">
                <a:solidFill>
                  <a:srgbClr val="C97E1E"/>
                </a:solidFill>
                <a:latin typeface="Calibri" pitchFamily="34" charset="0"/>
                <a:ea typeface="Calibri" pitchFamily="34" charset="-122"/>
                <a:cs typeface="Calibri" pitchFamily="34" charset="-120"/>
              </a:rPr>
              <a:t>WHAT'S NEXT</a:t>
            </a:r>
            <a:endParaRPr lang="en-US" sz="1300" dirty="0"/>
          </a:p>
        </p:txBody>
      </p:sp>
      <p:sp>
        <p:nvSpPr>
          <p:cNvPr id="3" name="Text 1"/>
          <p:cNvSpPr/>
          <p:nvPr/>
        </p:nvSpPr>
        <p:spPr>
          <a:xfrm>
            <a:off x="640080" y="777240"/>
            <a:ext cx="9144000" cy="640080"/>
          </a:xfrm>
          <a:prstGeom prst="rect">
            <a:avLst/>
          </a:prstGeom>
          <a:noFill/>
          <a:ln/>
        </p:spPr>
        <p:txBody>
          <a:bodyPr wrap="square" lIns="0" tIns="0" rIns="0" bIns="0" rtlCol="0" anchor="ctr"/>
          <a:lstStyle/>
          <a:p>
            <a:pPr indent="0" marL="0">
              <a:buNone/>
            </a:pPr>
            <a:r>
              <a:rPr lang="en-US" sz="2800" b="1" dirty="0">
                <a:solidFill>
                  <a:srgbClr val="1B2340"/>
                </a:solidFill>
                <a:latin typeface="Cambria" pitchFamily="34" charset="0"/>
                <a:ea typeface="Cambria" pitchFamily="34" charset="-122"/>
                <a:cs typeface="Cambria" pitchFamily="34" charset="-120"/>
              </a:rPr>
              <a:t>Roadmap beyond the hackathon</a:t>
            </a:r>
            <a:endParaRPr lang="en-US" sz="2800" dirty="0"/>
          </a:p>
        </p:txBody>
      </p:sp>
      <p:sp>
        <p:nvSpPr>
          <p:cNvPr id="4" name="Shape 2"/>
          <p:cNvSpPr/>
          <p:nvPr/>
        </p:nvSpPr>
        <p:spPr>
          <a:xfrm>
            <a:off x="640080" y="1783080"/>
            <a:ext cx="5349240" cy="2057400"/>
          </a:xfrm>
          <a:prstGeom prst="roundRect">
            <a:avLst>
              <a:gd name="adj" fmla="val 4444"/>
            </a:avLst>
          </a:prstGeom>
          <a:solidFill>
            <a:srgbClr val="FFFFFF"/>
          </a:solidFill>
          <a:ln/>
          <a:effectLst>
            <a:outerShdw sx="100000" sy="100000" kx="0" ky="0" algn="bl" rotWithShape="0" blurRad="76200" dist="25400" dir="5400000">
              <a:srgbClr val="000000">
                <a:alpha val="10000"/>
              </a:srgbClr>
            </a:outerShdw>
          </a:effectLst>
        </p:spPr>
      </p:sp>
      <p:sp>
        <p:nvSpPr>
          <p:cNvPr id="5" name="Shape 3"/>
          <p:cNvSpPr/>
          <p:nvPr/>
        </p:nvSpPr>
        <p:spPr>
          <a:xfrm>
            <a:off x="868680" y="2011680"/>
            <a:ext cx="502920" cy="502920"/>
          </a:xfrm>
          <a:prstGeom prst="ellipse">
            <a:avLst/>
          </a:prstGeom>
          <a:solidFill>
            <a:srgbClr val="FBEBD2"/>
          </a:solidFill>
          <a:ln/>
        </p:spPr>
      </p:sp>
      <p:pic>
        <p:nvPicPr>
          <p:cNvPr id="6" name="Image 0" descr="preencoded.png">    </p:cNvPr>
          <p:cNvPicPr>
            <a:picLocks noChangeAspect="1"/>
          </p:cNvPicPr>
          <p:nvPr/>
        </p:nvPicPr>
        <p:blipFill>
          <a:blip r:embed="rId1"/>
          <a:stretch>
            <a:fillRect/>
          </a:stretch>
        </p:blipFill>
        <p:spPr>
          <a:xfrm>
            <a:off x="999439" y="2142439"/>
            <a:ext cx="241402" cy="241402"/>
          </a:xfrm>
          <a:prstGeom prst="rect">
            <a:avLst/>
          </a:prstGeom>
        </p:spPr>
      </p:pic>
      <p:sp>
        <p:nvSpPr>
          <p:cNvPr id="7" name="Text 4"/>
          <p:cNvSpPr/>
          <p:nvPr/>
        </p:nvSpPr>
        <p:spPr>
          <a:xfrm>
            <a:off x="868680" y="2651760"/>
            <a:ext cx="4892040" cy="365760"/>
          </a:xfrm>
          <a:prstGeom prst="rect">
            <a:avLst/>
          </a:prstGeom>
          <a:noFill/>
          <a:ln/>
        </p:spPr>
        <p:txBody>
          <a:bodyPr wrap="square" lIns="0" tIns="0" rIns="0" bIns="0" rtlCol="0" anchor="ctr"/>
          <a:lstStyle/>
          <a:p>
            <a:pPr indent="0" marL="0">
              <a:buNone/>
            </a:pPr>
            <a:r>
              <a:rPr lang="en-US" sz="1500" b="1" dirty="0">
                <a:solidFill>
                  <a:srgbClr val="1B2340"/>
                </a:solidFill>
                <a:latin typeface="Calibri" pitchFamily="34" charset="0"/>
                <a:ea typeface="Calibri" pitchFamily="34" charset="-122"/>
                <a:cs typeface="Calibri" pitchFamily="34" charset="-120"/>
              </a:rPr>
              <a:t>WhatsApp &amp; SMS intake</a:t>
            </a:r>
            <a:endParaRPr lang="en-US" sz="1500" dirty="0"/>
          </a:p>
        </p:txBody>
      </p:sp>
      <p:sp>
        <p:nvSpPr>
          <p:cNvPr id="8" name="Text 5"/>
          <p:cNvSpPr/>
          <p:nvPr/>
        </p:nvSpPr>
        <p:spPr>
          <a:xfrm>
            <a:off x="868680" y="3017520"/>
            <a:ext cx="4892040" cy="731520"/>
          </a:xfrm>
          <a:prstGeom prst="rect">
            <a:avLst/>
          </a:prstGeom>
          <a:noFill/>
          <a:ln/>
        </p:spPr>
        <p:txBody>
          <a:bodyPr wrap="square" lIns="0" tIns="0" rIns="0" bIns="0" rtlCol="0" anchor="ctr"/>
          <a:lstStyle/>
          <a:p>
            <a:pPr indent="0" marL="0">
              <a:buNone/>
            </a:pPr>
            <a:r>
              <a:rPr lang="en-US" sz="1150" dirty="0">
                <a:solidFill>
                  <a:srgbClr val="5B6478"/>
                </a:solidFill>
                <a:latin typeface="Calibri" pitchFamily="34" charset="0"/>
                <a:ea typeface="Calibri" pitchFamily="34" charset="-122"/>
                <a:cs typeface="Calibri" pitchFamily="34" charset="-120"/>
              </a:rPr>
              <a:t>Meet citizens on the channels they already use — no app install.</a:t>
            </a:r>
            <a:endParaRPr lang="en-US" sz="1150" dirty="0"/>
          </a:p>
        </p:txBody>
      </p:sp>
      <p:sp>
        <p:nvSpPr>
          <p:cNvPr id="9" name="Shape 6"/>
          <p:cNvSpPr/>
          <p:nvPr/>
        </p:nvSpPr>
        <p:spPr>
          <a:xfrm>
            <a:off x="6263640" y="1783080"/>
            <a:ext cx="5349240" cy="2057400"/>
          </a:xfrm>
          <a:prstGeom prst="roundRect">
            <a:avLst>
              <a:gd name="adj" fmla="val 4444"/>
            </a:avLst>
          </a:prstGeom>
          <a:solidFill>
            <a:srgbClr val="FFFFFF"/>
          </a:solidFill>
          <a:ln/>
          <a:effectLst>
            <a:outerShdw sx="100000" sy="100000" kx="0" ky="0" algn="bl" rotWithShape="0" blurRad="76200" dist="25400" dir="5400000">
              <a:srgbClr val="000000">
                <a:alpha val="10000"/>
              </a:srgbClr>
            </a:outerShdw>
          </a:effectLst>
        </p:spPr>
      </p:sp>
      <p:sp>
        <p:nvSpPr>
          <p:cNvPr id="10" name="Shape 7"/>
          <p:cNvSpPr/>
          <p:nvPr/>
        </p:nvSpPr>
        <p:spPr>
          <a:xfrm>
            <a:off x="6492240" y="2011680"/>
            <a:ext cx="502920" cy="502920"/>
          </a:xfrm>
          <a:prstGeom prst="ellipse">
            <a:avLst/>
          </a:prstGeom>
          <a:solidFill>
            <a:srgbClr val="FBEBD2"/>
          </a:solidFill>
          <a:ln/>
        </p:spPr>
      </p:sp>
      <p:pic>
        <p:nvPicPr>
          <p:cNvPr id="11" name="Image 1" descr="preencoded.png">    </p:cNvPr>
          <p:cNvPicPr>
            <a:picLocks noChangeAspect="1"/>
          </p:cNvPicPr>
          <p:nvPr/>
        </p:nvPicPr>
        <p:blipFill>
          <a:blip r:embed="rId2"/>
          <a:stretch>
            <a:fillRect/>
          </a:stretch>
        </p:blipFill>
        <p:spPr>
          <a:xfrm>
            <a:off x="6622999" y="2142439"/>
            <a:ext cx="241402" cy="241402"/>
          </a:xfrm>
          <a:prstGeom prst="rect">
            <a:avLst/>
          </a:prstGeom>
        </p:spPr>
      </p:pic>
      <p:sp>
        <p:nvSpPr>
          <p:cNvPr id="12" name="Text 8"/>
          <p:cNvSpPr/>
          <p:nvPr/>
        </p:nvSpPr>
        <p:spPr>
          <a:xfrm>
            <a:off x="6492240" y="2651760"/>
            <a:ext cx="4892040" cy="365760"/>
          </a:xfrm>
          <a:prstGeom prst="rect">
            <a:avLst/>
          </a:prstGeom>
          <a:noFill/>
          <a:ln/>
        </p:spPr>
        <p:txBody>
          <a:bodyPr wrap="square" lIns="0" tIns="0" rIns="0" bIns="0" rtlCol="0" anchor="ctr"/>
          <a:lstStyle/>
          <a:p>
            <a:pPr indent="0" marL="0">
              <a:buNone/>
            </a:pPr>
            <a:r>
              <a:rPr lang="en-US" sz="1500" b="1" dirty="0">
                <a:solidFill>
                  <a:srgbClr val="1B2340"/>
                </a:solidFill>
                <a:latin typeface="Calibri" pitchFamily="34" charset="0"/>
                <a:ea typeface="Calibri" pitchFamily="34" charset="-122"/>
                <a:cs typeface="Calibri" pitchFamily="34" charset="-120"/>
              </a:rPr>
              <a:t>Local dev-plan matching</a:t>
            </a:r>
            <a:endParaRPr lang="en-US" sz="1500" dirty="0"/>
          </a:p>
        </p:txBody>
      </p:sp>
      <p:sp>
        <p:nvSpPr>
          <p:cNvPr id="13" name="Text 9"/>
          <p:cNvSpPr/>
          <p:nvPr/>
        </p:nvSpPr>
        <p:spPr>
          <a:xfrm>
            <a:off x="6492240" y="3017520"/>
            <a:ext cx="4892040" cy="731520"/>
          </a:xfrm>
          <a:prstGeom prst="rect">
            <a:avLst/>
          </a:prstGeom>
          <a:noFill/>
          <a:ln/>
        </p:spPr>
        <p:txBody>
          <a:bodyPr wrap="square" lIns="0" tIns="0" rIns="0" bIns="0" rtlCol="0" anchor="ctr"/>
          <a:lstStyle/>
          <a:p>
            <a:pPr indent="0" marL="0">
              <a:buNone/>
            </a:pPr>
            <a:r>
              <a:rPr lang="en-US" sz="1150" dirty="0">
                <a:solidFill>
                  <a:srgbClr val="5B6478"/>
                </a:solidFill>
                <a:latin typeface="Calibri" pitchFamily="34" charset="0"/>
                <a:ea typeface="Calibri" pitchFamily="34" charset="-122"/>
                <a:cs typeface="Calibri" pitchFamily="34" charset="-120"/>
              </a:rPr>
              <a:t>Auto-match citizen themes against existing development-plan line items.</a:t>
            </a:r>
            <a:endParaRPr lang="en-US" sz="1150" dirty="0"/>
          </a:p>
        </p:txBody>
      </p:sp>
      <p:sp>
        <p:nvSpPr>
          <p:cNvPr id="14" name="Shape 10"/>
          <p:cNvSpPr/>
          <p:nvPr/>
        </p:nvSpPr>
        <p:spPr>
          <a:xfrm>
            <a:off x="640080" y="4023360"/>
            <a:ext cx="5349240" cy="2057400"/>
          </a:xfrm>
          <a:prstGeom prst="roundRect">
            <a:avLst>
              <a:gd name="adj" fmla="val 4444"/>
            </a:avLst>
          </a:prstGeom>
          <a:solidFill>
            <a:srgbClr val="FFFFFF"/>
          </a:solidFill>
          <a:ln/>
          <a:effectLst>
            <a:outerShdw sx="100000" sy="100000" kx="0" ky="0" algn="bl" rotWithShape="0" blurRad="76200" dist="25400" dir="5400000">
              <a:srgbClr val="000000">
                <a:alpha val="10000"/>
              </a:srgbClr>
            </a:outerShdw>
          </a:effectLst>
        </p:spPr>
      </p:sp>
      <p:sp>
        <p:nvSpPr>
          <p:cNvPr id="15" name="Shape 11"/>
          <p:cNvSpPr/>
          <p:nvPr/>
        </p:nvSpPr>
        <p:spPr>
          <a:xfrm>
            <a:off x="868680" y="4251960"/>
            <a:ext cx="502920" cy="502920"/>
          </a:xfrm>
          <a:prstGeom prst="ellipse">
            <a:avLst/>
          </a:prstGeom>
          <a:solidFill>
            <a:srgbClr val="FBEBD2"/>
          </a:solidFill>
          <a:ln/>
        </p:spPr>
      </p:sp>
      <p:pic>
        <p:nvPicPr>
          <p:cNvPr id="16" name="Image 2" descr="preencoded.png">    </p:cNvPr>
          <p:cNvPicPr>
            <a:picLocks noChangeAspect="1"/>
          </p:cNvPicPr>
          <p:nvPr/>
        </p:nvPicPr>
        <p:blipFill>
          <a:blip r:embed="rId3"/>
          <a:stretch>
            <a:fillRect/>
          </a:stretch>
        </p:blipFill>
        <p:spPr>
          <a:xfrm>
            <a:off x="999439" y="4382719"/>
            <a:ext cx="241402" cy="241402"/>
          </a:xfrm>
          <a:prstGeom prst="rect">
            <a:avLst/>
          </a:prstGeom>
        </p:spPr>
      </p:pic>
      <p:sp>
        <p:nvSpPr>
          <p:cNvPr id="17" name="Text 12"/>
          <p:cNvSpPr/>
          <p:nvPr/>
        </p:nvSpPr>
        <p:spPr>
          <a:xfrm>
            <a:off x="868680" y="4892040"/>
            <a:ext cx="4892040" cy="365760"/>
          </a:xfrm>
          <a:prstGeom prst="rect">
            <a:avLst/>
          </a:prstGeom>
          <a:noFill/>
          <a:ln/>
        </p:spPr>
        <p:txBody>
          <a:bodyPr wrap="square" lIns="0" tIns="0" rIns="0" bIns="0" rtlCol="0" anchor="ctr"/>
          <a:lstStyle/>
          <a:p>
            <a:pPr indent="0" marL="0">
              <a:buNone/>
            </a:pPr>
            <a:r>
              <a:rPr lang="en-US" sz="1500" b="1" dirty="0">
                <a:solidFill>
                  <a:srgbClr val="1B2340"/>
                </a:solidFill>
                <a:latin typeface="Calibri" pitchFamily="34" charset="0"/>
                <a:ea typeface="Calibri" pitchFamily="34" charset="-122"/>
                <a:cs typeface="Calibri" pitchFamily="34" charset="-120"/>
              </a:rPr>
              <a:t>Status tracking &amp; feedback loop</a:t>
            </a:r>
            <a:endParaRPr lang="en-US" sz="1500" dirty="0"/>
          </a:p>
        </p:txBody>
      </p:sp>
      <p:sp>
        <p:nvSpPr>
          <p:cNvPr id="18" name="Text 13"/>
          <p:cNvSpPr/>
          <p:nvPr/>
        </p:nvSpPr>
        <p:spPr>
          <a:xfrm>
            <a:off x="868680" y="5257800"/>
            <a:ext cx="4892040" cy="731520"/>
          </a:xfrm>
          <a:prstGeom prst="rect">
            <a:avLst/>
          </a:prstGeom>
          <a:noFill/>
          <a:ln/>
        </p:spPr>
        <p:txBody>
          <a:bodyPr wrap="square" lIns="0" tIns="0" rIns="0" bIns="0" rtlCol="0" anchor="ctr"/>
          <a:lstStyle/>
          <a:p>
            <a:pPr indent="0" marL="0">
              <a:buNone/>
            </a:pPr>
            <a:r>
              <a:rPr lang="en-US" sz="1150" dirty="0">
                <a:solidFill>
                  <a:srgbClr val="5B6478"/>
                </a:solidFill>
                <a:latin typeface="Calibri" pitchFamily="34" charset="0"/>
                <a:ea typeface="Calibri" pitchFamily="34" charset="-122"/>
                <a:cs typeface="Calibri" pitchFamily="34" charset="-120"/>
              </a:rPr>
              <a:t>Let citizens see what happened to their request — closing the trust gap.</a:t>
            </a:r>
            <a:endParaRPr lang="en-US" sz="1150" dirty="0"/>
          </a:p>
        </p:txBody>
      </p:sp>
      <p:sp>
        <p:nvSpPr>
          <p:cNvPr id="19" name="Shape 14"/>
          <p:cNvSpPr/>
          <p:nvPr/>
        </p:nvSpPr>
        <p:spPr>
          <a:xfrm>
            <a:off x="6263640" y="4023360"/>
            <a:ext cx="5349240" cy="2057400"/>
          </a:xfrm>
          <a:prstGeom prst="roundRect">
            <a:avLst>
              <a:gd name="adj" fmla="val 4444"/>
            </a:avLst>
          </a:prstGeom>
          <a:solidFill>
            <a:srgbClr val="FFFFFF"/>
          </a:solidFill>
          <a:ln/>
          <a:effectLst>
            <a:outerShdw sx="100000" sy="100000" kx="0" ky="0" algn="bl" rotWithShape="0" blurRad="76200" dist="25400" dir="5400000">
              <a:srgbClr val="000000">
                <a:alpha val="10000"/>
              </a:srgbClr>
            </a:outerShdw>
          </a:effectLst>
        </p:spPr>
      </p:sp>
      <p:sp>
        <p:nvSpPr>
          <p:cNvPr id="20" name="Shape 15"/>
          <p:cNvSpPr/>
          <p:nvPr/>
        </p:nvSpPr>
        <p:spPr>
          <a:xfrm>
            <a:off x="6492240" y="4251960"/>
            <a:ext cx="502920" cy="502920"/>
          </a:xfrm>
          <a:prstGeom prst="ellipse">
            <a:avLst/>
          </a:prstGeom>
          <a:solidFill>
            <a:srgbClr val="FBEBD2"/>
          </a:solidFill>
          <a:ln/>
        </p:spPr>
      </p:sp>
      <p:pic>
        <p:nvPicPr>
          <p:cNvPr id="21" name="Image 3" descr="preencoded.png">    </p:cNvPr>
          <p:cNvPicPr>
            <a:picLocks noChangeAspect="1"/>
          </p:cNvPicPr>
          <p:nvPr/>
        </p:nvPicPr>
        <p:blipFill>
          <a:blip r:embed="rId4"/>
          <a:stretch>
            <a:fillRect/>
          </a:stretch>
        </p:blipFill>
        <p:spPr>
          <a:xfrm>
            <a:off x="6622999" y="4382719"/>
            <a:ext cx="241402" cy="241402"/>
          </a:xfrm>
          <a:prstGeom prst="rect">
            <a:avLst/>
          </a:prstGeom>
        </p:spPr>
      </p:pic>
      <p:sp>
        <p:nvSpPr>
          <p:cNvPr id="22" name="Text 16"/>
          <p:cNvSpPr/>
          <p:nvPr/>
        </p:nvSpPr>
        <p:spPr>
          <a:xfrm>
            <a:off x="6492240" y="4892040"/>
            <a:ext cx="4892040" cy="365760"/>
          </a:xfrm>
          <a:prstGeom prst="rect">
            <a:avLst/>
          </a:prstGeom>
          <a:noFill/>
          <a:ln/>
        </p:spPr>
        <p:txBody>
          <a:bodyPr wrap="square" lIns="0" tIns="0" rIns="0" bIns="0" rtlCol="0" anchor="ctr"/>
          <a:lstStyle/>
          <a:p>
            <a:pPr indent="0" marL="0">
              <a:buNone/>
            </a:pPr>
            <a:r>
              <a:rPr lang="en-US" sz="1500" b="1" dirty="0">
                <a:solidFill>
                  <a:srgbClr val="1B2340"/>
                </a:solidFill>
                <a:latin typeface="Calibri" pitchFamily="34" charset="0"/>
                <a:ea typeface="Calibri" pitchFamily="34" charset="-122"/>
                <a:cs typeface="Calibri" pitchFamily="34" charset="-120"/>
              </a:rPr>
              <a:t>Open data integration</a:t>
            </a:r>
            <a:endParaRPr lang="en-US" sz="1500" dirty="0"/>
          </a:p>
        </p:txBody>
      </p:sp>
      <p:sp>
        <p:nvSpPr>
          <p:cNvPr id="23" name="Text 17"/>
          <p:cNvSpPr/>
          <p:nvPr/>
        </p:nvSpPr>
        <p:spPr>
          <a:xfrm>
            <a:off x="6492240" y="5257800"/>
            <a:ext cx="4892040" cy="731520"/>
          </a:xfrm>
          <a:prstGeom prst="rect">
            <a:avLst/>
          </a:prstGeom>
          <a:noFill/>
          <a:ln/>
        </p:spPr>
        <p:txBody>
          <a:bodyPr wrap="square" lIns="0" tIns="0" rIns="0" bIns="0" rtlCol="0" anchor="ctr"/>
          <a:lstStyle/>
          <a:p>
            <a:pPr indent="0" marL="0">
              <a:buNone/>
            </a:pPr>
            <a:r>
              <a:rPr lang="en-US" sz="1150" dirty="0">
                <a:solidFill>
                  <a:srgbClr val="5B6478"/>
                </a:solidFill>
                <a:latin typeface="Calibri" pitchFamily="34" charset="0"/>
                <a:ea typeface="Calibri" pitchFamily="34" charset="-122"/>
                <a:cs typeface="Calibri" pitchFamily="34" charset="-120"/>
              </a:rPr>
              <a:t>Pull live census, school, and infra datasets instead of seeded samples.</a:t>
            </a:r>
            <a:endParaRPr lang="en-US" sz="11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B2340"/>
        </a:solidFill>
      </p:bgPr>
    </p:bg>
    <p:spTree>
      <p:nvGrpSpPr>
        <p:cNvPr id="1" name=""/>
        <p:cNvGrpSpPr/>
        <p:nvPr/>
      </p:nvGrpSpPr>
      <p:grpSpPr>
        <a:xfrm>
          <a:off x="0" y="0"/>
          <a:ext cx="0" cy="0"/>
          <a:chOff x="0" y="0"/>
          <a:chExt cx="0" cy="0"/>
        </a:xfrm>
      </p:grpSpPr>
      <p:sp>
        <p:nvSpPr>
          <p:cNvPr id="2" name="Shape 0"/>
          <p:cNvSpPr/>
          <p:nvPr/>
        </p:nvSpPr>
        <p:spPr>
          <a:xfrm>
            <a:off x="-1371600" y="-1828800"/>
            <a:ext cx="5029200" cy="5029200"/>
          </a:xfrm>
          <a:prstGeom prst="ellipse">
            <a:avLst/>
          </a:prstGeom>
          <a:solidFill>
            <a:srgbClr val="2A3459"/>
          </a:solidFill>
          <a:ln/>
        </p:spPr>
      </p:sp>
      <p:sp>
        <p:nvSpPr>
          <p:cNvPr id="3" name="Shape 1"/>
          <p:cNvSpPr/>
          <p:nvPr/>
        </p:nvSpPr>
        <p:spPr>
          <a:xfrm>
            <a:off x="9326880" y="4023360"/>
            <a:ext cx="4206240" cy="4206240"/>
          </a:xfrm>
          <a:prstGeom prst="ellipse">
            <a:avLst/>
          </a:prstGeom>
          <a:solidFill>
            <a:srgbClr val="2A3459"/>
          </a:solidFill>
          <a:ln/>
        </p:spPr>
      </p:sp>
      <p:sp>
        <p:nvSpPr>
          <p:cNvPr id="4" name="Text 2"/>
          <p:cNvSpPr/>
          <p:nvPr/>
        </p:nvSpPr>
        <p:spPr>
          <a:xfrm>
            <a:off x="822960" y="1965960"/>
            <a:ext cx="10515600" cy="1188720"/>
          </a:xfrm>
          <a:prstGeom prst="rect">
            <a:avLst/>
          </a:prstGeom>
          <a:noFill/>
          <a:ln/>
        </p:spPr>
        <p:txBody>
          <a:bodyPr wrap="square" lIns="0" tIns="0" rIns="0" bIns="0"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From scattered complaints to a defensible plan.</a:t>
            </a:r>
            <a:endParaRPr lang="en-US" sz="3600" dirty="0"/>
          </a:p>
        </p:txBody>
      </p:sp>
      <p:sp>
        <p:nvSpPr>
          <p:cNvPr id="5" name="Text 3"/>
          <p:cNvSpPr/>
          <p:nvPr/>
        </p:nvSpPr>
        <p:spPr>
          <a:xfrm>
            <a:off x="822960" y="3063240"/>
            <a:ext cx="9144000" cy="502920"/>
          </a:xfrm>
          <a:prstGeom prst="rect">
            <a:avLst/>
          </a:prstGeom>
          <a:noFill/>
          <a:ln/>
        </p:spPr>
        <p:txBody>
          <a:bodyPr wrap="square" lIns="0" tIns="0" rIns="0" bIns="0" rtlCol="0" anchor="ctr"/>
          <a:lstStyle/>
          <a:p>
            <a:pPr indent="0" marL="0">
              <a:buNone/>
            </a:pPr>
            <a:r>
              <a:rPr lang="en-US" sz="1600" dirty="0">
                <a:solidFill>
                  <a:srgbClr val="E8A33D"/>
                </a:solidFill>
                <a:latin typeface="Calibri" pitchFamily="34" charset="0"/>
                <a:ea typeface="Calibri" pitchFamily="34" charset="-122"/>
                <a:cs typeface="Calibri" pitchFamily="34" charset="-120"/>
              </a:rPr>
              <a:t>People's Priorities — AI for Constituency Development Planning</a:t>
            </a:r>
            <a:endParaRPr lang="en-US" sz="1600" dirty="0"/>
          </a:p>
        </p:txBody>
      </p:sp>
      <p:pic>
        <p:nvPicPr>
          <p:cNvPr id="6" name="Image 0" descr="preencoded.png">    </p:cNvPr>
          <p:cNvPicPr>
            <a:picLocks noChangeAspect="1"/>
          </p:cNvPicPr>
          <p:nvPr/>
        </p:nvPicPr>
        <p:blipFill>
          <a:blip r:embed="rId1"/>
          <a:stretch>
            <a:fillRect/>
          </a:stretch>
        </p:blipFill>
        <p:spPr>
          <a:xfrm>
            <a:off x="868680" y="3931920"/>
            <a:ext cx="292608" cy="292608"/>
          </a:xfrm>
          <a:prstGeom prst="rect">
            <a:avLst/>
          </a:prstGeom>
        </p:spPr>
      </p:pic>
      <p:sp>
        <p:nvSpPr>
          <p:cNvPr id="7" name="Text 4"/>
          <p:cNvSpPr/>
          <p:nvPr/>
        </p:nvSpPr>
        <p:spPr>
          <a:xfrm>
            <a:off x="1280160" y="3886200"/>
            <a:ext cx="8229600" cy="384048"/>
          </a:xfrm>
          <a:prstGeom prst="rect">
            <a:avLst/>
          </a:prstGeom>
          <a:noFill/>
          <a:ln/>
        </p:spPr>
        <p:txBody>
          <a:bodyPr wrap="square" lIns="0" tIns="0" rIns="0" bIns="0" rtlCol="0" anchor="ctr"/>
          <a:lstStyle/>
          <a:p>
            <a:pPr indent="0" marL="0">
              <a:buNone/>
            </a:pPr>
            <a:r>
              <a:rPr lang="en-US" sz="1350" dirty="0">
                <a:solidFill>
                  <a:srgbClr val="CBD3E8"/>
                </a:solidFill>
                <a:latin typeface="Calibri" pitchFamily="34" charset="0"/>
                <a:ea typeface="Calibri" pitchFamily="34" charset="-122"/>
                <a:cs typeface="Calibri" pitchFamily="34" charset="-120"/>
              </a:rPr>
              <a:t>github.com/SaiBhargavRallapalli/Build-with-AI--Code-for-Communities</a:t>
            </a:r>
            <a:endParaRPr lang="en-US" sz="1350" dirty="0"/>
          </a:p>
        </p:txBody>
      </p:sp>
      <p:pic>
        <p:nvPicPr>
          <p:cNvPr id="8" name="Image 1" descr="preencoded.png">    </p:cNvPr>
          <p:cNvPicPr>
            <a:picLocks noChangeAspect="1"/>
          </p:cNvPicPr>
          <p:nvPr/>
        </p:nvPicPr>
        <p:blipFill>
          <a:blip r:embed="rId2"/>
          <a:stretch>
            <a:fillRect/>
          </a:stretch>
        </p:blipFill>
        <p:spPr>
          <a:xfrm>
            <a:off x="868680" y="4434840"/>
            <a:ext cx="292608" cy="292608"/>
          </a:xfrm>
          <a:prstGeom prst="rect">
            <a:avLst/>
          </a:prstGeom>
        </p:spPr>
      </p:pic>
      <p:sp>
        <p:nvSpPr>
          <p:cNvPr id="9" name="Text 5"/>
          <p:cNvSpPr/>
          <p:nvPr/>
        </p:nvSpPr>
        <p:spPr>
          <a:xfrm>
            <a:off x="1280160" y="4389120"/>
            <a:ext cx="8229600" cy="384048"/>
          </a:xfrm>
          <a:prstGeom prst="rect">
            <a:avLst/>
          </a:prstGeom>
          <a:noFill/>
          <a:ln/>
        </p:spPr>
        <p:txBody>
          <a:bodyPr wrap="square" lIns="0" tIns="0" rIns="0" bIns="0" rtlCol="0" anchor="ctr"/>
          <a:lstStyle/>
          <a:p>
            <a:pPr indent="0" marL="0">
              <a:buNone/>
            </a:pPr>
            <a:r>
              <a:rPr lang="en-US" sz="1350" dirty="0">
                <a:solidFill>
                  <a:srgbClr val="CBD3E8"/>
                </a:solidFill>
                <a:latin typeface="Calibri" pitchFamily="34" charset="0"/>
                <a:ea typeface="Calibri" pitchFamily="34" charset="-122"/>
                <a:cs typeface="Calibri" pitchFamily="34" charset="-120"/>
              </a:rPr>
              <a:t>build-with-ai-code-for-communities-three.vercel.app</a:t>
            </a:r>
            <a:endParaRPr lang="en-US" sz="1350" dirty="0"/>
          </a:p>
        </p:txBody>
      </p:sp>
      <p:sp>
        <p:nvSpPr>
          <p:cNvPr id="10" name="Text 6"/>
          <p:cNvSpPr/>
          <p:nvPr/>
        </p:nvSpPr>
        <p:spPr>
          <a:xfrm>
            <a:off x="822960" y="6126480"/>
            <a:ext cx="7315200" cy="365760"/>
          </a:xfrm>
          <a:prstGeom prst="rect">
            <a:avLst/>
          </a:prstGeom>
          <a:noFill/>
          <a:ln/>
        </p:spPr>
        <p:txBody>
          <a:bodyPr wrap="square" lIns="0" tIns="0" rIns="0" bIns="0" rtlCol="0" anchor="ctr"/>
          <a:lstStyle/>
          <a:p>
            <a:pPr indent="0" marL="0">
              <a:buNone/>
            </a:pPr>
            <a:r>
              <a:rPr lang="en-US" sz="1200" dirty="0">
                <a:solidFill>
                  <a:srgbClr val="7E88AC"/>
                </a:solidFill>
                <a:latin typeface="Calibri" pitchFamily="34" charset="0"/>
                <a:ea typeface="Calibri" pitchFamily="34" charset="-122"/>
                <a:cs typeface="Calibri" pitchFamily="34" charset="-120"/>
              </a:rPr>
              <a:t>Built for Build with AI: Code for Communities</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People's Priorities — AI for Constituency Development Planning</dc:title>
  <dc:subject>PptxGenJS Presentation</dc:subject>
  <dc:creator>People's Priorities Team</dc:creator>
  <cp:lastModifiedBy>People's Priorities Team</cp:lastModifiedBy>
  <cp:revision>1</cp:revision>
  <dcterms:created xsi:type="dcterms:W3CDTF">2026-07-08T16:55:50Z</dcterms:created>
  <dcterms:modified xsi:type="dcterms:W3CDTF">2026-07-08T16:55:50Z</dcterms:modified>
</cp:coreProperties>
</file>